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89" d="100"/>
          <a:sy n="89" d="100"/>
        </p:scale>
        <p:origin x="-132" y="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48E00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0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48E0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932688"/>
            <a:ext cx="7863840" cy="0"/>
          </a:xfrm>
          <a:prstGeom prst="line">
            <a:avLst/>
          </a:prstGeom>
          <a:noFill/>
          <a:ln w="12700">
            <a:solidFill>
              <a:srgbClr val="DCE1E7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658368" y="292608"/>
            <a:ext cx="78638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6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327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48E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INSTALLATION GUIDE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40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Installing MySQL on Ubuntu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49808" y="28803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5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step-by-step guide to install, secure, and configure your MySQL server</a:t>
            </a:r>
            <a:endParaRPr lang="en-US" sz="1500" dirty="0"/>
          </a:p>
        </p:txBody>
      </p:sp>
      <p:sp>
        <p:nvSpPr>
          <p:cNvPr id="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3520440"/>
            <a:ext cx="1097280" cy="36576"/>
          </a:xfrm>
          <a:prstGeom prst="rect">
            <a:avLst/>
          </a:prstGeom>
          <a:solidFill>
            <a:srgbClr val="10243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658368" y="29260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You'll Do</a:t>
            </a:r>
            <a:endParaRPr lang="en-US" sz="2600" dirty="0"/>
          </a:p>
        </p:txBody>
      </p:sp>
      <p:sp>
        <p:nvSpPr>
          <p:cNvPr id="3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143000"/>
            <a:ext cx="7863840" cy="6400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48E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12161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 MySQL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47218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apt update, then apt install mysql-server</a:t>
            </a:r>
            <a:endParaRPr lang="en-US" sz="1200" dirty="0"/>
          </a:p>
        </p:txBody>
      </p:sp>
      <p:sp>
        <p:nvSpPr>
          <p:cNvPr id="7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901952"/>
            <a:ext cx="7863840" cy="6400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901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48E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1975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the service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23113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mysql is active (running)</a:t>
            </a:r>
            <a:endParaRPr lang="en-US" sz="1200" dirty="0"/>
          </a:p>
        </p:txBody>
      </p:sp>
      <p:sp>
        <p:nvSpPr>
          <p:cNvPr id="11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2660904"/>
            <a:ext cx="7863840" cy="6400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26609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48E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71600" y="27340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root password &amp; secure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99008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auth_socket to password, then harden</a:t>
            </a:r>
            <a:endParaRPr lang="en-US" sz="1200" dirty="0"/>
          </a:p>
        </p:txBody>
      </p:sp>
      <p:sp>
        <p:nvSpPr>
          <p:cNvPr id="15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419856"/>
            <a:ext cx="7863840" cy="6400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34198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48E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34930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an admin user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74904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Avoid using root day to day</a:t>
            </a:r>
            <a:endParaRPr lang="en-US" sz="1200" dirty="0"/>
          </a:p>
        </p:txBody>
      </p:sp>
      <p:sp>
        <p:nvSpPr>
          <p:cNvPr id="19" name="Row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4178808"/>
            <a:ext cx="7863840" cy="6400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" y="4178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48E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71600" y="42519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the service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507992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start, stop, restart, enable on boot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number 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92440" y="274320"/>
            <a:ext cx="566928" cy="566928"/>
          </a:xfrm>
          <a:prstGeom prst="ellipse">
            <a:avLst/>
          </a:prstGeom>
          <a:solidFill>
            <a:srgbClr val="1024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92440" y="274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658368" y="29260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 MySQL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A65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a terminal and run these commands in order.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A65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server is downloaded from the official Ubuntu repositories.</a:t>
            </a:r>
            <a:endParaRPr lang="en-US" sz="1400" dirty="0"/>
          </a:p>
        </p:txBody>
      </p:sp>
      <p:sp>
        <p:nvSpPr>
          <p:cNvPr id="6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965960"/>
            <a:ext cx="7863840" cy="1517904"/>
          </a:xfrm>
          <a:prstGeom prst="rect">
            <a:avLst/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de block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965960"/>
            <a:ext cx="54864" cy="1517904"/>
          </a:xfrm>
          <a:prstGeom prst="rect">
            <a:avLst/>
          </a:prstGeom>
          <a:solidFill>
            <a:srgbClr val="E48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05256" y="2130552"/>
            <a:ext cx="7452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Update your local package index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update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the MySQL server package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mysql-server -y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-y flag auto-confirms the install prompt. Installation pulls in the MySQL server and its dependencies.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number 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92440" y="274320"/>
            <a:ext cx="566928" cy="566928"/>
          </a:xfrm>
          <a:prstGeom prst="ellipse">
            <a:avLst/>
          </a:prstGeom>
          <a:solidFill>
            <a:srgbClr val="1024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92440" y="274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658368" y="29260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the Service Status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A65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should start automatically once installation finishes.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A65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Look for a line reading Active: active (running).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the status</a:t>
            </a:r>
            <a:endParaRPr lang="en-US" sz="1300" dirty="0"/>
          </a:p>
        </p:txBody>
      </p:sp>
      <p:sp>
        <p:nvSpPr>
          <p:cNvPr id="7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2331720"/>
            <a:ext cx="3794760" cy="566928"/>
          </a:xfrm>
          <a:prstGeom prst="rect">
            <a:avLst/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Code block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2331720"/>
            <a:ext cx="54864" cy="566928"/>
          </a:xfrm>
          <a:prstGeom prst="rect">
            <a:avLst/>
          </a:prstGeom>
          <a:solidFill>
            <a:srgbClr val="E48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05256" y="24963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status mysql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54880" y="20116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it is not running</a:t>
            </a:r>
            <a:endParaRPr lang="en-US" sz="1300" dirty="0"/>
          </a:p>
        </p:txBody>
      </p:sp>
      <p:sp>
        <p:nvSpPr>
          <p:cNvPr id="11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4880" y="2331720"/>
            <a:ext cx="3794760" cy="566928"/>
          </a:xfrm>
          <a:prstGeom prst="rect">
            <a:avLst/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Code block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4880" y="2331720"/>
            <a:ext cx="54864" cy="566928"/>
          </a:xfrm>
          <a:prstGeom prst="rect">
            <a:avLst/>
          </a:prstGeom>
          <a:solidFill>
            <a:srgbClr val="E48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74336" y="24963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start mysql</a:t>
            </a:r>
            <a:endParaRPr lang="en-US" sz="1250" dirty="0"/>
          </a:p>
        </p:txBody>
      </p:sp>
      <p:sp>
        <p:nvSpPr>
          <p:cNvPr id="14" name="Not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566160"/>
            <a:ext cx="7863840" cy="9144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Not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566160"/>
            <a:ext cx="45720" cy="914400"/>
          </a:xfrm>
          <a:prstGeom prst="rect">
            <a:avLst/>
          </a:prstGeom>
          <a:solidFill>
            <a:srgbClr val="E48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356616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look for  </a:t>
            </a:r>
            <a:r>
              <a:rPr lang="en-US" sz="1300" dirty="0">
                <a:solidFill>
                  <a:srgbClr val="5A65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line reading Active: active (running) confirms the server is up. Press q to exit the status view.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number 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92440" y="274320"/>
            <a:ext cx="566928" cy="566928"/>
          </a:xfrm>
          <a:prstGeom prst="ellipse">
            <a:avLst/>
          </a:prstGeom>
          <a:solidFill>
            <a:srgbClr val="1024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92440" y="274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658368" y="29260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the Root Password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A65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modern Ubuntu, root authenticates with the auth_socket plugin instead of a password.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A — Access the MySQL shell with system root privileges</a:t>
            </a:r>
            <a:endParaRPr lang="en-US" sz="1300" dirty="0"/>
          </a:p>
        </p:txBody>
      </p:sp>
      <p:sp>
        <p:nvSpPr>
          <p:cNvPr id="7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828800"/>
            <a:ext cx="7863840" cy="566928"/>
          </a:xfrm>
          <a:prstGeom prst="rect">
            <a:avLst/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Code block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828800"/>
            <a:ext cx="54864" cy="566928"/>
          </a:xfrm>
          <a:prstGeom prst="rect">
            <a:avLst/>
          </a:prstGeom>
          <a:solidFill>
            <a:srgbClr val="E48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05256" y="199339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mysql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B — Set the password (replace YourStrongPassword with your own)</a:t>
            </a:r>
            <a:endParaRPr lang="en-US" sz="1300" dirty="0"/>
          </a:p>
        </p:txBody>
      </p:sp>
      <p:sp>
        <p:nvSpPr>
          <p:cNvPr id="11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2926080"/>
            <a:ext cx="7863840" cy="1280160"/>
          </a:xfrm>
          <a:prstGeom prst="rect">
            <a:avLst/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Code block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2926080"/>
            <a:ext cx="54864" cy="1280160"/>
          </a:xfrm>
          <a:prstGeom prst="rect">
            <a:avLst/>
          </a:prstGeom>
          <a:solidFill>
            <a:srgbClr val="E48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05256" y="3090672"/>
            <a:ext cx="7452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USER 'root'@'localhost'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IDENTIFIED WITH caching_sha2_password BY 'YourStrongPassword';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FLUSH PRIVILEGES;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EXIT;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number 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92440" y="274320"/>
            <a:ext cx="566928" cy="566928"/>
          </a:xfrm>
          <a:prstGeom prst="ellipse">
            <a:avLst/>
          </a:prstGeom>
          <a:solidFill>
            <a:srgbClr val="1024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92440" y="274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658368" y="29260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the Security Script</a:t>
            </a:r>
            <a:endParaRPr lang="en-US" sz="2600" dirty="0"/>
          </a:p>
        </p:txBody>
      </p:sp>
      <p:sp>
        <p:nvSpPr>
          <p:cNvPr id="5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143000"/>
            <a:ext cx="7863840" cy="566928"/>
          </a:xfrm>
          <a:prstGeom prst="rect">
            <a:avLst/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de block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143000"/>
            <a:ext cx="54864" cy="566928"/>
          </a:xfrm>
          <a:prstGeom prst="rect">
            <a:avLst/>
          </a:prstGeom>
          <a:solidFill>
            <a:srgbClr val="E48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05256" y="130759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mysql_secure_installation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19385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the interactive prompts</a:t>
            </a:r>
            <a:endParaRPr lang="en-US" sz="1300" dirty="0"/>
          </a:p>
        </p:txBody>
      </p:sp>
      <p:sp>
        <p:nvSpPr>
          <p:cNvPr id="9" name="Promp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2286000"/>
            <a:ext cx="3840480" cy="7772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2286000"/>
            <a:ext cx="45720" cy="777240"/>
          </a:xfrm>
          <a:prstGeom prst="rect">
            <a:avLst/>
          </a:prstGeom>
          <a:solidFill>
            <a:srgbClr val="E48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377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Password Component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670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5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 to enforce complexity, N to skip</a:t>
            </a:r>
            <a:endParaRPr lang="en-US" sz="1100" dirty="0"/>
          </a:p>
        </p:txBody>
      </p:sp>
      <p:sp>
        <p:nvSpPr>
          <p:cNvPr id="13" name="Promp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2286000"/>
            <a:ext cx="3840480" cy="7772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2286000"/>
            <a:ext cx="45720" cy="777240"/>
          </a:xfrm>
          <a:prstGeom prst="rect">
            <a:avLst/>
          </a:prstGeom>
          <a:solidFill>
            <a:srgbClr val="E48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92040" y="2377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the root password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2670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5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 — already set in Step B</a:t>
            </a:r>
            <a:endParaRPr lang="en-US" sz="1100" dirty="0"/>
          </a:p>
        </p:txBody>
      </p:sp>
      <p:sp>
        <p:nvSpPr>
          <p:cNvPr id="17" name="Promp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154680"/>
            <a:ext cx="3840480" cy="7772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154680"/>
            <a:ext cx="45720" cy="777240"/>
          </a:xfrm>
          <a:prstGeom prst="rect">
            <a:avLst/>
          </a:prstGeom>
          <a:solidFill>
            <a:srgbClr val="E48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8680" y="3246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Remove anonymous users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5387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5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</a:t>
            </a:r>
            <a:endParaRPr lang="en-US" sz="1100" dirty="0"/>
          </a:p>
        </p:txBody>
      </p:sp>
      <p:sp>
        <p:nvSpPr>
          <p:cNvPr id="21" name="Promp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3154680"/>
            <a:ext cx="3840480" cy="7772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3154680"/>
            <a:ext cx="45720" cy="777240"/>
          </a:xfrm>
          <a:prstGeom prst="rect">
            <a:avLst/>
          </a:prstGeom>
          <a:solidFill>
            <a:srgbClr val="E48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92040" y="3246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Disallow root login remotely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35387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5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</a:t>
            </a:r>
            <a:endParaRPr lang="en-US" sz="1100" dirty="0"/>
          </a:p>
        </p:txBody>
      </p:sp>
      <p:sp>
        <p:nvSpPr>
          <p:cNvPr id="25" name="Promp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4023360"/>
            <a:ext cx="3840480" cy="7772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4023360"/>
            <a:ext cx="45720" cy="777240"/>
          </a:xfrm>
          <a:prstGeom prst="rect">
            <a:avLst/>
          </a:prstGeom>
          <a:solidFill>
            <a:srgbClr val="E48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68680" y="4114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Remove the test database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44074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5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</a:t>
            </a:r>
            <a:endParaRPr lang="en-US" sz="1100" dirty="0"/>
          </a:p>
        </p:txBody>
      </p:sp>
      <p:sp>
        <p:nvSpPr>
          <p:cNvPr id="29" name="Promp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4023360"/>
            <a:ext cx="3840480" cy="7772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4023360"/>
            <a:ext cx="45720" cy="777240"/>
          </a:xfrm>
          <a:prstGeom prst="rect">
            <a:avLst/>
          </a:prstGeom>
          <a:solidFill>
            <a:srgbClr val="E48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92040" y="4114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Reload privilege tables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92040" y="44074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5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number 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92440" y="274320"/>
            <a:ext cx="566928" cy="566928"/>
          </a:xfrm>
          <a:prstGeom prst="ellipse">
            <a:avLst/>
          </a:prstGeom>
          <a:solidFill>
            <a:srgbClr val="1024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92440" y="274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658368" y="29260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Dedicated Admin User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A65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Avoid using root for everyday development — create a separate admin account.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5544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back in with your new root password</a:t>
            </a:r>
            <a:endParaRPr lang="en-US" sz="1300" dirty="0"/>
          </a:p>
        </p:txBody>
      </p:sp>
      <p:sp>
        <p:nvSpPr>
          <p:cNvPr id="7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874520"/>
            <a:ext cx="7863840" cy="566928"/>
          </a:xfrm>
          <a:prstGeom prst="rect">
            <a:avLst/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Code block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874520"/>
            <a:ext cx="54864" cy="566928"/>
          </a:xfrm>
          <a:prstGeom prst="rect">
            <a:avLst/>
          </a:prstGeom>
          <a:solidFill>
            <a:srgbClr val="E48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05256" y="203911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-u root -p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26974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the user and grant privileges (replace my_user and password123)</a:t>
            </a:r>
            <a:endParaRPr lang="en-US" sz="1300" dirty="0"/>
          </a:p>
        </p:txBody>
      </p:sp>
      <p:sp>
        <p:nvSpPr>
          <p:cNvPr id="11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017520"/>
            <a:ext cx="7863840" cy="1280160"/>
          </a:xfrm>
          <a:prstGeom prst="rect">
            <a:avLst/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Code block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017520"/>
            <a:ext cx="54864" cy="1280160"/>
          </a:xfrm>
          <a:prstGeom prst="rect">
            <a:avLst/>
          </a:prstGeom>
          <a:solidFill>
            <a:srgbClr val="E48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05256" y="3182112"/>
            <a:ext cx="7452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USER 'my_user'@'localhost' IDENTIFIED BY 'password123';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ALL PRIVILEGES ON *.* TO 'my_user'@'localhost' WITH GRANT OPTION;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FLUSH PRIVILEGES;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EXIT;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number 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92440" y="274320"/>
            <a:ext cx="566928" cy="566928"/>
          </a:xfrm>
          <a:prstGeom prst="ellipse">
            <a:avLst/>
          </a:prstGeom>
          <a:solidFill>
            <a:srgbClr val="1024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92440" y="274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658368" y="29260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Managing the MySQL Service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A65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the MySQL daemon at any time with standard systemctl commands.</a:t>
            </a:r>
            <a:endParaRPr lang="en-US" sz="1400" dirty="0"/>
          </a:p>
        </p:txBody>
      </p:sp>
      <p:sp>
        <p:nvSpPr>
          <p:cNvPr id="6" name="Command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645920"/>
            <a:ext cx="7863840" cy="65836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645920"/>
            <a:ext cx="45720" cy="658368"/>
          </a:xfrm>
          <a:prstGeom prst="rect">
            <a:avLst/>
          </a:prstGeom>
          <a:solidFill>
            <a:srgbClr val="E48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0" y="164592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stop mysql</a:t>
            </a:r>
            <a:endParaRPr lang="en-US" sz="1300" dirty="0"/>
          </a:p>
        </p:txBody>
      </p:sp>
      <p:sp>
        <p:nvSpPr>
          <p:cNvPr id="10" name="Command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2423160"/>
            <a:ext cx="7863840" cy="65836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2423160"/>
            <a:ext cx="45720" cy="658368"/>
          </a:xfrm>
          <a:prstGeom prst="rect">
            <a:avLst/>
          </a:prstGeom>
          <a:solidFill>
            <a:srgbClr val="E48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24231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242316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start mysql</a:t>
            </a:r>
            <a:endParaRPr lang="en-US" sz="1300" dirty="0"/>
          </a:p>
        </p:txBody>
      </p:sp>
      <p:sp>
        <p:nvSpPr>
          <p:cNvPr id="14" name="Command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200400"/>
            <a:ext cx="7863840" cy="65836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200400"/>
            <a:ext cx="45720" cy="658368"/>
          </a:xfrm>
          <a:prstGeom prst="rect">
            <a:avLst/>
          </a:prstGeom>
          <a:solidFill>
            <a:srgbClr val="E48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32004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26080" y="320040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restart mysql</a:t>
            </a:r>
            <a:endParaRPr lang="en-US" sz="1300" dirty="0"/>
          </a:p>
        </p:txBody>
      </p:sp>
      <p:sp>
        <p:nvSpPr>
          <p:cNvPr id="18" name="Command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977640"/>
            <a:ext cx="7863840" cy="65836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977640"/>
            <a:ext cx="45720" cy="658368"/>
          </a:xfrm>
          <a:prstGeom prst="rect">
            <a:avLst/>
          </a:prstGeom>
          <a:solidFill>
            <a:srgbClr val="E48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39776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on boot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26080" y="397764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enable mysql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number 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92440" y="274320"/>
            <a:ext cx="566928" cy="566928"/>
          </a:xfrm>
          <a:prstGeom prst="ellipse">
            <a:avLst/>
          </a:prstGeom>
          <a:solidFill>
            <a:srgbClr val="1024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92440" y="274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658368" y="29260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Remote Access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A65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default MySQL only listens on localhost. Open it up deliberately, and only to trusted hosts.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Bind to all interfaces in /etc/mysql/mysql.conf.d/mysqld.cnf</a:t>
            </a:r>
            <a:endParaRPr lang="en-US" sz="1300" dirty="0"/>
          </a:p>
        </p:txBody>
      </p:sp>
      <p:sp>
        <p:nvSpPr>
          <p:cNvPr id="7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828800"/>
            <a:ext cx="7863840" cy="1042416"/>
          </a:xfrm>
          <a:prstGeom prst="rect">
            <a:avLst/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Code block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828800"/>
            <a:ext cx="54864" cy="1042416"/>
          </a:xfrm>
          <a:prstGeom prst="rect">
            <a:avLst/>
          </a:prstGeom>
          <a:solidFill>
            <a:srgbClr val="E48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05256" y="1993392"/>
            <a:ext cx="7452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nano /etc/mysql/mysql.conf.d/mysqld.cnf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change  bind-address = 127.0.0.1  to  bind-address = 0.0.0.0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restart mysql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3063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Grant a user remote rights and open the firewall</a:t>
            </a:r>
            <a:endParaRPr lang="en-US" sz="1300" dirty="0"/>
          </a:p>
        </p:txBody>
      </p:sp>
      <p:sp>
        <p:nvSpPr>
          <p:cNvPr id="11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383280"/>
            <a:ext cx="7863840" cy="1042416"/>
          </a:xfrm>
          <a:prstGeom prst="rect">
            <a:avLst/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Code block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383280"/>
            <a:ext cx="54864" cy="1042416"/>
          </a:xfrm>
          <a:prstGeom prst="rect">
            <a:avLst/>
          </a:prstGeom>
          <a:solidFill>
            <a:srgbClr val="E48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05256" y="3547872"/>
            <a:ext cx="7452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USER 'my_user'@'%' IDENTIFIED BY 'password123';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ALL PRIVILEGES ON *.* TO 'my_user'@'%';  FLUSH PRIVILEGES;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ufw allow from &lt;client_ip&gt; to any port 3306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 number 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92440" y="274320"/>
            <a:ext cx="566928" cy="566928"/>
          </a:xfrm>
          <a:prstGeom prst="ellipse">
            <a:avLst/>
          </a:prstGeom>
          <a:solidFill>
            <a:srgbClr val="1024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092440" y="274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658368" y="29260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Backup and Restore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A65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mysqldump for logical backups; restore by piping the dump back into the mysql client.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 up</a:t>
            </a:r>
            <a:endParaRPr lang="en-US" sz="1300" dirty="0"/>
          </a:p>
        </p:txBody>
      </p:sp>
      <p:sp>
        <p:nvSpPr>
          <p:cNvPr id="7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828800"/>
            <a:ext cx="3749040" cy="1993392"/>
          </a:xfrm>
          <a:prstGeom prst="rect">
            <a:avLst/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Code block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828800"/>
            <a:ext cx="54864" cy="1993392"/>
          </a:xfrm>
          <a:prstGeom prst="rect">
            <a:avLst/>
          </a:prstGeom>
          <a:solidFill>
            <a:srgbClr val="E48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05256" y="1993392"/>
            <a:ext cx="33375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single database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mysqldump -u root -p \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mydb &gt; mydb.sql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all databases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mysqldump -u root -p \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--all-databases &gt; all.sql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800600" y="1508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Restore</a:t>
            </a:r>
            <a:endParaRPr lang="en-US" sz="1300" dirty="0"/>
          </a:p>
        </p:txBody>
      </p:sp>
      <p:sp>
        <p:nvSpPr>
          <p:cNvPr id="11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00600" y="1828800"/>
            <a:ext cx="3749040" cy="1993392"/>
          </a:xfrm>
          <a:prstGeom prst="rect">
            <a:avLst/>
          </a:prstGeom>
          <a:solidFill>
            <a:srgbClr val="F4F6F8"/>
          </a:solidFill>
          <a:ln w="12700">
            <a:solidFill>
              <a:srgbClr val="DCE1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Code block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00600" y="1828800"/>
            <a:ext cx="54864" cy="1993392"/>
          </a:xfrm>
          <a:prstGeom prst="rect">
            <a:avLst/>
          </a:prstGeom>
          <a:solidFill>
            <a:srgbClr val="E48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0056" y="1993392"/>
            <a:ext cx="33375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the target first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-u root -p -e \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'CREATE DATABASE mydb;'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the dump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-u root -p \</a:t>
            </a:r>
            <a:endParaRPr lang="en-US" sz="12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24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mydb &lt; mydb.sql</a:t>
            </a:r>
            <a:endParaRPr lang="en-US" sz="1250" dirty="0"/>
          </a:p>
        </p:txBody>
      </p:sp>
      <p:sp>
        <p:nvSpPr>
          <p:cNvPr id="14" name="Ti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4114800"/>
            <a:ext cx="7863840" cy="6858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i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4114800"/>
            <a:ext cx="45720" cy="685800"/>
          </a:xfrm>
          <a:prstGeom prst="rect">
            <a:avLst/>
          </a:prstGeom>
          <a:solidFill>
            <a:srgbClr val="E48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411480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  </a:t>
            </a:r>
            <a:r>
              <a:rPr lang="en-US" sz="1250" dirty="0">
                <a:solidFill>
                  <a:srgbClr val="5A65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dumps with cron and gzip them, and always test a restore on a spare database before you need it.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658368" y="29260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Troubleshooting</a:t>
            </a:r>
            <a:endParaRPr lang="en-US" sz="2600" dirty="0"/>
          </a:p>
        </p:txBody>
      </p:sp>
      <p:sp>
        <p:nvSpPr>
          <p:cNvPr id="3" name="Issue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143000"/>
            <a:ext cx="7863840" cy="6400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143000"/>
            <a:ext cx="45720" cy="640080"/>
          </a:xfrm>
          <a:prstGeom prst="rect">
            <a:avLst/>
          </a:prstGeom>
          <a:solidFill>
            <a:srgbClr val="E48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21615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won't start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4813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the log: sudo journalctl -u mysql -n 50</a:t>
            </a:r>
            <a:endParaRPr lang="en-US" sz="1200" dirty="0"/>
          </a:p>
        </p:txBody>
      </p:sp>
      <p:sp>
        <p:nvSpPr>
          <p:cNvPr id="7" name="Issue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901952"/>
            <a:ext cx="7863840" cy="6400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901952"/>
            <a:ext cx="45720" cy="640080"/>
          </a:xfrm>
          <a:prstGeom prst="rect">
            <a:avLst/>
          </a:prstGeom>
          <a:solidFill>
            <a:srgbClr val="E48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97510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denied for 'root'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2402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sudo mysql — root may still use auth_socket</a:t>
            </a:r>
            <a:endParaRPr lang="en-US" sz="1200" dirty="0"/>
          </a:p>
        </p:txBody>
      </p:sp>
      <p:sp>
        <p:nvSpPr>
          <p:cNvPr id="11" name="Issue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2660904"/>
            <a:ext cx="7863840" cy="6400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2660904"/>
            <a:ext cx="45720" cy="640080"/>
          </a:xfrm>
          <a:prstGeom prst="rect">
            <a:avLst/>
          </a:prstGeom>
          <a:solidFill>
            <a:srgbClr val="E48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273405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Can't connect remotely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9992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bind-address, port 3306 firewall rule, and user host '%'</a:t>
            </a:r>
            <a:endParaRPr lang="en-US" sz="1200" dirty="0"/>
          </a:p>
        </p:txBody>
      </p:sp>
      <p:sp>
        <p:nvSpPr>
          <p:cNvPr id="15" name="Issue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419856"/>
            <a:ext cx="7863840" cy="6400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419856"/>
            <a:ext cx="45720" cy="640080"/>
          </a:xfrm>
          <a:prstGeom prst="rect">
            <a:avLst/>
          </a:prstGeom>
          <a:solidFill>
            <a:srgbClr val="E48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349300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 3306 already in use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75818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sudo ss -tulpn | grep 3306 to find the conflicting process</a:t>
            </a:r>
            <a:endParaRPr lang="en-US" sz="1200" dirty="0"/>
          </a:p>
        </p:txBody>
      </p:sp>
      <p:sp>
        <p:nvSpPr>
          <p:cNvPr id="19" name="Issue 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4178808"/>
            <a:ext cx="7863840" cy="6400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Row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4178808"/>
            <a:ext cx="45720" cy="640080"/>
          </a:xfrm>
          <a:prstGeom prst="rect">
            <a:avLst/>
          </a:prstGeom>
          <a:solidFill>
            <a:srgbClr val="E48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42519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 of disk / won't write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451713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df -h and check /var/lib/mysql for space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658368" y="29260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Reference — Install &amp; Service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85800" y="10241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from setup through day-to-day service control</a:t>
            </a:r>
            <a:endParaRPr lang="en-US" sz="1200" dirty="0"/>
          </a:p>
        </p:txBody>
      </p:sp>
      <p:sp>
        <p:nvSpPr>
          <p:cNvPr id="4" name="Referenc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417320"/>
            <a:ext cx="3840480" cy="107899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417320"/>
            <a:ext cx="45720" cy="1078992"/>
          </a:xfrm>
          <a:prstGeom prst="rect">
            <a:avLst/>
          </a:prstGeom>
          <a:solidFill>
            <a:srgbClr val="E48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86968" y="150876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86968" y="17830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update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mysql-server -y</a:t>
            </a:r>
            <a:endParaRPr lang="en-US" sz="1050" dirty="0"/>
          </a:p>
        </p:txBody>
      </p:sp>
      <p:sp>
        <p:nvSpPr>
          <p:cNvPr id="8" name="Referenc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417320"/>
            <a:ext cx="3840480" cy="107899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417320"/>
            <a:ext cx="45720" cy="1078992"/>
          </a:xfrm>
          <a:prstGeom prst="rect">
            <a:avLst/>
          </a:prstGeom>
          <a:solidFill>
            <a:srgbClr val="E48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10328" y="150876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status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10328" y="17830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status mysql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journalctl -u mysql -n 50</a:t>
            </a:r>
            <a:endParaRPr lang="en-US" sz="1050" dirty="0"/>
          </a:p>
        </p:txBody>
      </p:sp>
      <p:sp>
        <p:nvSpPr>
          <p:cNvPr id="12" name="Referenc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2624328"/>
            <a:ext cx="3840480" cy="107899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2624328"/>
            <a:ext cx="45720" cy="1078992"/>
          </a:xfrm>
          <a:prstGeom prst="rect">
            <a:avLst/>
          </a:prstGeom>
          <a:solidFill>
            <a:srgbClr val="E48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86968" y="271576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/ stop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968" y="299008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start mysql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stop mysql</a:t>
            </a:r>
            <a:endParaRPr lang="en-US" sz="1050" dirty="0"/>
          </a:p>
        </p:txBody>
      </p:sp>
      <p:sp>
        <p:nvSpPr>
          <p:cNvPr id="16" name="Referenc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2624328"/>
            <a:ext cx="3840480" cy="107899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2624328"/>
            <a:ext cx="45720" cy="1078992"/>
          </a:xfrm>
          <a:prstGeom prst="rect">
            <a:avLst/>
          </a:prstGeom>
          <a:solidFill>
            <a:srgbClr val="E48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10328" y="271576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Restart / enable on boot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10328" y="299008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restart mysql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enable mysql</a:t>
            </a:r>
            <a:endParaRPr lang="en-US" sz="1050" dirty="0"/>
          </a:p>
        </p:txBody>
      </p:sp>
      <p:sp>
        <p:nvSpPr>
          <p:cNvPr id="20" name="Referenc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831336"/>
            <a:ext cx="3840480" cy="107899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831336"/>
            <a:ext cx="45720" cy="1078992"/>
          </a:xfrm>
          <a:prstGeom prst="rect">
            <a:avLst/>
          </a:prstGeom>
          <a:solidFill>
            <a:srgbClr val="E48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86968" y="392277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6968" y="4197096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mysql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-u root -p</a:t>
            </a:r>
            <a:endParaRPr lang="en-US" sz="1050" dirty="0"/>
          </a:p>
        </p:txBody>
      </p:sp>
      <p:sp>
        <p:nvSpPr>
          <p:cNvPr id="24" name="Referenc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3831336"/>
            <a:ext cx="3840480" cy="107899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3831336"/>
            <a:ext cx="45720" cy="1078992"/>
          </a:xfrm>
          <a:prstGeom prst="rect">
            <a:avLst/>
          </a:prstGeom>
          <a:solidFill>
            <a:srgbClr val="E48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10328" y="392277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Harden the server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10328" y="4197096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mysql_secure_installation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658368" y="29260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Reference — Users, Access &amp; Backup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85800" y="10241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5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Accounts, remote connections, and dump/restore commands</a:t>
            </a:r>
            <a:endParaRPr lang="en-US" sz="1200" dirty="0"/>
          </a:p>
        </p:txBody>
      </p:sp>
      <p:sp>
        <p:nvSpPr>
          <p:cNvPr id="4" name="Referenc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417320"/>
            <a:ext cx="3840480" cy="107899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417320"/>
            <a:ext cx="45720" cy="1078992"/>
          </a:xfrm>
          <a:prstGeom prst="rect">
            <a:avLst/>
          </a:prstGeom>
          <a:solidFill>
            <a:srgbClr val="E48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86968" y="150876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root password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86968" y="17830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USER 'root'@'localhost' IDENTIFIED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caching_sha2_password BY 'pass';</a:t>
            </a:r>
            <a:endParaRPr lang="en-US" sz="1050" dirty="0"/>
          </a:p>
        </p:txBody>
      </p:sp>
      <p:sp>
        <p:nvSpPr>
          <p:cNvPr id="8" name="Referenc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417320"/>
            <a:ext cx="3840480" cy="107899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417320"/>
            <a:ext cx="45720" cy="1078992"/>
          </a:xfrm>
          <a:prstGeom prst="rect">
            <a:avLst/>
          </a:prstGeom>
          <a:solidFill>
            <a:srgbClr val="E48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10328" y="150876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user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10328" y="17830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USER 'my_user'@'localhost'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IDENTIFIED BY 'password123';</a:t>
            </a:r>
            <a:endParaRPr lang="en-US" sz="1050" dirty="0"/>
          </a:p>
        </p:txBody>
      </p:sp>
      <p:sp>
        <p:nvSpPr>
          <p:cNvPr id="12" name="Referenc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2624328"/>
            <a:ext cx="3840480" cy="107899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2624328"/>
            <a:ext cx="45720" cy="1078992"/>
          </a:xfrm>
          <a:prstGeom prst="rect">
            <a:avLst/>
          </a:prstGeom>
          <a:solidFill>
            <a:srgbClr val="E48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86968" y="271576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Grant privileges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968" y="299008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ALL PRIVILEGES ON *.* TO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'my_user'@'localhost'; FLUSH PRIVILEGES;</a:t>
            </a:r>
            <a:endParaRPr lang="en-US" sz="1050" dirty="0"/>
          </a:p>
        </p:txBody>
      </p:sp>
      <p:sp>
        <p:nvSpPr>
          <p:cNvPr id="16" name="Referenc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2624328"/>
            <a:ext cx="3840480" cy="107899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2624328"/>
            <a:ext cx="45720" cy="1078992"/>
          </a:xfrm>
          <a:prstGeom prst="rect">
            <a:avLst/>
          </a:prstGeom>
          <a:solidFill>
            <a:srgbClr val="E48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10328" y="271576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 remote access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10328" y="299008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bind-address = 0.0.0.0  (mysqld.cnf)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ufw allow to any port 3306</a:t>
            </a:r>
            <a:endParaRPr lang="en-US" sz="1050" dirty="0"/>
          </a:p>
        </p:txBody>
      </p:sp>
      <p:sp>
        <p:nvSpPr>
          <p:cNvPr id="20" name="Referenc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831336"/>
            <a:ext cx="3840480" cy="107899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831336"/>
            <a:ext cx="45720" cy="1078992"/>
          </a:xfrm>
          <a:prstGeom prst="rect">
            <a:avLst/>
          </a:prstGeom>
          <a:solidFill>
            <a:srgbClr val="E48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86968" y="392277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 up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6968" y="4197096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mysqldump -u root -p mydb &gt; mydb.sql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mysqldump -u root -p --all-databases &gt; all.sql</a:t>
            </a:r>
            <a:endParaRPr lang="en-US" sz="1050" dirty="0"/>
          </a:p>
        </p:txBody>
      </p:sp>
      <p:sp>
        <p:nvSpPr>
          <p:cNvPr id="24" name="Referenc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3831336"/>
            <a:ext cx="3840480" cy="107899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3831336"/>
            <a:ext cx="45720" cy="1078992"/>
          </a:xfrm>
          <a:prstGeom prst="rect">
            <a:avLst/>
          </a:prstGeom>
          <a:solidFill>
            <a:srgbClr val="E48E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10328" y="392277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4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Restore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10328" y="4197096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-u root -p mydb &lt; mydb.sql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991</Words>
  <Application>Microsoft Office PowerPoint</Application>
  <PresentationFormat>On-screen Show (16:9)</PresentationFormat>
  <Paragraphs>178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Segoe UI</vt:lpstr>
      <vt:lpstr>Office Theme</vt:lpstr>
      <vt:lpstr>Installing MySQL on Ubuntu</vt:lpstr>
      <vt:lpstr>What You'll Do</vt:lpstr>
      <vt:lpstr>Install MySQL</vt:lpstr>
      <vt:lpstr>Verify the Service Status</vt:lpstr>
      <vt:lpstr>Set the Root Password</vt:lpstr>
      <vt:lpstr>Run the Security Script</vt:lpstr>
      <vt:lpstr>Create a Dedicated Admin User</vt:lpstr>
      <vt:lpstr>Managing the MySQL Service</vt:lpstr>
      <vt:lpstr>Enable Remote Access</vt:lpstr>
      <vt:lpstr>Backup and Restore</vt:lpstr>
      <vt:lpstr>Troubleshooting</vt:lpstr>
      <vt:lpstr>Quick Reference — Install &amp; Service</vt:lpstr>
      <vt:lpstr>Quick Reference — Users, Access &amp; Backup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 Naif Nezar Nik Mahir</dc:creator>
  <cp:lastModifiedBy>Nik Naif Nezar Nik Mahir</cp:lastModifiedBy>
  <cp:revision>1</cp:revision>
  <dcterms:created xsi:type="dcterms:W3CDTF">2026-08-18T12:16:13Z</dcterms:created>
  <dcterms:modified xsi:type="dcterms:W3CDTF">2026-08-18T12:24:35Z</dcterms:modified>
</cp:coreProperties>
</file>