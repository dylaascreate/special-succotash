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2" d="100"/>
          <a:sy n="62" d="100"/>
        </p:scale>
        <p:origin x="678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2C0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512064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4000" b="1" dirty="0">
                <a:solidFill>
                  <a:srgbClr val="F3ED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2C0A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2600" b="1" dirty="0">
                <a:solidFill>
                  <a:srgbClr val="F3ED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defRPr>
            </a:lvl1pPr>
          </a:lstStyle>
          <a:p>
            <a:pPr marL="0" indent="0">
              <a:buNone/>
            </a:pPr>
            <a:endParaRPr lang="en-US" sz="2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2631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bstract illustration of web server infrastructure with glowing network nodes"/>
          <p:cNvPicPr>
            <a:picLocks noChangeAspect="1"/>
          </p:cNvPicPr>
          <p:nvPr/>
        </p:nvPicPr>
        <p:blipFill>
          <a:blip r:embed="rId3"/>
          <a:srcRect l="3344" r="3344"/>
          <a:stretch/>
        </p:blipFill>
        <p:spPr>
          <a:xfrm>
            <a:off x="5852160" y="0"/>
            <a:ext cx="3291840" cy="5143500"/>
          </a:xfrm>
          <a:prstGeom prst="rect">
            <a:avLst/>
          </a:prstGeom>
        </p:spPr>
      </p:pic>
      <p:sp>
        <p:nvSpPr>
          <p:cNvPr id="3" name="Accent rul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98448"/>
            <a:ext cx="1097280" cy="64008"/>
          </a:xfrm>
          <a:prstGeom prst="rect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48640" y="914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95420"/>
                </a:solidFill>
              </a:rPr>
              <a:t>UBUNTU SERVER GUIDE</a:t>
            </a:r>
            <a:endParaRPr lang="en-US" sz="13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737360"/>
            <a:ext cx="5120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4000" b="1" dirty="0">
                <a:solidFill>
                  <a:srgbClr val="F3ED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Installing Nginx on Ubuntu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548640" y="3200400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8AEBF"/>
                </a:solidFill>
              </a:rPr>
              <a:t>Install, configure, and secure the Nginx web server using the official APT repository.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ED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3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22960" cy="54864"/>
          </a:xfrm>
          <a:prstGeom prst="rect">
            <a:avLst/>
          </a:prstGeom>
          <a:solidFill>
            <a:srgbClr val="E95420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98448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1408176"/>
            <a:ext cx="384048" cy="384048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13232" y="14081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43584" y="1353312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DF1"/>
                </a:solidFill>
              </a:rPr>
              <a:t>Update local package index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297680" y="1353312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EBF"/>
                </a:solidFill>
              </a:rPr>
              <a:t>Refresh the list of available packages</a:t>
            </a:r>
            <a:endParaRPr lang="en-US" sz="1200" dirty="0"/>
          </a:p>
        </p:txBody>
      </p:sp>
      <p:sp>
        <p:nvSpPr>
          <p:cNvPr id="9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975104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084832"/>
            <a:ext cx="384048" cy="384048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43584" y="2029968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DF1"/>
                </a:solidFill>
              </a:rPr>
              <a:t>Install Nginx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297680" y="2029968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EBF"/>
                </a:solidFill>
              </a:rPr>
              <a:t>Pull the package and its dependencies via APT</a:t>
            </a:r>
            <a:endParaRPr lang="en-US" sz="1200" dirty="0"/>
          </a:p>
        </p:txBody>
      </p:sp>
      <p:sp>
        <p:nvSpPr>
          <p:cNvPr id="14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651760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2761488"/>
            <a:ext cx="384048" cy="384048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13232" y="2761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43584" y="2706624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DF1"/>
                </a:solidFill>
              </a:rPr>
              <a:t>Adjust the firewall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2706624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EBF"/>
                </a:solidFill>
              </a:rPr>
              <a:t>Open web traffic through UFW</a:t>
            </a:r>
            <a:endParaRPr lang="en-US" sz="1200" dirty="0"/>
          </a:p>
        </p:txBody>
      </p:sp>
      <p:sp>
        <p:nvSpPr>
          <p:cNvPr id="19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328416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3438144"/>
            <a:ext cx="384048" cy="384048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43584" y="3383280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DF1"/>
                </a:solidFill>
              </a:rPr>
              <a:t>Verify the web server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3383280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EBF"/>
                </a:solidFill>
              </a:rPr>
              <a:t>Check the service and load the landing page</a:t>
            </a:r>
            <a:endParaRPr lang="en-US" sz="1200" dirty="0"/>
          </a:p>
        </p:txBody>
      </p:sp>
      <p:sp>
        <p:nvSpPr>
          <p:cNvPr id="24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4005072"/>
            <a:ext cx="8046720" cy="603504"/>
          </a:xfrm>
          <a:prstGeom prst="roundRect">
            <a:avLst>
              <a:gd name="adj" fmla="val 12121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232" y="4114800"/>
            <a:ext cx="384048" cy="384048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13232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43584" y="4059936"/>
            <a:ext cx="2926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3EDF1"/>
                </a:solidFill>
              </a:rPr>
              <a:t>Manage the process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297680" y="4059936"/>
            <a:ext cx="4114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EBF"/>
                </a:solidFill>
              </a:rPr>
              <a:t>Start, stop, reload, and enable at boot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ED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Steps 1–2: Update and install</a:t>
            </a:r>
            <a:endParaRPr lang="en-US" sz="2600" dirty="0"/>
          </a:p>
        </p:txBody>
      </p:sp>
      <p:sp>
        <p:nvSpPr>
          <p:cNvPr id="3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22960" cy="54864"/>
          </a:xfrm>
          <a:prstGeom prst="rect">
            <a:avLst/>
          </a:prstGeom>
          <a:solidFill>
            <a:srgbClr val="E95420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8016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1481328"/>
            <a:ext cx="384048" cy="384048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4813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EDF1"/>
                </a:solidFill>
              </a:rPr>
              <a:t>Update local package index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19659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EBF"/>
                </a:solidFill>
              </a:rPr>
              <a:t>Ensure your system lists the newest available package versions.</a:t>
            </a:r>
            <a:endParaRPr lang="en-US" sz="1200" dirty="0"/>
          </a:p>
        </p:txBody>
      </p:sp>
      <p:sp>
        <p:nvSpPr>
          <p:cNvPr id="9" name="Comman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69748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1E0616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41832" y="26974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D9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update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3246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AEBF"/>
                </a:solidFill>
              </a:rPr>
              <a:t>Run before every install so APT resolves current versions.</a:t>
            </a:r>
            <a:endParaRPr lang="en-US" sz="1100" dirty="0"/>
          </a:p>
        </p:txBody>
      </p:sp>
      <p:sp>
        <p:nvSpPr>
          <p:cNvPr id="12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28016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tep mark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1481328"/>
            <a:ext cx="384048" cy="384048"/>
          </a:xfrm>
          <a:prstGeom prst="ellipse">
            <a:avLst/>
          </a:prstGeom>
          <a:solidFill>
            <a:srgbClr val="E9542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14813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440680" y="1481328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EDF1"/>
                </a:solidFill>
              </a:rPr>
              <a:t>Install Nginx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37760" y="196596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EBF"/>
                </a:solidFill>
              </a:rPr>
              <a:t>Download and install the Nginx package along with its required dependencies.</a:t>
            </a:r>
            <a:endParaRPr lang="en-US" sz="1200" dirty="0"/>
          </a:p>
        </p:txBody>
      </p:sp>
      <p:sp>
        <p:nvSpPr>
          <p:cNvPr id="17" name="Comman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269748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1E0616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102352" y="26974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D9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apt install nginx -y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2461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AEBF"/>
                </a:solidFill>
              </a:rPr>
              <a:t>The -y flag accepts the dependency prompt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ED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3: Adjust the firewall</a:t>
            </a:r>
            <a:endParaRPr lang="en-US" sz="2600" dirty="0"/>
          </a:p>
        </p:txBody>
      </p:sp>
      <p:sp>
        <p:nvSpPr>
          <p:cNvPr id="3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22960" cy="54864"/>
          </a:xfrm>
          <a:prstGeom prst="rect">
            <a:avLst/>
          </a:prstGeom>
          <a:solidFill>
            <a:srgbClr val="E95420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AEBF"/>
                </a:solidFill>
              </a:rPr>
              <a:t>If you use the Uncomplicated Firewall (UFW), you must allow web traffic through to your server.</a:t>
            </a:r>
            <a:endParaRPr lang="en-US" sz="1300" dirty="0"/>
          </a:p>
        </p:txBody>
      </p:sp>
      <p:sp>
        <p:nvSpPr>
          <p:cNvPr id="5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828800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EDF1"/>
                </a:solidFill>
              </a:rPr>
              <a:t>View available profiles</a:t>
            </a:r>
            <a:endParaRPr lang="en-US" sz="1200" dirty="0"/>
          </a:p>
        </p:txBody>
      </p:sp>
      <p:sp>
        <p:nvSpPr>
          <p:cNvPr id="7" name="Comman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194560"/>
            <a:ext cx="5577840" cy="384048"/>
          </a:xfrm>
          <a:prstGeom prst="roundRect">
            <a:avLst>
              <a:gd name="adj" fmla="val 14286"/>
            </a:avLst>
          </a:prstGeom>
          <a:solidFill>
            <a:srgbClr val="1E0616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2194560"/>
            <a:ext cx="5248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D9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ufw app list</a:t>
            </a:r>
            <a:endParaRPr lang="en-US" sz="1300" dirty="0"/>
          </a:p>
        </p:txBody>
      </p:sp>
      <p:sp>
        <p:nvSpPr>
          <p:cNvPr id="9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798064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287121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EDF1"/>
                </a:solidFill>
              </a:rPr>
              <a:t>Allow HTTP traffic (port 80)</a:t>
            </a:r>
            <a:endParaRPr lang="en-US" sz="1200" dirty="0"/>
          </a:p>
        </p:txBody>
      </p:sp>
      <p:sp>
        <p:nvSpPr>
          <p:cNvPr id="11" name="Comman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3163824"/>
            <a:ext cx="5577840" cy="384048"/>
          </a:xfrm>
          <a:prstGeom prst="roundRect">
            <a:avLst>
              <a:gd name="adj" fmla="val 14286"/>
            </a:avLst>
          </a:prstGeom>
          <a:solidFill>
            <a:srgbClr val="1E0616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41832" y="3163824"/>
            <a:ext cx="5248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D9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ufw allow 'Nginx HTTP'</a:t>
            </a:r>
            <a:endParaRPr lang="en-US" sz="1300" dirty="0"/>
          </a:p>
        </p:txBody>
      </p:sp>
      <p:sp>
        <p:nvSpPr>
          <p:cNvPr id="13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67328"/>
            <a:ext cx="6035040" cy="841248"/>
          </a:xfrm>
          <a:prstGeom prst="roundRect">
            <a:avLst>
              <a:gd name="adj" fmla="val 8696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77240" y="38404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EDF1"/>
                </a:solidFill>
              </a:rPr>
              <a:t>Verify firewall status</a:t>
            </a:r>
            <a:endParaRPr lang="en-US" sz="1200" dirty="0"/>
          </a:p>
        </p:txBody>
      </p:sp>
      <p:sp>
        <p:nvSpPr>
          <p:cNvPr id="15" name="Comman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4133088"/>
            <a:ext cx="5577840" cy="384048"/>
          </a:xfrm>
          <a:prstGeom prst="roundRect">
            <a:avLst>
              <a:gd name="adj" fmla="val 14286"/>
            </a:avLst>
          </a:prstGeom>
          <a:solidFill>
            <a:srgbClr val="1E0616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41832" y="4133088"/>
            <a:ext cx="52486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D9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ufw status</a:t>
            </a:r>
            <a:endParaRPr lang="en-US" sz="1300" dirty="0"/>
          </a:p>
        </p:txBody>
      </p:sp>
      <p:pic>
        <p:nvPicPr>
          <p:cNvPr id="1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6491" y="1920240"/>
            <a:ext cx="1640378" cy="17373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720840" y="3794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8AEBF"/>
                </a:solidFill>
              </a:rPr>
              <a:t>UFW gates traffic before it reaches Nginx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ED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4: Verify the web server status</a:t>
            </a:r>
            <a:endParaRPr lang="en-US" sz="2600" dirty="0"/>
          </a:p>
        </p:txBody>
      </p:sp>
      <p:sp>
        <p:nvSpPr>
          <p:cNvPr id="3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22960" cy="54864"/>
          </a:xfrm>
          <a:prstGeom prst="rect">
            <a:avLst/>
          </a:prstGeom>
          <a:solidFill>
            <a:srgbClr val="E95420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28016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77240" y="1463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EDF1"/>
                </a:solidFill>
              </a:rPr>
              <a:t>Check the service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EBF"/>
                </a:solidFill>
              </a:rPr>
              <a:t>Ubuntu automatically starts and enables Nginx upon successful installation. Confirm that it is running.</a:t>
            </a:r>
            <a:endParaRPr lang="en-US" sz="1200" dirty="0"/>
          </a:p>
        </p:txBody>
      </p:sp>
      <p:sp>
        <p:nvSpPr>
          <p:cNvPr id="7" name="Comman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7240" y="269748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1E0616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41832" y="26974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D9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status nginx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24612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8AEBF"/>
                </a:solidFill>
              </a:rPr>
              <a:t>Look for an active (running) state.</a:t>
            </a:r>
            <a:endParaRPr lang="en-US" sz="1100" dirty="0"/>
          </a:p>
        </p:txBody>
      </p:sp>
      <p:sp>
        <p:nvSpPr>
          <p:cNvPr id="10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280160"/>
            <a:ext cx="3886200" cy="2697480"/>
          </a:xfrm>
          <a:prstGeom prst="roundRect">
            <a:avLst>
              <a:gd name="adj" fmla="val 2712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1463040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3EDF1"/>
                </a:solidFill>
              </a:rPr>
              <a:t>Browser test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EBF"/>
                </a:solidFill>
              </a:rPr>
              <a:t>Open your browser and navigate to your server's IP address.</a:t>
            </a:r>
            <a:endParaRPr lang="en-US" sz="1200" dirty="0"/>
          </a:p>
        </p:txBody>
      </p:sp>
      <p:sp>
        <p:nvSpPr>
          <p:cNvPr id="13" name="Comman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37760" y="2468880"/>
            <a:ext cx="3429000" cy="457200"/>
          </a:xfrm>
          <a:prstGeom prst="roundRect">
            <a:avLst>
              <a:gd name="adj" fmla="val 12000"/>
            </a:avLst>
          </a:prstGeom>
          <a:solidFill>
            <a:srgbClr val="1E0616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102352" y="246888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D9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http://your_server_ip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37760" y="3017520"/>
            <a:ext cx="3429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AEBF"/>
                </a:solidFill>
              </a:rPr>
              <a:t>You should see the standard "Welcome to nginx" landing page.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ED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5: Manage the Nginx process</a:t>
            </a:r>
            <a:endParaRPr lang="en-US" sz="2600" dirty="0"/>
          </a:p>
        </p:txBody>
      </p:sp>
      <p:sp>
        <p:nvSpPr>
          <p:cNvPr id="3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22960" cy="54864"/>
          </a:xfrm>
          <a:prstGeom prst="rect">
            <a:avLst/>
          </a:prstGeom>
          <a:solidFill>
            <a:srgbClr val="E95420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8AEBF"/>
                </a:solidFill>
              </a:rPr>
              <a:t>Manage the background service state with these foundational systemctl commands.</a:t>
            </a:r>
            <a:endParaRPr lang="en-US" sz="1300" dirty="0"/>
          </a:p>
        </p:txBody>
      </p:sp>
      <p:sp>
        <p:nvSpPr>
          <p:cNvPr id="5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645920"/>
            <a:ext cx="3886200" cy="932688"/>
          </a:xfrm>
          <a:prstGeom prst="roundRect">
            <a:avLst>
              <a:gd name="adj" fmla="val 7843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709928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EDF1"/>
                </a:solidFill>
              </a:rPr>
              <a:t>Stop service</a:t>
            </a:r>
            <a:endParaRPr lang="en-US" sz="1200" dirty="0"/>
          </a:p>
        </p:txBody>
      </p:sp>
      <p:sp>
        <p:nvSpPr>
          <p:cNvPr id="7" name="Comman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1975104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1E0616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14400" y="1975104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D9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stop nginx</a:t>
            </a:r>
            <a:endParaRPr lang="en-US" sz="1300" dirty="0"/>
          </a:p>
        </p:txBody>
      </p:sp>
      <p:sp>
        <p:nvSpPr>
          <p:cNvPr id="9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1645920"/>
            <a:ext cx="3886200" cy="932688"/>
          </a:xfrm>
          <a:prstGeom prst="roundRect">
            <a:avLst>
              <a:gd name="adj" fmla="val 7843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910328" y="1709928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EDF1"/>
                </a:solidFill>
              </a:rPr>
              <a:t>Start service</a:t>
            </a:r>
            <a:endParaRPr lang="en-US" sz="1200" dirty="0"/>
          </a:p>
        </p:txBody>
      </p:sp>
      <p:sp>
        <p:nvSpPr>
          <p:cNvPr id="11" name="Comman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0328" y="1975104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1E0616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74920" y="1975104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D9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start nginx</a:t>
            </a:r>
            <a:endParaRPr lang="en-US" sz="1300" dirty="0"/>
          </a:p>
        </p:txBody>
      </p:sp>
      <p:sp>
        <p:nvSpPr>
          <p:cNvPr id="13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2697480"/>
            <a:ext cx="3886200" cy="932688"/>
          </a:xfrm>
          <a:prstGeom prst="roundRect">
            <a:avLst>
              <a:gd name="adj" fmla="val 7843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49808" y="2761488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EDF1"/>
                </a:solidFill>
              </a:rPr>
              <a:t>Restart service</a:t>
            </a:r>
            <a:endParaRPr lang="en-US" sz="1200" dirty="0"/>
          </a:p>
        </p:txBody>
      </p:sp>
      <p:sp>
        <p:nvSpPr>
          <p:cNvPr id="15" name="Comman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3026664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1E0616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026664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D9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restart nginx</a:t>
            </a:r>
            <a:endParaRPr lang="en-US" sz="1300" dirty="0"/>
          </a:p>
        </p:txBody>
      </p:sp>
      <p:sp>
        <p:nvSpPr>
          <p:cNvPr id="17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709160" y="2697480"/>
            <a:ext cx="3886200" cy="932688"/>
          </a:xfrm>
          <a:prstGeom prst="roundRect">
            <a:avLst>
              <a:gd name="adj" fmla="val 7843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910328" y="2761488"/>
            <a:ext cx="3483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EDF1"/>
                </a:solidFill>
              </a:rPr>
              <a:t>Reload configuration</a:t>
            </a:r>
            <a:endParaRPr lang="en-US" sz="1200" dirty="0"/>
          </a:p>
        </p:txBody>
      </p:sp>
      <p:sp>
        <p:nvSpPr>
          <p:cNvPr id="19" name="Comman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910328" y="3026664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1E0616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074920" y="3026664"/>
            <a:ext cx="31912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D9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reload nginx</a:t>
            </a:r>
            <a:endParaRPr lang="en-US" sz="1300" dirty="0"/>
          </a:p>
        </p:txBody>
      </p:sp>
      <p:sp>
        <p:nvSpPr>
          <p:cNvPr id="21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749040"/>
            <a:ext cx="8046720" cy="932688"/>
          </a:xfrm>
          <a:prstGeom prst="roundRect">
            <a:avLst>
              <a:gd name="adj" fmla="val 7843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49808" y="3813048"/>
            <a:ext cx="7644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EDF1"/>
                </a:solidFill>
              </a:rPr>
              <a:t>Enable boot-start</a:t>
            </a:r>
            <a:endParaRPr lang="en-US" sz="1200" dirty="0"/>
          </a:p>
        </p:txBody>
      </p:sp>
      <p:sp>
        <p:nvSpPr>
          <p:cNvPr id="23" name="Command blo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" y="4078224"/>
            <a:ext cx="3840480" cy="365760"/>
          </a:xfrm>
          <a:prstGeom prst="roundRect">
            <a:avLst>
              <a:gd name="adj" fmla="val 15000"/>
            </a:avLst>
          </a:prstGeom>
          <a:solidFill>
            <a:srgbClr val="1E0616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4078224"/>
            <a:ext cx="3511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54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300" dirty="0">
                <a:solidFill>
                  <a:srgbClr val="FFD9C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 systemctl enable nginx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754880" y="40782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C8AEBF"/>
                </a:solidFill>
              </a:rPr>
              <a:t>Starts Nginx automatically after a reboot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38404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3EDF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You're live</a:t>
            </a:r>
            <a:endParaRPr lang="en-US" sz="2600" dirty="0"/>
          </a:p>
        </p:txBody>
      </p:sp>
      <p:sp>
        <p:nvSpPr>
          <p:cNvPr id="3" name="Title underlin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1024128"/>
            <a:ext cx="822960" cy="54864"/>
          </a:xfrm>
          <a:prstGeom prst="rect">
            <a:avLst/>
          </a:prstGeom>
          <a:solidFill>
            <a:srgbClr val="E95420"/>
          </a:solidFill>
          <a:ln w="12700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Abstract illustration of running web server infrastructure"/>
          <p:cNvPicPr>
            <a:picLocks noChangeAspect="1"/>
          </p:cNvPicPr>
          <p:nvPr/>
        </p:nvPicPr>
        <p:blipFill>
          <a:blip r:embed="rId3"/>
          <a:srcRect t="7133" b="7133"/>
          <a:stretch/>
        </p:blipFill>
        <p:spPr>
          <a:xfrm>
            <a:off x="6035040" y="1280160"/>
            <a:ext cx="2560320" cy="3200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5212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EDF1"/>
                </a:solidFill>
              </a:rPr>
              <a:t>Nginx is installed from the official APT repository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EDF1"/>
                </a:solidFill>
              </a:rPr>
              <a:t>Web traffic is allowed through UFW on port 80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EDF1"/>
                </a:solidFill>
              </a:rPr>
              <a:t>The service is running and enabled at boot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3EDF1"/>
                </a:solidFill>
              </a:rPr>
              <a:t>You can start, stop, restart, and reload it on demand</a:t>
            </a:r>
            <a:endParaRPr lang="en-US" sz="1400" dirty="0"/>
          </a:p>
        </p:txBody>
      </p:sp>
      <p:sp>
        <p:nvSpPr>
          <p:cNvPr id="6" name="Conten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356616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3D1730"/>
          </a:solidFill>
          <a:ln w="12700">
            <a:solidFill>
              <a:srgbClr val="5A2846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3639312"/>
            <a:ext cx="4754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D9C7"/>
                </a:solidFill>
              </a:rPr>
              <a:t>Next: add server blocks for your sites and enable HTTPS with Let's Encrypt.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408</Words>
  <Application>Microsoft Office PowerPoint</Application>
  <PresentationFormat>On-screen Show (16:9)</PresentationFormat>
  <Paragraphs>74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Segoe UI</vt:lpstr>
      <vt:lpstr>Office Theme</vt:lpstr>
      <vt:lpstr>Installing Nginx on Ubuntu</vt:lpstr>
      <vt:lpstr>What we'll cover</vt:lpstr>
      <vt:lpstr>Steps 1–2: Update and install</vt:lpstr>
      <vt:lpstr>Step 3: Adjust the firewall</vt:lpstr>
      <vt:lpstr>Step 4: Verify the web server status</vt:lpstr>
      <vt:lpstr>Step 5: Manage the Nginx process</vt:lpstr>
      <vt:lpstr>You're live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 Naif Nezar Nik Mahir</dc:creator>
  <cp:lastModifiedBy>Nik Naif Nezar Nik Mahir</cp:lastModifiedBy>
  <cp:revision>1</cp:revision>
  <dcterms:created xsi:type="dcterms:W3CDTF">2026-08-18T12:34:47Z</dcterms:created>
  <dcterms:modified xsi:type="dcterms:W3CDTF">2026-08-18T12:36:33Z</dcterms:modified>
</cp:coreProperties>
</file>