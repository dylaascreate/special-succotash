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24128"/>
            <a:ext cx="80467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00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Shell and filesystem basics, users and permissions, processes and packages — with guided exercises</a:t>
            </a:r>
            <a:endParaRPr lang="en-US" sz="1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794760"/>
            <a:ext cx="12801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Beginner track  •  No prior command-line experience 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this lab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short modules, each ending in a hands-on exercise you type yourself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monospace text is a command; dark panels are terminal sessions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lab has a checkpoint so you can confirm the result before moving 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in a throwaway VM or container — mistakes are cheap and recoverable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questions at any point; commands are safe to repeat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finish able to navigate a Linux system, manage files and permissions, and install software.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need before we start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Linux machine: a VM, a cloud instance, WSL on Windows, or a container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Ubuntu 22.04+ or Fedora/RHEL 9+ — examples cover both package managers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account with sudo rights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terminal application and about two hours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scratch directory you are happy to delete at the end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what Linux is and how the shell fits into the system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the filesystem and manage files from the command line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and change file ownership and permissions confidently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users and groups, and use sudo safely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control running processes and services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Install, update, and remove software with the system package manager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 with Linux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Linux is, how to log in, and how the shell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Linux?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free, open-source operating system kernel first released in 1991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kernel manages hardware, memory, and processes; the tools around it make a distribution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Distributions bundle the kernel, a package manager, and userland utilities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families: Debian/Ubuntu, Red Hat/Fedora/RHEL, SUSE, Arch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most web servers, cloud instances, containers, and Android devices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you learn here transfers between distributions — only packaging tends to differ.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shell and the terminal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terminal is the window; the shell is the interpreter running inside it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is the most common default shell; zsh and fish are popular alternatives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prompt usually shows user@host and your current directory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command line is: command, options (flags), then arguments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are case-sensitive — LS is not ls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ls -l /etc  →  command ls, option -l, argument /etc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commands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Safe, read-only commands — run each one and read the output.</a:t>
            </a:r>
            <a:endParaRPr lang="en-US" sz="1300" dirty="0"/>
          </a:p>
        </p:txBody>
      </p:sp>
      <p:sp>
        <p:nvSpPr>
          <p:cNvPr id="4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5910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the username you are logged in as</a:t>
            </a:r>
            <a:endParaRPr lang="en-US" sz="1250" dirty="0"/>
          </a:p>
        </p:txBody>
      </p:sp>
      <p:sp>
        <p:nvSpPr>
          <p:cNvPr id="7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75688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0756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machine's name</a:t>
            </a:r>
            <a:endParaRPr lang="en-US" sz="1250" dirty="0"/>
          </a:p>
        </p:txBody>
      </p:sp>
      <p:sp>
        <p:nvSpPr>
          <p:cNvPr id="10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5603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current date and time</a:t>
            </a:r>
            <a:endParaRPr lang="en-US" sz="1250" dirty="0"/>
          </a:p>
        </p:txBody>
      </p:sp>
      <p:sp>
        <p:nvSpPr>
          <p:cNvPr id="1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44952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449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0449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long the system has been running</a:t>
            </a:r>
            <a:endParaRPr lang="en-US" sz="1250" dirty="0"/>
          </a:p>
        </p:txBody>
      </p:sp>
      <p:sp>
        <p:nvSpPr>
          <p:cNvPr id="1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uname -a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52958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version and architecture</a:t>
            </a:r>
            <a:endParaRPr lang="en-US" sz="1250" dirty="0"/>
          </a:p>
        </p:txBody>
      </p:sp>
      <p:sp>
        <p:nvSpPr>
          <p:cNvPr id="1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14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the terminal screen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help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 are stuck, the manual is on the machine — no internet required.</a:t>
            </a:r>
            <a:endParaRPr lang="en-US" sz="1300" dirty="0"/>
          </a:p>
        </p:txBody>
      </p:sp>
      <p:sp>
        <p:nvSpPr>
          <p:cNvPr id="4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 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5910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manual page for a command (q to quit)</a:t>
            </a:r>
            <a:endParaRPr lang="en-US" sz="1250" dirty="0"/>
          </a:p>
        </p:txBody>
      </p:sp>
      <p:sp>
        <p:nvSpPr>
          <p:cNvPr id="7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75688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--help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0756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usage summary</a:t>
            </a:r>
            <a:endParaRPr lang="en-US" sz="1250" dirty="0"/>
          </a:p>
        </p:txBody>
      </p:sp>
      <p:sp>
        <p:nvSpPr>
          <p:cNvPr id="10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5603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a builtin, alias, or program?</a:t>
            </a:r>
            <a:endParaRPr lang="en-US" sz="1250" dirty="0"/>
          </a:p>
        </p:txBody>
      </p:sp>
      <p:sp>
        <p:nvSpPr>
          <p:cNvPr id="1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44952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449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python3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0449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to the program that would run</a:t>
            </a:r>
            <a:endParaRPr lang="en-US" sz="1250" dirty="0"/>
          </a:p>
        </p:txBody>
      </p:sp>
      <p:sp>
        <p:nvSpPr>
          <p:cNvPr id="1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apropos copy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52958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manual pages by keyword</a:t>
            </a:r>
            <a:endParaRPr lang="en-US" sz="1250" dirty="0"/>
          </a:p>
        </p:txBody>
      </p:sp>
      <p:sp>
        <p:nvSpPr>
          <p:cNvPr id="1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14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you have already run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1: First contact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and confirm what system you are on.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hostname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uptime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date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history | tail -5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name your username, hostname, and kernel version out loud.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and the Filesystem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directories and managing files from the shell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filesystem hierarchy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has one tree starting at / — no drive letters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/home holds user directories; /root is the administrator's home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/etc holds system configuration files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/var holds logs and data that change; /tmp is scratch space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/usr holds installed programs and libraries; /bin and /sbin hold core commands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a file — including devices under /dev and kernel data under /proc.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Paths: absolute and relative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Absolute paths start at the root: /home/anna/notes.txt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Relative paths start where you are: notes.txt or ../docs/notes.txt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means the current directory; .. means the parent directory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 is a shortcut for your own home directory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 starting with a dot are hidden by default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around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the directory you are currently in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contents of a directory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listing, all files, human-readable sizes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/etc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to an absolute path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up one level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to your home directory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and removing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 is permanent. Check with ls before you delete anything.</a:t>
            </a:r>
            <a:endParaRPr lang="en-US" sz="1300" dirty="0"/>
          </a:p>
        </p:txBody>
      </p:sp>
      <p:sp>
        <p:nvSpPr>
          <p:cNvPr id="4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projects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5910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directory</a:t>
            </a:r>
            <a:endParaRPr lang="en-US" sz="1250" dirty="0"/>
          </a:p>
        </p:txBody>
      </p:sp>
      <p:sp>
        <p:nvSpPr>
          <p:cNvPr id="7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75688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a/b/c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0756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nested directories in one go</a:t>
            </a:r>
            <a:endParaRPr lang="en-US" sz="1250" dirty="0"/>
          </a:p>
        </p:txBody>
      </p:sp>
      <p:sp>
        <p:nvSpPr>
          <p:cNvPr id="10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5603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notes.txt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 empty file or update its timestamp</a:t>
            </a:r>
            <a:endParaRPr lang="en-US" sz="1250" dirty="0"/>
          </a:p>
        </p:txBody>
      </p:sp>
      <p:sp>
        <p:nvSpPr>
          <p:cNvPr id="1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44952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449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a.txt b.txt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0449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a file</a:t>
            </a:r>
            <a:endParaRPr lang="en-US" sz="1250" dirty="0"/>
          </a:p>
        </p:txBody>
      </p:sp>
      <p:sp>
        <p:nvSpPr>
          <p:cNvPr id="1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old.txt new.txt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52958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or rename</a:t>
            </a:r>
            <a:endParaRPr lang="en-US" sz="1250" dirty="0"/>
          </a:p>
        </p:txBody>
      </p:sp>
      <p:sp>
        <p:nvSpPr>
          <p:cNvPr id="1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 olddir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14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recursively — there is no recycle bin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file contents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a whole file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/var/log/syslog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Scroll through a long file (q to quit)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-20 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20 lines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app.log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a log file as it grows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file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lines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image.png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what kind of file it 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things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'*.log'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name below the current directory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 -size +10M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files larger than 10 MB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'error' app.log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lines containing text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-ri 'todo' src/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Recursive, case-insensitive search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 passwd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lookup from an index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*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of each item in this directory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Wildcards and redirection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matches any characters: ls *.txt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matches a single character: ls file?.txt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writes output to a file, replacing it: ls &gt; list.txt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&gt;&gt; appends instead of replacing: date &gt;&gt; log.txt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pipes one command's output into another: ls -l | grep .txt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Pipes are the heart of the shell — small tools combined into bigger answers.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2: Build a workspace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directory tree, add files, and inspect them.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~/lab/{docs,logs}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~/lab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docs/readme.txt logs/app.log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'hello linux' &gt; docs/readme.txt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docs/readme.txt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-lah docs logs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readme.txt contains one line of text and both directories exist.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3: Search and filter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files and pull information out of them.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~/lab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for i in 1 2 3; do echo "line $i error" &gt;&gt; logs/app.log; done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error logs/app.log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error logs/app.log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~/lab -name '*.log'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-sh ~/lab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-c reports 3 matching lines.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Editing files: nano and vim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 is the friendliest editor: nano file.txt, Ctrl+O saves, Ctrl+X exits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vim is everywhere: vim file.txt, press i to insert, Esc then :wq to save and quit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 then :q! quits vim without saving — useful when you get lost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an editor for configuration files; use echo and redirection for quick notes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back up a config before editing: cp file file.bak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4: Edit a 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modify a text file with an editor.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56362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~/lab/docs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readme.txt readme.bak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nano readme.txt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# add two lines, then Ctrl+O, Enter, Ctrl+X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diff readme.bak readme.txt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9272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9272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3192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shows exactly the lines you added.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Users, Groups, and Permissions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do what, and how to change it safely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and groups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process and file belongs to a user and a group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is the superuser — unrestricted, and dangerous by default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users get a home directory and a login shell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let several users share access to the same files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data lives in /etc/passwd; group data in /etc/group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Inspecting accounts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user ID, group ID, and group memberships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anna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a user belongs to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is logged in right now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-5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login history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getent passwd anna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up one account entry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are allowed to run as root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users and groups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-a in usermod -aG matters: without it you replace all secondary groups.</a:t>
            </a:r>
            <a:endParaRPr lang="en-US" sz="1300" dirty="0"/>
          </a:p>
        </p:txBody>
      </p:sp>
      <p:sp>
        <p:nvSpPr>
          <p:cNvPr id="4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adduser anna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5910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user interactively (Debian/Ubuntu)</a:t>
            </a:r>
            <a:endParaRPr lang="en-US" sz="1250" dirty="0"/>
          </a:p>
        </p:txBody>
      </p:sp>
      <p:sp>
        <p:nvSpPr>
          <p:cNvPr id="7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75688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-m anna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0756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user with a home directory</a:t>
            </a:r>
            <a:endParaRPr lang="en-US" sz="1250" dirty="0"/>
          </a:p>
        </p:txBody>
      </p:sp>
      <p:sp>
        <p:nvSpPr>
          <p:cNvPr id="10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5603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passwd anna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or change a password</a:t>
            </a:r>
            <a:endParaRPr lang="en-US" sz="1250" dirty="0"/>
          </a:p>
        </p:txBody>
      </p:sp>
      <p:sp>
        <p:nvSpPr>
          <p:cNvPr id="1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44952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449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groupadd devs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0449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group</a:t>
            </a:r>
            <a:endParaRPr lang="en-US" sz="1250" dirty="0"/>
          </a:p>
        </p:txBody>
      </p:sp>
      <p:sp>
        <p:nvSpPr>
          <p:cNvPr id="1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devs anna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52958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user to a group (keep existing ones)</a:t>
            </a:r>
            <a:endParaRPr lang="en-US" sz="1250" dirty="0"/>
          </a:p>
        </p:txBody>
      </p:sp>
      <p:sp>
        <p:nvSpPr>
          <p:cNvPr id="1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userdel -r anna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14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a user and their home directory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permissions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 -l shows something like: -rw-r--r-- 1 anna devs 220 Aug 17 10:12 notes.txt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character: - is a file, d a directory, l a symbolic link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three triplets: owner, group, everyone else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= read, w = write, x = execute (for a directory, x means 'enter it')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dash means that permission is not granted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rw-r--r-- means the owner can read and write; everyone else can only read.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Numeric (octal) permissions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= 4, write = 2, execute = 1 — add them per triplet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755 = rwxr-xr-x — typical for directories and programs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644 = rw-r--r-- — typical for regular files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 = rw------- — private files such as keys and secrets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777 gives everyone full access — almost always the wrong answer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Changing permissions and ownership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644 notes.txt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permissions numerically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u+x script.sh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execute for the owner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-R 755 site/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recursively to a directory tree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anna 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owning user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anna:devs file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user and group together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default permissions for new files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sudo safely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sudo runs a single command with administrator rights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 sudo over logging in as root — it logs who did what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command twice before pressing Enter, especially with rm and chmod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sudo -i opens a root shell; leave it as soon as you are done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run sudo chmod -R 777 / — it breaks the system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of thumb: if you do not know why a command needs root, do not run it with sudo.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5: Users and groups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group and a user, then verify membership.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groupadd labteam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useradd -m -G labteam labuser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passwd labuser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id labuser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groups labuser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getent group labteam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labuser lists labteam among its groups.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6: Permissions in practice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 down a file and prove the change worked.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~/lab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'secret' &gt; secret.txt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secret.txt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600 secret.txt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secret.txt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-u labuser cat secret.txt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command fails with 'Permission denied' — exactly what you want.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7: Shared directory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a group collaborate in one directory.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mkdir /srv/shared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chown root:labteam /srv/shared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chmod 2775 /srv/shared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-ld /srv/shared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-u labuser touch /srv/shared/hello.txt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/srv/shared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hello.txt is owned by labuser but its group is labteam.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 and Services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Seeing what is running and keeping it under control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process?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process is a running program with its own memory and process ID (PID)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process has a parent; PID 1 is the init system that starts everything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 can run in the foreground or the background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process runs as a user, which decides what it may touch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Killing a process sends it a signal asking (or forcing) it to stop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Watching processes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of every running process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nginx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that snapshot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view of CPU and memory use (q to quit)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Friendlier live view, if installed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-a sshd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PIDs by name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pstree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parent-child process tree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Controlling processes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300 &amp;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command in the background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background jobs in this shell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%1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job 1 back to the foreground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Interrupt the foreground command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4821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 process to stop politely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4821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 it to stop — last resort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with systemd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Fedora and RHEL the SSH unit is usually called sshd.</a:t>
            </a:r>
            <a:endParaRPr lang="en-US" sz="1300" dirty="0"/>
          </a:p>
        </p:txBody>
      </p:sp>
      <p:sp>
        <p:nvSpPr>
          <p:cNvPr id="4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ssh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5910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the service running, and why not?</a:t>
            </a:r>
            <a:endParaRPr lang="en-US" sz="1250" dirty="0"/>
          </a:p>
        </p:txBody>
      </p:sp>
      <p:sp>
        <p:nvSpPr>
          <p:cNvPr id="7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75688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ssh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0756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 service now</a:t>
            </a:r>
            <a:endParaRPr lang="en-US" sz="1250" dirty="0"/>
          </a:p>
        </p:txBody>
      </p:sp>
      <p:sp>
        <p:nvSpPr>
          <p:cNvPr id="10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5603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stop ssh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it now</a:t>
            </a:r>
            <a:endParaRPr lang="en-US" sz="1250" dirty="0"/>
          </a:p>
        </p:txBody>
      </p:sp>
      <p:sp>
        <p:nvSpPr>
          <p:cNvPr id="1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44952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449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ssh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0449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Restart after a config change</a:t>
            </a:r>
            <a:endParaRPr lang="en-US" sz="1250" dirty="0"/>
          </a:p>
        </p:txBody>
      </p:sp>
      <p:sp>
        <p:nvSpPr>
          <p:cNvPr id="1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ssh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52958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automatically at boot</a:t>
            </a:r>
            <a:endParaRPr lang="en-US" sz="1250" dirty="0"/>
          </a:p>
        </p:txBody>
      </p:sp>
      <p:sp>
        <p:nvSpPr>
          <p:cNvPr id="1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ssh -n 50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14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50 log lines for that service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8: Process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Start, find, and stop a background process.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sleep 600 &amp;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jobs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pgrep -a sleep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 | grep sleep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kill $(pgrep -n sleep)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pgrep -a sleep || echo 'stopped'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 command prints 'stopped' — no sleep process remains.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9: Inspect a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state and logs of a real service.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56362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systemctl status ssh || systemctl status sshd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systemctl is-enabled ssh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journalctl -u ssh -n 20 --no-pager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free -h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 /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9272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9272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3192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say whether SSH is running, enabled at boot, and when it last started.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and Packages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Installing, updating, and removing software the right 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Linux installs software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comes from repositories — curated, signed collections of packages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package manager resolves dependencies and tracks what is installed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Debian/Ubuntu use apt with .deb packages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Fedora/RHEL use dnf with .rpm packages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piping random scripts from the internet into your shell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 the repository. It gives you signed packages and clean removal.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management with apt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Debian and Ubuntu family.</a:t>
            </a:r>
            <a:endParaRPr lang="en-US" sz="1300" dirty="0"/>
          </a:p>
        </p:txBody>
      </p:sp>
      <p:sp>
        <p:nvSpPr>
          <p:cNvPr id="4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5910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the list of available packages</a:t>
            </a:r>
            <a:endParaRPr lang="en-US" sz="1250" dirty="0"/>
          </a:p>
        </p:txBody>
      </p:sp>
      <p:sp>
        <p:nvSpPr>
          <p:cNvPr id="7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75688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upgrade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0756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available updates</a:t>
            </a:r>
            <a:endParaRPr lang="en-US" sz="1250" dirty="0"/>
          </a:p>
        </p:txBody>
      </p:sp>
      <p:sp>
        <p:nvSpPr>
          <p:cNvPr id="10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5603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search htop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for a package</a:t>
            </a:r>
            <a:endParaRPr lang="en-US" sz="1250" dirty="0"/>
          </a:p>
        </p:txBody>
      </p:sp>
      <p:sp>
        <p:nvSpPr>
          <p:cNvPr id="1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44952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449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show htop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0449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 before you install</a:t>
            </a:r>
            <a:endParaRPr lang="en-US" sz="1250" dirty="0"/>
          </a:p>
        </p:txBody>
      </p:sp>
      <p:sp>
        <p:nvSpPr>
          <p:cNvPr id="1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htop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52958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it</a:t>
            </a:r>
            <a:endParaRPr lang="en-US" sz="1250" dirty="0"/>
          </a:p>
        </p:txBody>
      </p:sp>
      <p:sp>
        <p:nvSpPr>
          <p:cNvPr id="1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remove htop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14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management with dnf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Fedora, RHEL, Rocky, and AlmaLinux.</a:t>
            </a:r>
            <a:endParaRPr lang="en-US" sz="1300" dirty="0"/>
          </a:p>
        </p:txBody>
      </p:sp>
      <p:sp>
        <p:nvSpPr>
          <p:cNvPr id="4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check-update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1568" y="15910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what updates are available</a:t>
            </a:r>
            <a:endParaRPr lang="en-US" sz="1250" dirty="0"/>
          </a:p>
        </p:txBody>
      </p:sp>
      <p:sp>
        <p:nvSpPr>
          <p:cNvPr id="7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75688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upgrade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0756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them</a:t>
            </a:r>
            <a:endParaRPr lang="en-US" sz="1250" dirty="0"/>
          </a:p>
        </p:txBody>
      </p:sp>
      <p:sp>
        <p:nvSpPr>
          <p:cNvPr id="10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5603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search htop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for a package</a:t>
            </a:r>
            <a:endParaRPr lang="en-US" sz="1250" dirty="0"/>
          </a:p>
        </p:txBody>
      </p:sp>
      <p:sp>
        <p:nvSpPr>
          <p:cNvPr id="1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44952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449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info htop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0449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 before you install</a:t>
            </a:r>
            <a:endParaRPr lang="en-US" sz="1250" dirty="0"/>
          </a:p>
        </p:txBody>
      </p:sp>
      <p:sp>
        <p:nvSpPr>
          <p:cNvPr id="1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9584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install htop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352958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it</a:t>
            </a:r>
            <a:endParaRPr lang="en-US" sz="1250" dirty="0"/>
          </a:p>
        </p:txBody>
      </p:sp>
      <p:sp>
        <p:nvSpPr>
          <p:cNvPr id="1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260604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remove htop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14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10: Install a tool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Install, use, and remove a package cleanly.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   # or: sudo dnf check-update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-y tree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tree -L 2 ~/lab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tree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remove -y tree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tree || echo 'removed'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ran against your lab directory, then 'removed' printed after uninstall.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Everyday Skills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Connections, archives, and habits that make you productive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Archiving and compression</a:t>
            </a:r>
            <a:endParaRPr lang="en-US" sz="2400" dirty="0"/>
          </a:p>
        </p:txBody>
      </p:sp>
      <p:sp>
        <p:nvSpPr>
          <p:cNvPr id="3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12070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-czf lab.tar.gz lab/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01568" y="12070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compressed archive</a:t>
            </a:r>
            <a:endParaRPr lang="en-US" sz="1250" dirty="0"/>
          </a:p>
        </p:txBody>
      </p:sp>
      <p:sp>
        <p:nvSpPr>
          <p:cNvPr id="6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5564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-tzf lab.tar.gz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556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its contents without extracting</a:t>
            </a:r>
            <a:endParaRPr lang="en-US" sz="1250" dirty="0"/>
          </a:p>
        </p:txBody>
      </p:sp>
      <p:sp>
        <p:nvSpPr>
          <p:cNvPr id="9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0428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-xzf lab.tar.gz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30428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it</a:t>
            </a:r>
            <a:endParaRPr lang="en-US" sz="1250" dirty="0"/>
          </a:p>
        </p:txBody>
      </p:sp>
      <p:sp>
        <p:nvSpPr>
          <p:cNvPr id="12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5292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gzip big.log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8529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Compress a single file</a:t>
            </a:r>
            <a:endParaRPr lang="en-US" sz="1250" dirty="0"/>
          </a:p>
        </p:txBody>
      </p:sp>
      <p:sp>
        <p:nvSpPr>
          <p:cNvPr id="15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-r lab.zip lab/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zip archive</a:t>
            </a:r>
            <a:endParaRPr lang="en-US" sz="1250" dirty="0"/>
          </a:p>
        </p:txBody>
      </p:sp>
      <p:sp>
        <p:nvSpPr>
          <p:cNvPr id="18" name="Command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50208"/>
            <a:ext cx="2606040" cy="4937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950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 lab.zip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950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a zip archive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Shell shortcuts worth memorizing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completes commands, paths, and package names — use it constantly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and Down arrows walk through your command history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Ctrl+R searches history; type a few letters of a past command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Ctrl+A and Ctrl+E jump to the start and end of the line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cancels; Ctrl+D signals end of input and logs you out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!! repeats the last command — handy as: sudo !!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shell script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file: nano backup.sh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the interpreter line: #!/bin/bash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commands exactly as you would type them in the shell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executable: chmod +x backup.sh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it: ./backup.sh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variables and $1 for arguments as your scripts grow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script is just a saved sequence of commands — nothing more mysterious than that.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11: Archive and script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 your lab work into a reusable backup script.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nano backup.sh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# #!/bin/bash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# tar -czf lab-$(date +%F).tar.gz lab/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+x backup.sh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./backup.sh &amp;&amp; ls -lh lab-*.tar.gz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dated .tar.gz archive of your lab directory exists in your home directory.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12: Capstone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</a:t>
            </a: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everything you learned in one pass.</a:t>
            </a:r>
            <a:endParaRPr lang="en-US" sz="1300" dirty="0"/>
          </a:p>
        </p:txBody>
      </p:sp>
      <p:sp>
        <p:nvSpPr>
          <p:cNvPr id="4" name="Termin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91056"/>
            <a:ext cx="78638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7498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useradd -m -G labteam devuser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mkdir -p /srv/app &amp;&amp; sudo chown root:labteam /srv/app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chmod 2775 /srv/app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-u devuser bash -c 'echo run &gt; /srv/app/notes.txt'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/srv/app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tar -czf app-backup.tar.gz /srv/app 2&gt;/dev/null &amp;&amp; ls -lh app-backup.tar.gz</a:t>
            </a:r>
            <a:endParaRPr lang="en-US" sz="1250" dirty="0"/>
          </a:p>
        </p:txBody>
      </p:sp>
      <p:sp>
        <p:nvSpPr>
          <p:cNvPr id="6" name="Check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heckpoin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844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devuser wrote into the shared directory and you produced a backup archive.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Troubleshooting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'Permission denied' — check ls -l and whether the command needs sudo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'command not found' — check spelling, then whether the package is installed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'No such file or directory' — run pwd and ls to confirm where you are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service will not start — read systemctl status and journalctl -u first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disk space — df -h, then du -sh /var/* to find the culprit</a:t>
            </a:r>
            <a:endParaRPr lang="en-US" sz="1500" dirty="0"/>
          </a:p>
        </p:txBody>
      </p:sp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804672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1363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3950208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error message fully before changing anything. It usually names the problem.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go next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Shell scripting: variables, loops, conditionals, and cron jobs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Networking: firewalls, DNS, and troubleshooting with ss and dig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Storage: partitions, filesystems, and mounting disks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Containers: Docker and Podman build directly on these fundamentals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 paths: LPIC-1, RHCSA, or CompTIA Linux+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speak Linux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Twelve labs, six modules, and a working set of commands you can use tomorrow.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Questions, then keep practising in your VM.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Fundamentals Lab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3747</Words>
  <Application>Microsoft Office PowerPoint</Application>
  <PresentationFormat>On-screen Show (16:9)</PresentationFormat>
  <Paragraphs>623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Consolas</vt:lpstr>
      <vt:lpstr>Segoe UI</vt:lpstr>
      <vt:lpstr>Office Theme</vt:lpstr>
      <vt:lpstr>Linux Fundamentals</vt:lpstr>
      <vt:lpstr>How this lab works</vt:lpstr>
      <vt:lpstr>What you need before we start</vt:lpstr>
      <vt:lpstr>Learning objectives</vt:lpstr>
      <vt:lpstr>Getting Started with Linux</vt:lpstr>
      <vt:lpstr>What is Linux?</vt:lpstr>
      <vt:lpstr>The shell and the terminal</vt:lpstr>
      <vt:lpstr>Your first commands</vt:lpstr>
      <vt:lpstr>Getting help</vt:lpstr>
      <vt:lpstr>Lab 1: First contact</vt:lpstr>
      <vt:lpstr>Files and the Filesystem</vt:lpstr>
      <vt:lpstr>The filesystem hierarchy</vt:lpstr>
      <vt:lpstr>Paths: absolute and relative</vt:lpstr>
      <vt:lpstr>Moving around</vt:lpstr>
      <vt:lpstr>Creating and removing</vt:lpstr>
      <vt:lpstr>Reading file contents</vt:lpstr>
      <vt:lpstr>Finding things</vt:lpstr>
      <vt:lpstr>Wildcards and redirection</vt:lpstr>
      <vt:lpstr>Lab 2: Build a workspace</vt:lpstr>
      <vt:lpstr>Lab 3: Search and filter</vt:lpstr>
      <vt:lpstr>Editing files: nano and vim</vt:lpstr>
      <vt:lpstr>Lab 4: Edit a file</vt:lpstr>
      <vt:lpstr>Users, Groups, and Permissions</vt:lpstr>
      <vt:lpstr>Users and groups</vt:lpstr>
      <vt:lpstr>Inspecting accounts</vt:lpstr>
      <vt:lpstr>Managing users and groups</vt:lpstr>
      <vt:lpstr>Reading permissions</vt:lpstr>
      <vt:lpstr>Numeric (octal) permissions</vt:lpstr>
      <vt:lpstr>Changing permissions and ownership</vt:lpstr>
      <vt:lpstr>Using sudo safely</vt:lpstr>
      <vt:lpstr>Lab 5: Users and groups</vt:lpstr>
      <vt:lpstr>Lab 6: Permissions in practice</vt:lpstr>
      <vt:lpstr>Lab 7: Shared directory</vt:lpstr>
      <vt:lpstr>Processes and Services</vt:lpstr>
      <vt:lpstr>What is a process?</vt:lpstr>
      <vt:lpstr>Watching processes</vt:lpstr>
      <vt:lpstr>Controlling processes</vt:lpstr>
      <vt:lpstr>Services with systemd</vt:lpstr>
      <vt:lpstr>Lab 8: Process control</vt:lpstr>
      <vt:lpstr>Lab 9: Inspect a service</vt:lpstr>
      <vt:lpstr>Software and Packages</vt:lpstr>
      <vt:lpstr>How Linux installs software</vt:lpstr>
      <vt:lpstr>Package management with apt</vt:lpstr>
      <vt:lpstr>Package management with dnf</vt:lpstr>
      <vt:lpstr>Lab 10: Install a tool</vt:lpstr>
      <vt:lpstr>Everyday Skills</vt:lpstr>
      <vt:lpstr>Archiving and compression</vt:lpstr>
      <vt:lpstr>Shell shortcuts worth memorizing</vt:lpstr>
      <vt:lpstr>Your first shell script</vt:lpstr>
      <vt:lpstr>Lab 11: Archive and script</vt:lpstr>
      <vt:lpstr>Lab 12: Capstone</vt:lpstr>
      <vt:lpstr>Troubleshooting checklist</vt:lpstr>
      <vt:lpstr>Where to go next</vt:lpstr>
      <vt:lpstr>You now speak Linux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 Naif Nezar Nik Mahir</dc:creator>
  <cp:lastModifiedBy>Nik Naif Nezar Nik Mahir</cp:lastModifiedBy>
  <cp:revision>1</cp:revision>
  <dcterms:created xsi:type="dcterms:W3CDTF">2026-08-17T06:46:09Z</dcterms:created>
  <dcterms:modified xsi:type="dcterms:W3CDTF">2026-08-17T06:48:26Z</dcterms:modified>
</cp:coreProperties>
</file>