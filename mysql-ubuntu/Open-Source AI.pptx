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969" autoAdjust="0"/>
  </p:normalViewPr>
  <p:slideViewPr>
    <p:cSldViewPr snapToGrid="0">
      <p:cViewPr varScale="1">
        <p:scale>
          <a:sx n="85" d="100"/>
          <a:sy n="85" d="100"/>
        </p:scale>
        <p:origin x="9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goal: a private AI platform running entirely on hardware you control, with no cloud dependency and no per-token cost. Stress that the design starts CPU-only so anyone can begin today, and the same stack later accepts an NVIDIA GPU without a rebuild. Ask who in the room already runs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how to use the guide: read it end to end once, then work section by section. Every section finishes with something verifiable, so nobody moves forward on hope. Point out the appendices at the back — troubleshooting and the one-page cards — so they know help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layers top to bottom: the browser UI, the gateway that orchestrates, the model server, the vector store, the database. Emphasise that each piece has exactly one job, which is what makes the stack debuggable. Only the UI and gateway are ever reachable by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the shared vocabulary for the rest of the session. The ports matter later when we talk about the firewall — note that most of these should never be reachable from the LAN. Do not read every row aloud; call out Ollama, Qdrant and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dominates the resource budget; everything else is small by comparison. Steer people to the middle profile — the minimum viable one works but tests patience. Storage grows over time from model pulls and chat logs, so size generously.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Prerequisites before any typing. Emphasise the non-root sudo user — building as root creates permission problems you will fight for weeks. A fixed IP or reservation avoids the classic 'it worked yesterday'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of host preparation. Update first so you are not debugging against stale packages. Reboot only when Ubuntu says so — an unnecessary reboot mid-build wastes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the project structure now so every later command has a predictable home. The folder map is worth a pause: data, models and services stay separate because they have different backup and size profiles. Ownership goes to your user, not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checks that prove the foundation. If any one fails, stop — nothing above this layer will work. The hello-world container is the single fastest proof that Docker is genuinely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five services as one Compose stack. The key idea is that you start and stop the entire platform with one command from one directory. Mention that restart policies bring everything back after a host reboot.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anatomy walkthrough. One file describes the whole platform: services, networks, volumes. Tell them we will build it in five steps over the next slides rather than pasting a wall of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externalise every secret. Nothing sensitive is ever written into the YAML, because the YAML gets shared, copied and committed. The .env file sits beside it, stays out of version control, and is included in backups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defines inference and vector storage. Highlight the model volume on the host — it means a container rebuild does not re-download gigabytes. Restart policies keep both services up after a reboot.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adds memory and the gateway. The important caveat is that depends_on controls start order, not readiness — the gateway must retry until the database actually accepts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wires the interface, networks and volumes. The crucial concept: container names are hostnames on the internal Docker network, which is why services address each other by name and never by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validate then start. Running config first catches YAML mistakes before containers churn. Then watch the gateway logs come alive — that is where startup problems surface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commands they will actually use every day. Suggest they photograph this slide. Note the difference between stopping and removing containers versus removing volumes, which destroys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model and prove it answers. A 7B instruct model is the practical CPU-first starting point. Run one plain question in front of the room — seeing it answer locally is the moment the concept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Bigger is not automatically better. On CPU, a responsive small model beats a slow large one every time; users abandon slow assistants. Match the size to the RAM you actually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levers for usable CPU speed: thread count matched to physical cores, keep-alive so the model stays resident, and realistic context limits. Set expectations — this is workable, not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retrieval-augmented generation as the way to give the model your knowledge without retraining it. Walk the pipeline stages briefly; the detail comes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main message: most disappointing RAG results are chunking problems, not model problems. Chunk size, overlap and respecting document structure do more for quality than swapping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embedding model for the entire corpus — vectors from different models are not comparable. A good multilingual model lets a question in one language find an answer written in another, which matters for mixed-language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the collection and check it. The vector size must match the embedding model exactly, or nothing will ever be retrieved. Show the point count check — it is the fastest way to prove ingestion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what happens on every question: receive, embed, search, assemble context, answer. Understanding this sequence is what lets people debug a bad answer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standing test set of twenty to thirty real questions with known sources, and reuse it after every change. Insist on inspecting the retrieved chunks before judging the answer — bad chunks explain most bad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deliberate, not a replay of every message. PostgreSQL is the system of record for transcripts; what gets sent back to the model is a curated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structure and why the tables are separate. Conversations, messages and summaries have different lifetimes and different query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rolling summary is the practical technique: update a running summary every few exchanges, send that plus the last few messages. Promote durable facts rather than keeping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to the platform from the LAN. Find the address, confirm which ports are actually published. On Hyper-V an external virtual switch is usually the simplest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 one door, not six. Default deny, then allow only what people need from your own subnet. This is the single highest-value security step in the whole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practices are non-negotiable. Never expose the database, vector store or model server directly to the Internet. Strong credentials in environment variables, remote access through a VPN, and no shared logins.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backup you have not restored is a rumour. Back up the database and the platform directory, keep a copy off the machine, and encrypt it — dumps contain everything the assistant was ever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upgrade path from CPU-only to GPU. Same stack, no rebuild: install the card, pass it through, add the container toolkit, restart. Check power and physical clearance before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VRAM sizing in plain terms. Eight gigabytes is a solid entry point; more VRAM mainly buys larger models and longer contexts. Match this to the model table shown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after go-live: daily glance, weekly disk and growth check, monthly updates and backups. The full calendar is on the last page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day-to-day command reference. Another slide worth photographing — it is duplicated on the quick reference card at the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deployment order. Each stage is verifiable on its own; do not move forward until the current one passes. This sequence is what keeps a deployment from becoming a debugging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of done. You are live only when all six are true — not when the containers start. Read them out and ask which one their environment would fail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opener. Explain that the troubleshooting section is organised by symptom, because a symptom is what you actually have when something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diagnostic order: is it running, what does it say, can it be reached, is it configured right. Reading the first error rather than the last one saves the most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that will not start. Loops almost always mean the process inside exits on an error, so read the first log line. Port conflicts and bad env values are the usual culprits.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slow, silent or wrong. Separate resource problems from prompt and retrieval problems before changing models. Keep the model volume mounted so pulls happen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and memory problems. An empty result usually means an empty collection or a failed ingestion — check the point count first. Mismatched vector size is the other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can reach the platform. Works-on-the-server-only points to firewall, virtual switch, or binding to localhost. Work outward from the container to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are still stuck, gather this diagnostic bundle first — it answers most of the questions anyone will ask them. Encourage sharing the file rather than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one-page quick reference. Suggest printing it and pinning it next to the server. Everything here appeared earlier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ingestion checklist for the RAG side. Run through it every time documents are loaded; the settings block is what you record alongside each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monthly backup drill. What to capture, in what order, and why every run gets logged — the elapsed time is your real recovery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quarterly restore drill, always on a scratch host and never on production. The number that matters is the time from a bare host to a working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week of operation, day by day. Emphasise inviting two pilot users, not ten, and taking the first backup before the week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maintenance calendar. Daily, weekly, monthly and quarterly routines with a named owner and a deputy. A skipped month means it did not happen — that is the discipline that keeps the platform trustworthy.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E1B1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00200"/>
            <a:ext cx="7680960" cy="1371600"/>
          </a:xfrm>
          <a:prstGeom prst="rect">
            <a:avLst/>
          </a:prstGeom>
          <a:noFill/>
        </p:spPr>
        <p:txBody>
          <a:bodyPr wrap="square" rtlCol="0"/>
          <a:lstStyle>
            <a:lvl1pPr marL="0" indent="0" algn="l">
              <a:buNone/>
              <a:defRPr lang="en-US" sz="4000" b="1" dirty="0">
                <a:solidFill>
                  <a:srgbClr val="F5EDE2"/>
                </a:solidFill>
                <a:latin typeface="Arial" panose="020B0604020202020204" pitchFamily="34" charset="0"/>
                <a:ea typeface="Arial" panose="020B0604020202020204" pitchFamily="34" charset="-122"/>
                <a:cs typeface="Arial" panose="020B0604020202020204"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E1B1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51560" y="310896"/>
            <a:ext cx="7498080" cy="566928"/>
          </a:xfrm>
          <a:prstGeom prst="rect">
            <a:avLst/>
          </a:prstGeom>
          <a:noFill/>
        </p:spPr>
        <p:txBody>
          <a:bodyPr wrap="square" rtlCol="0"/>
          <a:lstStyle>
            <a:lvl1pPr marL="0" indent="0" algn="l">
              <a:buNone/>
              <a:def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defRPr>
            </a:lvl1pPr>
          </a:lstStyle>
          <a:p>
            <a:pPr marL="0" indent="0" algn="l">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146304"/>
          </a:xfrm>
          <a:prstGeom prst="rect">
            <a:avLst/>
          </a:prstGeom>
          <a:solidFill>
            <a:srgbClr val="E2761F"/>
          </a:solidFill>
          <a:ln w="12700">
            <a:solidFill>
              <a:srgbClr val="E2761F"/>
            </a:solidFill>
            <a:prstDash val="solid"/>
          </a:ln>
        </p:spPr>
        <p:txBody>
          <a:bodyPr/>
          <a:lstStyle/>
          <a:p>
            <a:endParaRPr lang="en-US"/>
          </a:p>
        </p:txBody>
      </p:sp>
      <p:sp>
        <p:nvSpPr>
          <p:cNvPr id="3" name="Label chip"/>
          <p:cNvSpPr/>
          <p:nvPr/>
        </p:nvSpPr>
        <p:spPr>
          <a:xfrm>
            <a:off x="731520" y="868680"/>
            <a:ext cx="1737360" cy="310896"/>
          </a:xfrm>
          <a:prstGeom prst="rect">
            <a:avLst/>
          </a:prstGeom>
          <a:solidFill>
            <a:srgbClr val="2A2622"/>
          </a:solidFill>
          <a:ln w="12700">
            <a:solidFill>
              <a:srgbClr val="E2761F"/>
            </a:solidFill>
            <a:prstDash val="solid"/>
          </a:ln>
        </p:spPr>
        <p:txBody>
          <a:bodyPr/>
          <a:lstStyle/>
          <a:p>
            <a:endParaRPr lang="en-US"/>
          </a:p>
        </p:txBody>
      </p:sp>
      <p:sp>
        <p:nvSpPr>
          <p:cNvPr id="4" name="Text 2"/>
          <p:cNvSpPr/>
          <p:nvPr/>
        </p:nvSpPr>
        <p:spPr>
          <a:xfrm>
            <a:off x="731520" y="868680"/>
            <a:ext cx="1737360" cy="310896"/>
          </a:xfrm>
          <a:prstGeom prst="rect">
            <a:avLst/>
          </a:prstGeom>
          <a:noFill/>
        </p:spPr>
        <p:txBody>
          <a:bodyPr wrap="square" lIns="0" tIns="0" rIns="0" bIns="0" rtlCol="0" anchor="ctr"/>
          <a:lstStyle/>
          <a:p>
            <a:pPr marL="0" indent="0" algn="ctr">
              <a:buNone/>
            </a:pPr>
            <a:r>
              <a:rPr lang="en-US" sz="950" b="1" kern="0" spc="150" dirty="0">
                <a:solidFill>
                  <a:srgbClr val="E2761F"/>
                </a:solidFill>
                <a:latin typeface="Arial" panose="020B0604020202020204" pitchFamily="34" charset="0"/>
                <a:ea typeface="Arial" panose="020B0604020202020204" pitchFamily="34" charset="-122"/>
                <a:cs typeface="Arial" panose="020B0604020202020204" pitchFamily="34" charset="-120"/>
              </a:rPr>
              <a:t>DEPLOYMENT GUIDE</a:t>
            </a:r>
            <a:endParaRPr lang="en-US" sz="950" dirty="0"/>
          </a:p>
        </p:txBody>
      </p:sp>
      <p:sp>
        <p:nvSpPr>
          <p:cNvPr id="5" name="Text 0"/>
          <p:cNvSpPr>
            <a:spLocks noGrp="1"/>
          </p:cNvSpPr>
          <p:nvPr>
            <p:ph type="title" idx="100" hasCustomPrompt="1"/>
          </p:nvPr>
        </p:nvSpPr>
        <p:spPr>
          <a:xfrm>
            <a:off x="731520" y="1600200"/>
            <a:ext cx="7680960" cy="1371600"/>
          </a:xfrm>
          <a:prstGeom prst="rect">
            <a:avLst/>
          </a:prstGeom>
          <a:noFill/>
        </p:spPr>
        <p:txBody>
          <a:bodyPr wrap="square" lIns="0" tIns="0" rIns="0" bIns="0" rtlCol="0"/>
          <a:lstStyle/>
          <a:p>
            <a:pPr marL="0" indent="0" algn="l">
              <a:buNone/>
            </a:pPr>
            <a:r>
              <a:rPr lang="en-US" sz="4000" b="1" dirty="0">
                <a:solidFill>
                  <a:srgbClr val="F5EDE2"/>
                </a:solidFill>
                <a:latin typeface="Arial" panose="020B0604020202020204" pitchFamily="34" charset="0"/>
                <a:ea typeface="Arial" panose="020B0604020202020204" pitchFamily="34" charset="-122"/>
                <a:cs typeface="Arial" panose="020B0604020202020204" pitchFamily="34" charset="-120"/>
              </a:rPr>
              <a:t>Open-Source AI</a:t>
            </a:r>
            <a:endParaRPr lang="en-US" sz="4000" dirty="0"/>
          </a:p>
          <a:p>
            <a:pPr marL="0" indent="0" algn="l">
              <a:buNone/>
            </a:pPr>
            <a:r>
              <a:rPr lang="en-US" sz="4000" b="1" dirty="0">
                <a:solidFill>
                  <a:srgbClr val="F5EDE2"/>
                </a:solidFill>
                <a:latin typeface="Arial" panose="020B0604020202020204" pitchFamily="34" charset="0"/>
                <a:ea typeface="Arial" panose="020B0604020202020204" pitchFamily="34" charset="-122"/>
                <a:cs typeface="Arial" panose="020B0604020202020204" pitchFamily="34" charset="-120"/>
              </a:rPr>
              <a:t>Deployment Guide</a:t>
            </a:r>
            <a:endParaRPr lang="en-US" sz="4000" dirty="0"/>
          </a:p>
        </p:txBody>
      </p:sp>
      <p:sp>
        <p:nvSpPr>
          <p:cNvPr id="6" name="Rule under title"/>
          <p:cNvSpPr/>
          <p:nvPr/>
        </p:nvSpPr>
        <p:spPr>
          <a:xfrm>
            <a:off x="731520" y="3127248"/>
            <a:ext cx="1280160" cy="45720"/>
          </a:xfrm>
          <a:prstGeom prst="rect">
            <a:avLst/>
          </a:prstGeom>
          <a:solidFill>
            <a:srgbClr val="E2761F"/>
          </a:solidFill>
          <a:ln w="12700">
            <a:solidFill>
              <a:srgbClr val="E2761F"/>
            </a:solidFill>
            <a:prstDash val="solid"/>
          </a:ln>
        </p:spPr>
        <p:txBody>
          <a:bodyPr/>
          <a:lstStyle/>
          <a:p>
            <a:endParaRPr lang="en-US"/>
          </a:p>
        </p:txBody>
      </p:sp>
      <p:sp>
        <p:nvSpPr>
          <p:cNvPr id="7" name="Text 5"/>
          <p:cNvSpPr/>
          <p:nvPr/>
        </p:nvSpPr>
        <p:spPr>
          <a:xfrm>
            <a:off x="731520" y="3310128"/>
            <a:ext cx="7680960" cy="310896"/>
          </a:xfrm>
          <a:prstGeom prst="rect">
            <a:avLst/>
          </a:prstGeom>
          <a:noFill/>
        </p:spPr>
        <p:txBody>
          <a:bodyPr wrap="square" lIns="0" tIns="0" rIns="0" bIns="0" rtlCol="0" anchor="ctr"/>
          <a:lstStyle/>
          <a:p>
            <a:pPr marL="0" indent="0">
              <a:buNone/>
            </a:pPr>
            <a:r>
              <a:rPr lang="en-US" sz="1500" dirty="0">
                <a:solidFill>
                  <a:srgbClr val="F0A040"/>
                </a:solidFill>
                <a:latin typeface="Arial" panose="020B0604020202020204" pitchFamily="34" charset="0"/>
                <a:ea typeface="Arial" panose="020B0604020202020204" pitchFamily="34" charset="-122"/>
                <a:cs typeface="Arial" panose="020B0604020202020204" pitchFamily="34" charset="-120"/>
              </a:rPr>
              <a:t>Ubuntu Server  ·  Docker  ·  Ollama  ·  Qdrant  ·  PostgreSQL</a:t>
            </a:r>
            <a:endParaRPr lang="en-US" sz="1500" dirty="0"/>
          </a:p>
        </p:txBody>
      </p:sp>
      <p:sp>
        <p:nvSpPr>
          <p:cNvPr id="8" name="Text 6"/>
          <p:cNvSpPr/>
          <p:nvPr/>
        </p:nvSpPr>
        <p:spPr>
          <a:xfrm>
            <a:off x="731520" y="3675888"/>
            <a:ext cx="6949440" cy="640080"/>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A practical reference for running a private, self-hosted AI platform with no cloud dependency. Start CPU-only, upgrade to an NVIDIA GPU later.</a:t>
            </a:r>
            <a:endParaRPr lang="en-US" sz="1200" dirty="0"/>
          </a:p>
        </p:txBody>
      </p:sp>
      <p:sp>
        <p:nvSpPr>
          <p:cNvPr id="9" name="Bottom bar"/>
          <p:cNvSpPr/>
          <p:nvPr/>
        </p:nvSpPr>
        <p:spPr>
          <a:xfrm>
            <a:off x="0" y="4992624"/>
            <a:ext cx="9144000" cy="146304"/>
          </a:xfrm>
          <a:prstGeom prst="rect">
            <a:avLst/>
          </a:prstGeom>
          <a:solidFill>
            <a:srgbClr val="2A2622"/>
          </a:solidFill>
          <a:ln w="12700">
            <a:solidFill>
              <a:srgbClr val="2A2622"/>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00</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ORIENTATION  ·  HOW TO USE THIS GUIDE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How to Use This Guide</a:t>
            </a:r>
            <a:endParaRPr lang="en-US" sz="2600" dirty="0"/>
          </a:p>
        </p:txBody>
      </p:sp>
      <p:sp>
        <p:nvSpPr>
          <p:cNvPr id="8" name="Text 6"/>
          <p:cNvSpPr/>
          <p:nvPr/>
        </p:nvSpPr>
        <p:spPr>
          <a:xfrm>
            <a:off x="411480" y="1078992"/>
            <a:ext cx="8321040" cy="274320"/>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Read it once end to end, then work section by section. Every section ends with something you can verify.</a:t>
            </a:r>
            <a:endParaRPr lang="en-US" sz="1200" dirty="0"/>
          </a:p>
        </p:txBody>
      </p:sp>
      <p:sp>
        <p:nvSpPr>
          <p:cNvPr id="9" name="Card"/>
          <p:cNvSpPr/>
          <p:nvPr/>
        </p:nvSpPr>
        <p:spPr>
          <a:xfrm>
            <a:off x="411480" y="1444752"/>
            <a:ext cx="4069080" cy="969264"/>
          </a:xfrm>
          <a:prstGeom prst="rect">
            <a:avLst/>
          </a:prstGeom>
          <a:solidFill>
            <a:srgbClr val="2A2622"/>
          </a:solidFill>
          <a:ln w="12700">
            <a:solidFill>
              <a:srgbClr val="3A332C"/>
            </a:solidFill>
            <a:prstDash val="solid"/>
          </a:ln>
        </p:spPr>
        <p:txBody>
          <a:bodyPr/>
          <a:lstStyle/>
          <a:p>
            <a:endParaRPr lang="en-US"/>
          </a:p>
        </p:txBody>
      </p:sp>
      <p:sp>
        <p:nvSpPr>
          <p:cNvPr id="10" name="Card accent"/>
          <p:cNvSpPr/>
          <p:nvPr/>
        </p:nvSpPr>
        <p:spPr>
          <a:xfrm>
            <a:off x="411480" y="1444752"/>
            <a:ext cx="4069080" cy="45720"/>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612648" y="1572768"/>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WHO IT IS FOR</a:t>
            </a:r>
            <a:endParaRPr lang="en-US" sz="1050" dirty="0"/>
          </a:p>
        </p:txBody>
      </p:sp>
      <p:sp>
        <p:nvSpPr>
          <p:cNvPr id="12" name="Text 10"/>
          <p:cNvSpPr/>
          <p:nvPr/>
        </p:nvSpPr>
        <p:spPr>
          <a:xfrm>
            <a:off x="612648" y="1847088"/>
            <a:ext cx="3666744" cy="45720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Anyone deploying a private AI stack on their own hardware: sysadmins, developers, small IT teams.</a:t>
            </a:r>
            <a:endParaRPr lang="en-US" sz="950" dirty="0"/>
          </a:p>
        </p:txBody>
      </p:sp>
      <p:sp>
        <p:nvSpPr>
          <p:cNvPr id="13" name="Card"/>
          <p:cNvSpPr/>
          <p:nvPr/>
        </p:nvSpPr>
        <p:spPr>
          <a:xfrm>
            <a:off x="4663440" y="1444752"/>
            <a:ext cx="4069080" cy="969264"/>
          </a:xfrm>
          <a:prstGeom prst="rect">
            <a:avLst/>
          </a:prstGeom>
          <a:solidFill>
            <a:srgbClr val="2A2622"/>
          </a:solidFill>
          <a:ln w="12700">
            <a:solidFill>
              <a:srgbClr val="3A332C"/>
            </a:solidFill>
            <a:prstDash val="solid"/>
          </a:ln>
        </p:spPr>
        <p:txBody>
          <a:bodyPr/>
          <a:lstStyle/>
          <a:p>
            <a:endParaRPr lang="en-US"/>
          </a:p>
        </p:txBody>
      </p:sp>
      <p:sp>
        <p:nvSpPr>
          <p:cNvPr id="14" name="Card accent"/>
          <p:cNvSpPr/>
          <p:nvPr/>
        </p:nvSpPr>
        <p:spPr>
          <a:xfrm>
            <a:off x="4663440" y="1444752"/>
            <a:ext cx="4069080" cy="45720"/>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4864608" y="1572768"/>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WHAT YOU NEED</a:t>
            </a:r>
            <a:endParaRPr lang="en-US" sz="1050" dirty="0"/>
          </a:p>
        </p:txBody>
      </p:sp>
      <p:sp>
        <p:nvSpPr>
          <p:cNvPr id="16" name="Text 14"/>
          <p:cNvSpPr/>
          <p:nvPr/>
        </p:nvSpPr>
        <p:spPr>
          <a:xfrm>
            <a:off x="4864608" y="1847088"/>
            <a:ext cx="3666744" cy="45720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One Ubuntu Server VM or machine, terminal access with sudo, and an internet connection for the initial pulls.</a:t>
            </a:r>
            <a:endParaRPr lang="en-US" sz="950" dirty="0"/>
          </a:p>
        </p:txBody>
      </p:sp>
      <p:sp>
        <p:nvSpPr>
          <p:cNvPr id="17" name="Card"/>
          <p:cNvSpPr/>
          <p:nvPr/>
        </p:nvSpPr>
        <p:spPr>
          <a:xfrm>
            <a:off x="411480" y="2542032"/>
            <a:ext cx="4069080" cy="969264"/>
          </a:xfrm>
          <a:prstGeom prst="rect">
            <a:avLst/>
          </a:prstGeom>
          <a:solidFill>
            <a:srgbClr val="2A2622"/>
          </a:solidFill>
          <a:ln w="12700">
            <a:solidFill>
              <a:srgbClr val="3A332C"/>
            </a:solidFill>
            <a:prstDash val="solid"/>
          </a:ln>
        </p:spPr>
        <p:txBody>
          <a:bodyPr/>
          <a:lstStyle/>
          <a:p>
            <a:endParaRPr lang="en-US"/>
          </a:p>
        </p:txBody>
      </p:sp>
      <p:sp>
        <p:nvSpPr>
          <p:cNvPr id="18" name="Card accent"/>
          <p:cNvSpPr/>
          <p:nvPr/>
        </p:nvSpPr>
        <p:spPr>
          <a:xfrm>
            <a:off x="411480" y="2542032"/>
            <a:ext cx="4069080" cy="45720"/>
          </a:xfrm>
          <a:prstGeom prst="rect">
            <a:avLst/>
          </a:prstGeom>
          <a:solidFill>
            <a:srgbClr val="E2761F"/>
          </a:solidFill>
          <a:ln w="12700">
            <a:solidFill>
              <a:srgbClr val="E2761F"/>
            </a:solidFill>
            <a:prstDash val="solid"/>
          </a:ln>
        </p:spPr>
        <p:txBody>
          <a:bodyPr/>
          <a:lstStyle/>
          <a:p>
            <a:endParaRPr lang="en-US"/>
          </a:p>
        </p:txBody>
      </p:sp>
      <p:sp>
        <p:nvSpPr>
          <p:cNvPr id="19" name="Text 17"/>
          <p:cNvSpPr/>
          <p:nvPr/>
        </p:nvSpPr>
        <p:spPr>
          <a:xfrm>
            <a:off x="612648" y="2670048"/>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THE HOUSE RULES</a:t>
            </a:r>
            <a:endParaRPr lang="en-US" sz="1050" dirty="0"/>
          </a:p>
        </p:txBody>
      </p:sp>
      <p:sp>
        <p:nvSpPr>
          <p:cNvPr id="20" name="Text 18"/>
          <p:cNvSpPr/>
          <p:nvPr/>
        </p:nvSpPr>
        <p:spPr>
          <a:xfrm>
            <a:off x="612648" y="2944368"/>
            <a:ext cx="3666744" cy="45720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Never skip a verification step. If a check fails, fix it before continuing — errors compound quickly in a container stack.</a:t>
            </a:r>
            <a:endParaRPr lang="en-US" sz="950" dirty="0"/>
          </a:p>
        </p:txBody>
      </p:sp>
      <p:sp>
        <p:nvSpPr>
          <p:cNvPr id="21" name="Card"/>
          <p:cNvSpPr/>
          <p:nvPr/>
        </p:nvSpPr>
        <p:spPr>
          <a:xfrm>
            <a:off x="4663440" y="2542032"/>
            <a:ext cx="4069080" cy="969264"/>
          </a:xfrm>
          <a:prstGeom prst="rect">
            <a:avLst/>
          </a:prstGeom>
          <a:solidFill>
            <a:srgbClr val="2A2622"/>
          </a:solidFill>
          <a:ln w="12700">
            <a:solidFill>
              <a:srgbClr val="3A332C"/>
            </a:solidFill>
            <a:prstDash val="solid"/>
          </a:ln>
        </p:spPr>
        <p:txBody>
          <a:bodyPr/>
          <a:lstStyle/>
          <a:p>
            <a:endParaRPr lang="en-US"/>
          </a:p>
        </p:txBody>
      </p:sp>
      <p:sp>
        <p:nvSpPr>
          <p:cNvPr id="22" name="Card accent"/>
          <p:cNvSpPr/>
          <p:nvPr/>
        </p:nvSpPr>
        <p:spPr>
          <a:xfrm>
            <a:off x="4663440" y="2542032"/>
            <a:ext cx="4069080" cy="45720"/>
          </a:xfrm>
          <a:prstGeom prst="rect">
            <a:avLst/>
          </a:prstGeom>
          <a:solidFill>
            <a:srgbClr val="E2761F"/>
          </a:solidFill>
          <a:ln w="12700">
            <a:solidFill>
              <a:srgbClr val="E2761F"/>
            </a:solidFill>
            <a:prstDash val="solid"/>
          </a:ln>
        </p:spPr>
        <p:txBody>
          <a:bodyPr/>
          <a:lstStyle/>
          <a:p>
            <a:endParaRPr lang="en-US"/>
          </a:p>
        </p:txBody>
      </p:sp>
      <p:sp>
        <p:nvSpPr>
          <p:cNvPr id="23" name="Text 21"/>
          <p:cNvSpPr/>
          <p:nvPr/>
        </p:nvSpPr>
        <p:spPr>
          <a:xfrm>
            <a:off x="4864608" y="2670048"/>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READING THE BLOCKS</a:t>
            </a:r>
            <a:endParaRPr lang="en-US" sz="1050" dirty="0"/>
          </a:p>
        </p:txBody>
      </p:sp>
      <p:sp>
        <p:nvSpPr>
          <p:cNvPr id="24" name="Text 22"/>
          <p:cNvSpPr/>
          <p:nvPr/>
        </p:nvSpPr>
        <p:spPr>
          <a:xfrm>
            <a:off x="4864608" y="2944368"/>
            <a:ext cx="3666744" cy="45720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Dark blocks starting with $ are shell commands. Blocks without $ are configuration file contents.</a:t>
            </a:r>
            <a:endParaRPr lang="en-US" sz="950" dirty="0"/>
          </a:p>
        </p:txBody>
      </p:sp>
      <p:sp>
        <p:nvSpPr>
          <p:cNvPr id="25" name="Card"/>
          <p:cNvSpPr/>
          <p:nvPr/>
        </p:nvSpPr>
        <p:spPr>
          <a:xfrm>
            <a:off x="411480" y="3639312"/>
            <a:ext cx="4069080" cy="969264"/>
          </a:xfrm>
          <a:prstGeom prst="rect">
            <a:avLst/>
          </a:prstGeom>
          <a:solidFill>
            <a:srgbClr val="2A2622"/>
          </a:solidFill>
          <a:ln w="12700">
            <a:solidFill>
              <a:srgbClr val="3A332C"/>
            </a:solidFill>
            <a:prstDash val="solid"/>
          </a:ln>
        </p:spPr>
        <p:txBody>
          <a:bodyPr/>
          <a:lstStyle/>
          <a:p>
            <a:endParaRPr lang="en-US"/>
          </a:p>
        </p:txBody>
      </p:sp>
      <p:sp>
        <p:nvSpPr>
          <p:cNvPr id="26" name="Card accent"/>
          <p:cNvSpPr/>
          <p:nvPr/>
        </p:nvSpPr>
        <p:spPr>
          <a:xfrm>
            <a:off x="411480" y="3639312"/>
            <a:ext cx="4069080" cy="45720"/>
          </a:xfrm>
          <a:prstGeom prst="rect">
            <a:avLst/>
          </a:prstGeom>
          <a:solidFill>
            <a:srgbClr val="E2761F"/>
          </a:solidFill>
          <a:ln w="12700">
            <a:solidFill>
              <a:srgbClr val="E2761F"/>
            </a:solidFill>
            <a:prstDash val="solid"/>
          </a:ln>
        </p:spPr>
        <p:txBody>
          <a:bodyPr/>
          <a:lstStyle/>
          <a:p>
            <a:endParaRPr lang="en-US"/>
          </a:p>
        </p:txBody>
      </p:sp>
      <p:sp>
        <p:nvSpPr>
          <p:cNvPr id="27" name="Text 25"/>
          <p:cNvSpPr/>
          <p:nvPr/>
        </p:nvSpPr>
        <p:spPr>
          <a:xfrm>
            <a:off x="612648" y="3767328"/>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WHEN THINGS BREAK</a:t>
            </a:r>
            <a:endParaRPr lang="en-US" sz="1050" dirty="0"/>
          </a:p>
        </p:txBody>
      </p:sp>
      <p:sp>
        <p:nvSpPr>
          <p:cNvPr id="28" name="Text 26"/>
          <p:cNvSpPr/>
          <p:nvPr/>
        </p:nvSpPr>
        <p:spPr>
          <a:xfrm>
            <a:off x="612648" y="4041648"/>
            <a:ext cx="3666744" cy="45720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troubleshooting appendix at the back is organised by symptom, not by component.</a:t>
            </a:r>
            <a:endParaRPr lang="en-US" sz="950" dirty="0"/>
          </a:p>
        </p:txBody>
      </p:sp>
      <p:sp>
        <p:nvSpPr>
          <p:cNvPr id="29" name="Card"/>
          <p:cNvSpPr/>
          <p:nvPr/>
        </p:nvSpPr>
        <p:spPr>
          <a:xfrm>
            <a:off x="4663440" y="3639312"/>
            <a:ext cx="4069080" cy="969264"/>
          </a:xfrm>
          <a:prstGeom prst="rect">
            <a:avLst/>
          </a:prstGeom>
          <a:solidFill>
            <a:srgbClr val="2A2622"/>
          </a:solidFill>
          <a:ln w="12700">
            <a:solidFill>
              <a:srgbClr val="3A332C"/>
            </a:solidFill>
            <a:prstDash val="solid"/>
          </a:ln>
        </p:spPr>
        <p:txBody>
          <a:bodyPr/>
          <a:lstStyle/>
          <a:p>
            <a:endParaRPr lang="en-US"/>
          </a:p>
        </p:txBody>
      </p:sp>
      <p:sp>
        <p:nvSpPr>
          <p:cNvPr id="30" name="Card accent"/>
          <p:cNvSpPr/>
          <p:nvPr/>
        </p:nvSpPr>
        <p:spPr>
          <a:xfrm>
            <a:off x="4663440" y="3639312"/>
            <a:ext cx="4069080" cy="45720"/>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4864608" y="3767328"/>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TIME TO EXPECT</a:t>
            </a:r>
            <a:endParaRPr lang="en-US" sz="1050" dirty="0"/>
          </a:p>
        </p:txBody>
      </p:sp>
      <p:sp>
        <p:nvSpPr>
          <p:cNvPr id="32" name="Text 30"/>
          <p:cNvSpPr/>
          <p:nvPr/>
        </p:nvSpPr>
        <p:spPr>
          <a:xfrm>
            <a:off x="4864608" y="4041648"/>
            <a:ext cx="3666744" cy="45720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A first clean deployment takes roughly half a day, most of it waiting on downloads and model pulls.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00</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OVERVIEW  ·  WHAT YOU ARE BUILDING</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The Platform at a Glance</a:t>
            </a:r>
            <a:endParaRPr lang="en-US" sz="2600" dirty="0"/>
          </a:p>
        </p:txBody>
      </p:sp>
      <p:sp>
        <p:nvSpPr>
          <p:cNvPr id="8" name="Text 6"/>
          <p:cNvSpPr/>
          <p:nvPr/>
        </p:nvSpPr>
        <p:spPr>
          <a:xfrm>
            <a:off x="411480" y="1097280"/>
            <a:ext cx="8321040" cy="274320"/>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Seven pieces, one Docker stack, on a single Ubuntu host. Each layer has one job.</a:t>
            </a:r>
            <a:endParaRPr lang="en-US" sz="1200" dirty="0"/>
          </a:p>
        </p:txBody>
      </p:sp>
      <p:sp>
        <p:nvSpPr>
          <p:cNvPr id="9" name="Layer panel"/>
          <p:cNvSpPr/>
          <p:nvPr/>
        </p:nvSpPr>
        <p:spPr>
          <a:xfrm>
            <a:off x="411480" y="1481328"/>
            <a:ext cx="8321040" cy="713232"/>
          </a:xfrm>
          <a:prstGeom prst="rect">
            <a:avLst/>
          </a:prstGeom>
          <a:solidFill>
            <a:srgbClr val="2A2622"/>
          </a:solidFill>
          <a:ln w="12700">
            <a:solidFill>
              <a:srgbClr val="3A332C"/>
            </a:solidFill>
            <a:prstDash val="solid"/>
          </a:ln>
        </p:spPr>
        <p:txBody>
          <a:bodyPr/>
          <a:lstStyle/>
          <a:p>
            <a:endParaRPr lang="en-US"/>
          </a:p>
        </p:txBody>
      </p:sp>
      <p:sp>
        <p:nvSpPr>
          <p:cNvPr id="10" name="Layer accent"/>
          <p:cNvSpPr/>
          <p:nvPr/>
        </p:nvSpPr>
        <p:spPr>
          <a:xfrm>
            <a:off x="411480" y="1481328"/>
            <a:ext cx="50292" cy="713232"/>
          </a:xfrm>
          <a:prstGeom prst="rect">
            <a:avLst/>
          </a:prstGeom>
          <a:solidFill>
            <a:srgbClr val="F0A040"/>
          </a:solidFill>
          <a:ln w="12700">
            <a:solidFill>
              <a:srgbClr val="F0A040"/>
            </a:solidFill>
            <a:prstDash val="solid"/>
          </a:ln>
        </p:spPr>
        <p:txBody>
          <a:bodyPr/>
          <a:lstStyle/>
          <a:p>
            <a:endParaRPr lang="en-US"/>
          </a:p>
        </p:txBody>
      </p:sp>
      <p:sp>
        <p:nvSpPr>
          <p:cNvPr id="11" name="Text 9"/>
          <p:cNvSpPr/>
          <p:nvPr/>
        </p:nvSpPr>
        <p:spPr>
          <a:xfrm>
            <a:off x="640080" y="1481328"/>
            <a:ext cx="1600200" cy="713232"/>
          </a:xfrm>
          <a:prstGeom prst="rect">
            <a:avLst/>
          </a:prstGeom>
          <a:noFill/>
        </p:spPr>
        <p:txBody>
          <a:bodyPr wrap="square" lIns="0" tIns="0" rIns="0" bIns="0" rtlCol="0" anchor="ctr"/>
          <a:lstStyle/>
          <a:p>
            <a:pPr marL="0" indent="0">
              <a:buNone/>
            </a:pPr>
            <a:r>
              <a:rPr lang="en-US" sz="11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USER</a:t>
            </a:r>
            <a:endParaRPr lang="en-US" sz="1100" dirty="0"/>
          </a:p>
        </p:txBody>
      </p:sp>
      <p:sp>
        <p:nvSpPr>
          <p:cNvPr id="12" name="Text 10"/>
          <p:cNvSpPr/>
          <p:nvPr/>
        </p:nvSpPr>
        <p:spPr>
          <a:xfrm>
            <a:off x="2286000" y="1481328"/>
            <a:ext cx="6263640" cy="713232"/>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Browser chat UI</a:t>
            </a:r>
            <a:endParaRPr lang="en-US" sz="1150" dirty="0"/>
          </a:p>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Open WebUI · port 3000</a:t>
            </a:r>
            <a:endParaRPr lang="en-US" sz="1150" dirty="0"/>
          </a:p>
        </p:txBody>
      </p:sp>
      <p:sp>
        <p:nvSpPr>
          <p:cNvPr id="13" name="Layer panel"/>
          <p:cNvSpPr/>
          <p:nvPr/>
        </p:nvSpPr>
        <p:spPr>
          <a:xfrm>
            <a:off x="411480" y="2313432"/>
            <a:ext cx="8321040" cy="713232"/>
          </a:xfrm>
          <a:prstGeom prst="rect">
            <a:avLst/>
          </a:prstGeom>
          <a:solidFill>
            <a:srgbClr val="2A2622"/>
          </a:solidFill>
          <a:ln w="12700">
            <a:solidFill>
              <a:srgbClr val="3A332C"/>
            </a:solidFill>
            <a:prstDash val="solid"/>
          </a:ln>
        </p:spPr>
        <p:txBody>
          <a:bodyPr/>
          <a:lstStyle/>
          <a:p>
            <a:endParaRPr lang="en-US"/>
          </a:p>
        </p:txBody>
      </p:sp>
      <p:sp>
        <p:nvSpPr>
          <p:cNvPr id="14" name="Layer accent"/>
          <p:cNvSpPr/>
          <p:nvPr/>
        </p:nvSpPr>
        <p:spPr>
          <a:xfrm>
            <a:off x="411480" y="2313432"/>
            <a:ext cx="50292" cy="713232"/>
          </a:xfrm>
          <a:prstGeom prst="rect">
            <a:avLst/>
          </a:prstGeom>
          <a:solidFill>
            <a:srgbClr val="F0A040"/>
          </a:solidFill>
          <a:ln w="12700">
            <a:solidFill>
              <a:srgbClr val="F0A040"/>
            </a:solidFill>
            <a:prstDash val="solid"/>
          </a:ln>
        </p:spPr>
        <p:txBody>
          <a:bodyPr/>
          <a:lstStyle/>
          <a:p>
            <a:endParaRPr lang="en-US"/>
          </a:p>
        </p:txBody>
      </p:sp>
      <p:sp>
        <p:nvSpPr>
          <p:cNvPr id="15" name="Text 13"/>
          <p:cNvSpPr/>
          <p:nvPr/>
        </p:nvSpPr>
        <p:spPr>
          <a:xfrm>
            <a:off x="640080" y="2313432"/>
            <a:ext cx="1600200" cy="713232"/>
          </a:xfrm>
          <a:prstGeom prst="rect">
            <a:avLst/>
          </a:prstGeom>
          <a:noFill/>
        </p:spPr>
        <p:txBody>
          <a:bodyPr wrap="square" lIns="0" tIns="0" rIns="0" bIns="0" rtlCol="0" anchor="ctr"/>
          <a:lstStyle/>
          <a:p>
            <a:pPr marL="0" indent="0">
              <a:buNone/>
            </a:pPr>
            <a:r>
              <a:rPr lang="en-US" sz="11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GATEWAY</a:t>
            </a:r>
            <a:endParaRPr lang="en-US" sz="1100" dirty="0"/>
          </a:p>
        </p:txBody>
      </p:sp>
      <p:sp>
        <p:nvSpPr>
          <p:cNvPr id="16" name="Text 14"/>
          <p:cNvSpPr/>
          <p:nvPr/>
        </p:nvSpPr>
        <p:spPr>
          <a:xfrm>
            <a:off x="2286000" y="2313432"/>
            <a:ext cx="6263640" cy="713232"/>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FastAPI orchestration</a:t>
            </a:r>
            <a:endParaRPr lang="en-US" sz="1150" dirty="0"/>
          </a:p>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routing · RAG · auth · port 9000</a:t>
            </a:r>
            <a:endParaRPr lang="en-US" sz="1150" dirty="0"/>
          </a:p>
        </p:txBody>
      </p:sp>
      <p:sp>
        <p:nvSpPr>
          <p:cNvPr id="17" name="Layer panel"/>
          <p:cNvSpPr/>
          <p:nvPr/>
        </p:nvSpPr>
        <p:spPr>
          <a:xfrm>
            <a:off x="411480" y="3145536"/>
            <a:ext cx="8321040" cy="713232"/>
          </a:xfrm>
          <a:prstGeom prst="rect">
            <a:avLst/>
          </a:prstGeom>
          <a:solidFill>
            <a:srgbClr val="2A2622"/>
          </a:solidFill>
          <a:ln w="12700">
            <a:solidFill>
              <a:srgbClr val="3A332C"/>
            </a:solidFill>
            <a:prstDash val="solid"/>
          </a:ln>
        </p:spPr>
        <p:txBody>
          <a:bodyPr/>
          <a:lstStyle/>
          <a:p>
            <a:endParaRPr lang="en-US"/>
          </a:p>
        </p:txBody>
      </p:sp>
      <p:sp>
        <p:nvSpPr>
          <p:cNvPr id="18" name="Layer accent"/>
          <p:cNvSpPr/>
          <p:nvPr/>
        </p:nvSpPr>
        <p:spPr>
          <a:xfrm>
            <a:off x="411480" y="3145536"/>
            <a:ext cx="50292" cy="713232"/>
          </a:xfrm>
          <a:prstGeom prst="rect">
            <a:avLst/>
          </a:prstGeom>
          <a:solidFill>
            <a:srgbClr val="E2761F"/>
          </a:solidFill>
          <a:ln w="12700">
            <a:solidFill>
              <a:srgbClr val="E2761F"/>
            </a:solidFill>
            <a:prstDash val="solid"/>
          </a:ln>
        </p:spPr>
        <p:txBody>
          <a:bodyPr/>
          <a:lstStyle/>
          <a:p>
            <a:endParaRPr lang="en-US"/>
          </a:p>
        </p:txBody>
      </p:sp>
      <p:sp>
        <p:nvSpPr>
          <p:cNvPr id="19" name="Text 17"/>
          <p:cNvSpPr/>
          <p:nvPr/>
        </p:nvSpPr>
        <p:spPr>
          <a:xfrm>
            <a:off x="640080" y="3145536"/>
            <a:ext cx="1600200" cy="713232"/>
          </a:xfrm>
          <a:prstGeom prst="rect">
            <a:avLst/>
          </a:prstGeom>
          <a:noFill/>
        </p:spPr>
        <p:txBody>
          <a:bodyPr wrap="square" lIns="0" tIns="0" rIns="0" bIns="0" rtlCol="0" anchor="ctr"/>
          <a:lstStyle/>
          <a:p>
            <a:pPr marL="0" indent="0">
              <a:buNone/>
            </a:pPr>
            <a:r>
              <a:rPr lang="en-US" sz="11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INTELLIGENCE</a:t>
            </a:r>
            <a:endParaRPr lang="en-US" sz="1100" dirty="0"/>
          </a:p>
        </p:txBody>
      </p:sp>
      <p:sp>
        <p:nvSpPr>
          <p:cNvPr id="20" name="Text 18"/>
          <p:cNvSpPr/>
          <p:nvPr/>
        </p:nvSpPr>
        <p:spPr>
          <a:xfrm>
            <a:off x="2286000" y="3145536"/>
            <a:ext cx="6263640" cy="713232"/>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Ollama LLM inference 11434  |  Qdrant vectors 6333  |  PostgreSQL memory 5432</a:t>
            </a:r>
            <a:endParaRPr lang="en-US" sz="1150" dirty="0"/>
          </a:p>
        </p:txBody>
      </p:sp>
      <p:sp>
        <p:nvSpPr>
          <p:cNvPr id="21" name="Layer panel"/>
          <p:cNvSpPr/>
          <p:nvPr/>
        </p:nvSpPr>
        <p:spPr>
          <a:xfrm>
            <a:off x="411480" y="3977640"/>
            <a:ext cx="8321040" cy="713232"/>
          </a:xfrm>
          <a:prstGeom prst="rect">
            <a:avLst/>
          </a:prstGeom>
          <a:solidFill>
            <a:srgbClr val="2A2622"/>
          </a:solidFill>
          <a:ln w="12700">
            <a:solidFill>
              <a:srgbClr val="3A332C"/>
            </a:solidFill>
            <a:prstDash val="solid"/>
          </a:ln>
        </p:spPr>
        <p:txBody>
          <a:bodyPr/>
          <a:lstStyle/>
          <a:p>
            <a:endParaRPr lang="en-US"/>
          </a:p>
        </p:txBody>
      </p:sp>
      <p:sp>
        <p:nvSpPr>
          <p:cNvPr id="22" name="Layer accent"/>
          <p:cNvSpPr/>
          <p:nvPr/>
        </p:nvSpPr>
        <p:spPr>
          <a:xfrm>
            <a:off x="411480" y="3977640"/>
            <a:ext cx="50292" cy="713232"/>
          </a:xfrm>
          <a:prstGeom prst="rect">
            <a:avLst/>
          </a:prstGeom>
          <a:solidFill>
            <a:srgbClr val="F0A040"/>
          </a:solidFill>
          <a:ln w="12700">
            <a:solidFill>
              <a:srgbClr val="F0A040"/>
            </a:solidFill>
            <a:prstDash val="solid"/>
          </a:ln>
        </p:spPr>
        <p:txBody>
          <a:bodyPr/>
          <a:lstStyle/>
          <a:p>
            <a:endParaRPr lang="en-US"/>
          </a:p>
        </p:txBody>
      </p:sp>
      <p:sp>
        <p:nvSpPr>
          <p:cNvPr id="23" name="Text 21"/>
          <p:cNvSpPr/>
          <p:nvPr/>
        </p:nvSpPr>
        <p:spPr>
          <a:xfrm>
            <a:off x="640080" y="3977640"/>
            <a:ext cx="1600200" cy="713232"/>
          </a:xfrm>
          <a:prstGeom prst="rect">
            <a:avLst/>
          </a:prstGeom>
          <a:noFill/>
        </p:spPr>
        <p:txBody>
          <a:bodyPr wrap="square" lIns="0" tIns="0" rIns="0" bIns="0" rtlCol="0" anchor="ctr"/>
          <a:lstStyle/>
          <a:p>
            <a:pPr marL="0" indent="0">
              <a:buNone/>
            </a:pPr>
            <a:r>
              <a:rPr lang="en-US" sz="11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HOST</a:t>
            </a:r>
            <a:endParaRPr lang="en-US" sz="1100" dirty="0"/>
          </a:p>
        </p:txBody>
      </p:sp>
      <p:sp>
        <p:nvSpPr>
          <p:cNvPr id="24" name="Text 22"/>
          <p:cNvSpPr/>
          <p:nvPr/>
        </p:nvSpPr>
        <p:spPr>
          <a:xfrm>
            <a:off x="2286000" y="3977640"/>
            <a:ext cx="6263640" cy="713232"/>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Ubuntu Server VM + Docker Compose — one folder, one stack, one backup target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01</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1  ·  DEPLOYMENT ARCHITECTURE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Components and Default Ports</a:t>
            </a:r>
            <a:endParaRPr lang="en-US" sz="2600" dirty="0"/>
          </a:p>
        </p:txBody>
      </p:sp>
      <p:graphicFrame>
        <p:nvGraphicFramePr>
          <p:cNvPr id="8" name="Table 0"/>
          <p:cNvGraphicFramePr>
            <a:graphicFrameLocks noGrp="1"/>
          </p:cNvGraphicFramePr>
          <p:nvPr/>
        </p:nvGraphicFramePr>
        <p:xfrm>
          <a:off x="411480" y="1188720"/>
          <a:ext cx="8321040" cy="2926080"/>
        </p:xfrm>
        <a:graphic>
          <a:graphicData uri="http://schemas.openxmlformats.org/drawingml/2006/table">
            <a:tbl>
              <a:tblPr/>
              <a:tblGrid>
                <a:gridCol w="2286000"/>
                <a:gridCol w="4754880"/>
                <a:gridCol w="1280160"/>
              </a:tblGrid>
              <a:tr h="365760">
                <a:tc>
                  <a:txBody>
                    <a:bodyPr/>
                    <a:lstStyle/>
                    <a:p>
                      <a:pPr marL="0" indent="0" algn="l">
                        <a:buNone/>
                      </a:pPr>
                      <a:r>
                        <a:rPr lang="en-US" sz="1150" b="1" dirty="0">
                          <a:solidFill>
                            <a:srgbClr val="1E1B18"/>
                          </a:solidFill>
                          <a:latin typeface="Arial" panose="020B0604020202020204" pitchFamily="34" charset="0"/>
                          <a:ea typeface="Arial" panose="020B0604020202020204" pitchFamily="34" charset="-122"/>
                          <a:cs typeface="Arial" panose="020B0604020202020204" pitchFamily="34" charset="-120"/>
                        </a:rPr>
                        <a:t>COMPONENT</a:t>
                      </a:r>
                      <a:endParaRPr lang="en-US" sz="11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lgn="l">
                        <a:buNone/>
                      </a:pPr>
                      <a:r>
                        <a:rPr lang="en-US" sz="1150" b="1" dirty="0">
                          <a:solidFill>
                            <a:srgbClr val="1E1B18"/>
                          </a:solidFill>
                          <a:latin typeface="Arial" panose="020B0604020202020204" pitchFamily="34" charset="0"/>
                          <a:ea typeface="Arial" panose="020B0604020202020204" pitchFamily="34" charset="-122"/>
                          <a:cs typeface="Arial" panose="020B0604020202020204" pitchFamily="34" charset="-120"/>
                        </a:rPr>
                        <a:t>PURPOSE</a:t>
                      </a:r>
                      <a:endParaRPr lang="en-US" sz="11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lgn="l">
                        <a:buNone/>
                      </a:pPr>
                      <a:r>
                        <a:rPr lang="en-US" sz="1150" b="1" dirty="0">
                          <a:solidFill>
                            <a:srgbClr val="1E1B18"/>
                          </a:solidFill>
                          <a:latin typeface="Arial" panose="020B0604020202020204" pitchFamily="34" charset="0"/>
                          <a:ea typeface="Arial" panose="020B0604020202020204" pitchFamily="34" charset="-122"/>
                          <a:cs typeface="Arial" panose="020B0604020202020204" pitchFamily="34" charset="-120"/>
                        </a:rPr>
                        <a:t>PORT</a:t>
                      </a:r>
                      <a:endParaRPr lang="en-US" sz="11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Ubuntu Server VM</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Host operating system</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Docker / Compose</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Container build and lifecycle management</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Ollama</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Local LLM inference engine</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11434</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Qdrant</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Vector database powering RAG retrieval</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6333</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PostgreSQL</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Conversation logs and structured memory</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5432</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FastAPI Gateway</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Application API and orchestration layer</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9000</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365760">
                <a:tc>
                  <a:txBody>
                    <a:bodyP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Open WebUI</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Browser-based chat interface (optional)</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100" b="1" dirty="0">
                          <a:solidFill>
                            <a:srgbClr val="F0A040"/>
                          </a:solidFill>
                          <a:latin typeface="Consolas" panose="020B0609020204030204" pitchFamily="34" charset="0"/>
                          <a:ea typeface="Consolas" panose="020B0609020204030204" pitchFamily="34" charset="-122"/>
                          <a:cs typeface="Consolas" panose="020B0609020204030204" pitchFamily="34" charset="-120"/>
                        </a:rPr>
                        <a:t>3000</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bl>
          </a:graphicData>
        </a:graphic>
      </p:graphicFrame>
      <p:sp>
        <p:nvSpPr>
          <p:cNvPr id="9" name="Text 6"/>
          <p:cNvSpPr/>
          <p:nvPr/>
        </p:nvSpPr>
        <p:spPr>
          <a:xfrm>
            <a:off x="411480" y="422452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Ports are the container defaults. Only the gateway and web UI should ever be reachable from the LAN.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01</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1  ·  HARDWARE AND SIZING</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Sizing the Host Before You Start</a:t>
            </a:r>
            <a:endParaRPr lang="en-US" sz="2600" dirty="0"/>
          </a:p>
        </p:txBody>
      </p:sp>
      <p:sp>
        <p:nvSpPr>
          <p:cNvPr id="8" name="Text 6"/>
          <p:cNvSpPr/>
          <p:nvPr/>
        </p:nvSpPr>
        <p:spPr>
          <a:xfrm>
            <a:off x="411480" y="1078992"/>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The model dominates the resource budget. Everything else is comparatively small.</a:t>
            </a:r>
            <a:endParaRPr lang="en-US" sz="1200" dirty="0"/>
          </a:p>
        </p:txBody>
      </p:sp>
      <p:graphicFrame>
        <p:nvGraphicFramePr>
          <p:cNvPr id="9" name="Table 0"/>
          <p:cNvGraphicFramePr>
            <a:graphicFrameLocks noGrp="1"/>
          </p:cNvGraphicFramePr>
          <p:nvPr/>
        </p:nvGraphicFramePr>
        <p:xfrm>
          <a:off x="411480" y="1426464"/>
          <a:ext cx="8321040" cy="2103120"/>
        </p:xfrm>
        <a:graphic>
          <a:graphicData uri="http://schemas.openxmlformats.org/drawingml/2006/table">
            <a:tbl>
              <a:tblPr/>
              <a:tblGrid>
                <a:gridCol w="1737360"/>
                <a:gridCol w="960120"/>
                <a:gridCol w="868680"/>
                <a:gridCol w="1280160"/>
                <a:gridCol w="3474720"/>
              </a:tblGrid>
              <a:tr h="420624">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PROFILE</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CPU</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RAM</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STORAGE</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WHAT IT SUPPORTS</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Minimum viable</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4 cores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16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100 GB SSD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Small models only, slow responses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Recommended CPU-only</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8 cores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32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250 GB SSD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7B model, comfortable for a small team</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Comfortable</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12+ cores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64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500 GB NVMe</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7B fast, room for RAG corpus growth</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GPU-accelerated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8+ cores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32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500 GB NVMe</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Plus 12-24 GB VRAM for larger models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
        <p:nvSpPr>
          <p:cNvPr id="10" name="Panel background"/>
          <p:cNvSpPr/>
          <p:nvPr/>
        </p:nvSpPr>
        <p:spPr>
          <a:xfrm>
            <a:off x="411480" y="3511296"/>
            <a:ext cx="4069080" cy="969264"/>
          </a:xfrm>
          <a:prstGeom prst="rect">
            <a:avLst/>
          </a:prstGeom>
          <a:solidFill>
            <a:srgbClr val="2A2622"/>
          </a:solidFill>
          <a:ln w="12700">
            <a:solidFill>
              <a:srgbClr val="3A332C"/>
            </a:solidFill>
            <a:prstDash val="solid"/>
          </a:ln>
        </p:spPr>
        <p:txBody>
          <a:bodyPr/>
          <a:lstStyle/>
          <a:p>
            <a:endParaRPr lang="en-US"/>
          </a:p>
        </p:txBody>
      </p:sp>
      <p:sp>
        <p:nvSpPr>
          <p:cNvPr id="11" name="Panel accent"/>
          <p:cNvSpPr/>
          <p:nvPr/>
        </p:nvSpPr>
        <p:spPr>
          <a:xfrm>
            <a:off x="411480" y="3511296"/>
            <a:ext cx="45720" cy="969264"/>
          </a:xfrm>
          <a:prstGeom prst="rect">
            <a:avLst/>
          </a:prstGeom>
          <a:solidFill>
            <a:srgbClr val="E2761F"/>
          </a:solidFill>
          <a:ln w="12700">
            <a:solidFill>
              <a:srgbClr val="E2761F"/>
            </a:solidFill>
            <a:prstDash val="solid"/>
          </a:ln>
        </p:spPr>
        <p:txBody>
          <a:bodyPr/>
          <a:lstStyle/>
          <a:p>
            <a:endParaRPr lang="en-US"/>
          </a:p>
        </p:txBody>
      </p:sp>
      <p:sp>
        <p:nvSpPr>
          <p:cNvPr id="12" name="Text 9"/>
          <p:cNvSpPr/>
          <p:nvPr/>
        </p:nvSpPr>
        <p:spPr>
          <a:xfrm>
            <a:off x="630936" y="3602736"/>
            <a:ext cx="364845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STORAGE PLANNING</a:t>
            </a:r>
            <a:endParaRPr lang="en-US" sz="1000" dirty="0"/>
          </a:p>
        </p:txBody>
      </p:sp>
      <p:sp>
        <p:nvSpPr>
          <p:cNvPr id="13" name="Text 10"/>
          <p:cNvSpPr/>
          <p:nvPr/>
        </p:nvSpPr>
        <p:spPr>
          <a:xfrm>
            <a:off x="630936" y="3877056"/>
            <a:ext cx="3648456"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 7B model is roughly 4-5 GB on disk. Budget for several models, the vector database, database backups and container images.</a:t>
            </a:r>
            <a:endParaRPr lang="en-US" sz="1000" dirty="0"/>
          </a:p>
        </p:txBody>
      </p:sp>
      <p:sp>
        <p:nvSpPr>
          <p:cNvPr id="14" name="Panel background"/>
          <p:cNvSpPr/>
          <p:nvPr/>
        </p:nvSpPr>
        <p:spPr>
          <a:xfrm>
            <a:off x="4663440" y="3511296"/>
            <a:ext cx="4069080" cy="969264"/>
          </a:xfrm>
          <a:prstGeom prst="rect">
            <a:avLst/>
          </a:prstGeom>
          <a:solidFill>
            <a:srgbClr val="2A2622"/>
          </a:solidFill>
          <a:ln w="12700">
            <a:solidFill>
              <a:srgbClr val="3A332C"/>
            </a:solidFill>
            <a:prstDash val="solid"/>
          </a:ln>
        </p:spPr>
        <p:txBody>
          <a:bodyPr/>
          <a:lstStyle/>
          <a:p>
            <a:endParaRPr lang="en-US"/>
          </a:p>
        </p:txBody>
      </p:sp>
      <p:sp>
        <p:nvSpPr>
          <p:cNvPr id="15" name="Panel accent"/>
          <p:cNvSpPr/>
          <p:nvPr/>
        </p:nvSpPr>
        <p:spPr>
          <a:xfrm>
            <a:off x="4663440" y="3511296"/>
            <a:ext cx="45720" cy="969264"/>
          </a:xfrm>
          <a:prstGeom prst="rect">
            <a:avLst/>
          </a:prstGeom>
          <a:solidFill>
            <a:srgbClr val="E2761F"/>
          </a:solidFill>
          <a:ln w="12700">
            <a:solidFill>
              <a:srgbClr val="E2761F"/>
            </a:solidFill>
            <a:prstDash val="solid"/>
          </a:ln>
        </p:spPr>
        <p:txBody>
          <a:bodyPr/>
          <a:lstStyle/>
          <a:p>
            <a:endParaRPr lang="en-US"/>
          </a:p>
        </p:txBody>
      </p:sp>
      <p:sp>
        <p:nvSpPr>
          <p:cNvPr id="16" name="Text 13"/>
          <p:cNvSpPr/>
          <p:nvPr/>
        </p:nvSpPr>
        <p:spPr>
          <a:xfrm>
            <a:off x="4882896" y="3602736"/>
            <a:ext cx="364845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THE RAM RULE OF THUMB</a:t>
            </a:r>
            <a:endParaRPr lang="en-US" sz="1000" dirty="0"/>
          </a:p>
        </p:txBody>
      </p:sp>
      <p:sp>
        <p:nvSpPr>
          <p:cNvPr id="17" name="Text 14"/>
          <p:cNvSpPr/>
          <p:nvPr/>
        </p:nvSpPr>
        <p:spPr>
          <a:xfrm>
            <a:off x="4882896" y="3877056"/>
            <a:ext cx="3648456"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Allow model size on disk plus about 50 percent as working memory, then leave headroom for PostgreSQL, Qdrant and the OS.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01</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1  ·  PREREQUISITES AND ASSUMPTIONS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Before You Type a Single Command</a:t>
            </a:r>
            <a:endParaRPr lang="en-US" sz="2600" dirty="0"/>
          </a:p>
        </p:txBody>
      </p:sp>
      <p:sp>
        <p:nvSpPr>
          <p:cNvPr id="8" name="List row"/>
          <p:cNvSpPr/>
          <p:nvPr/>
        </p:nvSpPr>
        <p:spPr>
          <a:xfrm>
            <a:off x="411480" y="1097280"/>
            <a:ext cx="8321040" cy="475488"/>
          </a:xfrm>
          <a:prstGeom prst="rect">
            <a:avLst/>
          </a:prstGeom>
          <a:solidFill>
            <a:srgbClr val="2A2622"/>
          </a:solidFill>
          <a:ln w="12700">
            <a:solidFill>
              <a:srgbClr val="3A332C"/>
            </a:solidFill>
            <a:prstDash val="solid"/>
          </a:ln>
        </p:spPr>
        <p:txBody>
          <a:bodyPr/>
          <a:lstStyle/>
          <a:p>
            <a:endParaRPr lang="en-US"/>
          </a:p>
        </p:txBody>
      </p:sp>
      <p:sp>
        <p:nvSpPr>
          <p:cNvPr id="9" name="List row accent"/>
          <p:cNvSpPr/>
          <p:nvPr/>
        </p:nvSpPr>
        <p:spPr>
          <a:xfrm>
            <a:off x="411480" y="1097280"/>
            <a:ext cx="45720" cy="475488"/>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30936" y="1097280"/>
            <a:ext cx="1645920" cy="47548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OS</a:t>
            </a:r>
            <a:endParaRPr lang="en-US" sz="1000" dirty="0"/>
          </a:p>
        </p:txBody>
      </p:sp>
      <p:sp>
        <p:nvSpPr>
          <p:cNvPr id="11" name="Text 9"/>
          <p:cNvSpPr/>
          <p:nvPr/>
        </p:nvSpPr>
        <p:spPr>
          <a:xfrm>
            <a:off x="2331720" y="1097280"/>
            <a:ext cx="6181344" cy="475488"/>
          </a:xfrm>
          <a:prstGeom prst="rect">
            <a:avLst/>
          </a:prstGeom>
          <a:noFill/>
        </p:spPr>
        <p:txBody>
          <a:bodyPr wrap="square" lIns="0" tIns="0" rIns="0" bIns="0" rtlCol="0" anchor="ctr"/>
          <a:lstStyle/>
          <a:p>
            <a:pPr marL="0" indent="0">
              <a:buNone/>
            </a:pP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Ubuntu Server LTS, freshly installed, with OpenSSH enabled for remote administration.</a:t>
            </a:r>
            <a:endParaRPr lang="en-US" sz="1050" dirty="0"/>
          </a:p>
        </p:txBody>
      </p:sp>
      <p:sp>
        <p:nvSpPr>
          <p:cNvPr id="12" name="List row"/>
          <p:cNvSpPr/>
          <p:nvPr/>
        </p:nvSpPr>
        <p:spPr>
          <a:xfrm>
            <a:off x="411480" y="1627632"/>
            <a:ext cx="8321040" cy="475488"/>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411480" y="1627632"/>
            <a:ext cx="45720" cy="475488"/>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30936" y="1627632"/>
            <a:ext cx="1645920" cy="47548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ACCOUNT</a:t>
            </a:r>
            <a:endParaRPr lang="en-US" sz="1000" dirty="0"/>
          </a:p>
        </p:txBody>
      </p:sp>
      <p:sp>
        <p:nvSpPr>
          <p:cNvPr id="15" name="Text 13"/>
          <p:cNvSpPr/>
          <p:nvPr/>
        </p:nvSpPr>
        <p:spPr>
          <a:xfrm>
            <a:off x="2331720" y="1627632"/>
            <a:ext cx="6181344" cy="475488"/>
          </a:xfrm>
          <a:prstGeom prst="rect">
            <a:avLst/>
          </a:prstGeom>
          <a:noFill/>
        </p:spPr>
        <p:txBody>
          <a:bodyPr wrap="square" lIns="0" tIns="0" rIns="0" bIns="0" rtlCol="0" anchor="ctr"/>
          <a:lstStyle/>
          <a:p>
            <a:pPr marL="0" indent="0">
              <a:buNone/>
            </a:pP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 non-root user with sudo privileges. Do not build the platform as root.</a:t>
            </a:r>
            <a:endParaRPr lang="en-US" sz="1050" dirty="0"/>
          </a:p>
        </p:txBody>
      </p:sp>
      <p:sp>
        <p:nvSpPr>
          <p:cNvPr id="16" name="List row"/>
          <p:cNvSpPr/>
          <p:nvPr/>
        </p:nvSpPr>
        <p:spPr>
          <a:xfrm>
            <a:off x="411480" y="2157984"/>
            <a:ext cx="8321040" cy="475488"/>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411480" y="2157984"/>
            <a:ext cx="45720" cy="475488"/>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0936" y="2157984"/>
            <a:ext cx="1645920" cy="47548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NETWORK</a:t>
            </a:r>
            <a:endParaRPr lang="en-US" sz="1000" dirty="0"/>
          </a:p>
        </p:txBody>
      </p:sp>
      <p:sp>
        <p:nvSpPr>
          <p:cNvPr id="19" name="Text 17"/>
          <p:cNvSpPr/>
          <p:nvPr/>
        </p:nvSpPr>
        <p:spPr>
          <a:xfrm>
            <a:off x="2331720" y="2157984"/>
            <a:ext cx="6181344" cy="475488"/>
          </a:xfrm>
          <a:prstGeom prst="rect">
            <a:avLst/>
          </a:prstGeom>
          <a:noFill/>
        </p:spPr>
        <p:txBody>
          <a:bodyPr wrap="square" lIns="0" tIns="0" rIns="0" bIns="0" rtlCol="0" anchor="ctr"/>
          <a:lstStyle/>
          <a:p>
            <a:pPr marL="0" indent="0">
              <a:buNone/>
            </a:pP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 static IP or DHCP reservation — the address must not change after you publish services.</a:t>
            </a:r>
            <a:endParaRPr lang="en-US" sz="1050" dirty="0"/>
          </a:p>
        </p:txBody>
      </p:sp>
      <p:sp>
        <p:nvSpPr>
          <p:cNvPr id="20" name="List row"/>
          <p:cNvSpPr/>
          <p:nvPr/>
        </p:nvSpPr>
        <p:spPr>
          <a:xfrm>
            <a:off x="411480" y="2688336"/>
            <a:ext cx="8321040" cy="475488"/>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411480" y="2688336"/>
            <a:ext cx="45720" cy="475488"/>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30936" y="2688336"/>
            <a:ext cx="1645920" cy="47548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NAME RESOLUTION</a:t>
            </a:r>
            <a:endParaRPr lang="en-US" sz="1000" dirty="0"/>
          </a:p>
        </p:txBody>
      </p:sp>
      <p:sp>
        <p:nvSpPr>
          <p:cNvPr id="23" name="Text 21"/>
          <p:cNvSpPr/>
          <p:nvPr/>
        </p:nvSpPr>
        <p:spPr>
          <a:xfrm>
            <a:off x="2331720" y="2688336"/>
            <a:ext cx="6181344" cy="475488"/>
          </a:xfrm>
          <a:prstGeom prst="rect">
            <a:avLst/>
          </a:prstGeom>
          <a:noFill/>
        </p:spPr>
        <p:txBody>
          <a:bodyPr wrap="square" lIns="0" tIns="0" rIns="0" bIns="0" rtlCol="0" anchor="ctr"/>
          <a:lstStyle/>
          <a:p>
            <a:pPr marL="0" indent="0">
              <a:buNone/>
            </a:pP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Working DNS and outbound HTTPS so Docker and the model registry are reachable.</a:t>
            </a:r>
            <a:endParaRPr lang="en-US" sz="1050" dirty="0"/>
          </a:p>
        </p:txBody>
      </p:sp>
      <p:sp>
        <p:nvSpPr>
          <p:cNvPr id="24" name="List row"/>
          <p:cNvSpPr/>
          <p:nvPr/>
        </p:nvSpPr>
        <p:spPr>
          <a:xfrm>
            <a:off x="411480" y="3218688"/>
            <a:ext cx="8321040" cy="475488"/>
          </a:xfrm>
          <a:prstGeom prst="rect">
            <a:avLst/>
          </a:prstGeom>
          <a:solidFill>
            <a:srgbClr val="2A2622"/>
          </a:solidFill>
          <a:ln w="12700">
            <a:solidFill>
              <a:srgbClr val="3A332C"/>
            </a:solidFill>
            <a:prstDash val="solid"/>
          </a:ln>
        </p:spPr>
        <p:txBody>
          <a:bodyPr/>
          <a:lstStyle/>
          <a:p>
            <a:endParaRPr lang="en-US"/>
          </a:p>
        </p:txBody>
      </p:sp>
      <p:sp>
        <p:nvSpPr>
          <p:cNvPr id="25" name="List row accent"/>
          <p:cNvSpPr/>
          <p:nvPr/>
        </p:nvSpPr>
        <p:spPr>
          <a:xfrm>
            <a:off x="411480" y="3218688"/>
            <a:ext cx="45720" cy="475488"/>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30936" y="3218688"/>
            <a:ext cx="1645920" cy="47548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TIME</a:t>
            </a:r>
            <a:endParaRPr lang="en-US" sz="1000" dirty="0"/>
          </a:p>
        </p:txBody>
      </p:sp>
      <p:sp>
        <p:nvSpPr>
          <p:cNvPr id="27" name="Text 25"/>
          <p:cNvSpPr/>
          <p:nvPr/>
        </p:nvSpPr>
        <p:spPr>
          <a:xfrm>
            <a:off x="2331720" y="3218688"/>
            <a:ext cx="6181344" cy="475488"/>
          </a:xfrm>
          <a:prstGeom prst="rect">
            <a:avLst/>
          </a:prstGeom>
          <a:noFill/>
        </p:spPr>
        <p:txBody>
          <a:bodyPr wrap="square" lIns="0" tIns="0" rIns="0" bIns="0" rtlCol="0" anchor="ctr"/>
          <a:lstStyle/>
          <a:p>
            <a:pPr marL="0" indent="0">
              <a:buNone/>
            </a:pP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NTP synchronised. Clock drift causes confusing certificate and token failures later.</a:t>
            </a:r>
            <a:endParaRPr lang="en-US" sz="1050" dirty="0"/>
          </a:p>
        </p:txBody>
      </p:sp>
      <p:sp>
        <p:nvSpPr>
          <p:cNvPr id="28" name="List row"/>
          <p:cNvSpPr/>
          <p:nvPr/>
        </p:nvSpPr>
        <p:spPr>
          <a:xfrm>
            <a:off x="411480" y="3749040"/>
            <a:ext cx="8321040" cy="475488"/>
          </a:xfrm>
          <a:prstGeom prst="rect">
            <a:avLst/>
          </a:prstGeom>
          <a:solidFill>
            <a:srgbClr val="2A2622"/>
          </a:solidFill>
          <a:ln w="12700">
            <a:solidFill>
              <a:srgbClr val="3A332C"/>
            </a:solidFill>
            <a:prstDash val="solid"/>
          </a:ln>
        </p:spPr>
        <p:txBody>
          <a:bodyPr/>
          <a:lstStyle/>
          <a:p>
            <a:endParaRPr lang="en-US"/>
          </a:p>
        </p:txBody>
      </p:sp>
      <p:sp>
        <p:nvSpPr>
          <p:cNvPr id="29" name="List row accent"/>
          <p:cNvSpPr/>
          <p:nvPr/>
        </p:nvSpPr>
        <p:spPr>
          <a:xfrm>
            <a:off x="411480" y="3749040"/>
            <a:ext cx="45720" cy="475488"/>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30936" y="3749040"/>
            <a:ext cx="1645920" cy="47548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DISK LAYOUT</a:t>
            </a:r>
            <a:endParaRPr lang="en-US" sz="1000" dirty="0"/>
          </a:p>
        </p:txBody>
      </p:sp>
      <p:sp>
        <p:nvSpPr>
          <p:cNvPr id="31" name="Text 29"/>
          <p:cNvSpPr/>
          <p:nvPr/>
        </p:nvSpPr>
        <p:spPr>
          <a:xfrm>
            <a:off x="2331720" y="3749040"/>
            <a:ext cx="6181344" cy="475488"/>
          </a:xfrm>
          <a:prstGeom prst="rect">
            <a:avLst/>
          </a:prstGeom>
          <a:noFill/>
        </p:spPr>
        <p:txBody>
          <a:bodyPr wrap="square" lIns="0" tIns="0" rIns="0" bIns="0" rtlCol="0" anchor="ctr"/>
          <a:lstStyle/>
          <a:p>
            <a:pPr marL="0" indent="0">
              <a:buNone/>
            </a:pP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Ample free space on the partition holding /srv — that is where everything lands.</a:t>
            </a:r>
            <a:endParaRPr lang="en-US" sz="1050" dirty="0"/>
          </a:p>
        </p:txBody>
      </p:sp>
      <p:sp>
        <p:nvSpPr>
          <p:cNvPr id="32" name="Text 30"/>
          <p:cNvSpPr/>
          <p:nvPr/>
        </p:nvSpPr>
        <p:spPr>
          <a:xfrm>
            <a:off x="411480" y="431596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Confirm each of these first. Almost every deployment failure traced back to this slide is discovered hours later, not now.</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02</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2  ·  INITIAL SERVER PREPARATION</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Prepare the Ubuntu Host		</a:t>
            </a:r>
            <a:endParaRPr lang="en-US" sz="2600" dirty="0"/>
          </a:p>
        </p:txBody>
      </p:sp>
      <p:sp>
        <p:nvSpPr>
          <p:cNvPr id="8" name="Text 6"/>
          <p:cNvSpPr/>
          <p:nvPr/>
        </p:nvSpPr>
        <p:spPr>
          <a:xfrm>
            <a:off x="411480" y="1115568"/>
            <a:ext cx="8321040" cy="256032"/>
          </a:xfrm>
          <a:prstGeom prst="rect">
            <a:avLst/>
          </a:prstGeom>
          <a:noFill/>
        </p:spPr>
        <p:txBody>
          <a:bodyPr wrap="square" lIns="0" tIns="0" rIns="0" bIns="0" rtlCol="0" anchor="ctr"/>
          <a:lstStyle/>
          <a:p>
            <a:pPr marL="0" indent="0">
              <a:buNone/>
            </a:pPr>
            <a:r>
              <a:rPr lang="en-US" sz="1250" b="1" dirty="0">
                <a:solidFill>
                  <a:srgbClr val="E2761F"/>
                </a:solidFill>
                <a:latin typeface="Arial" panose="020B0604020202020204" pitchFamily="34" charset="0"/>
                <a:ea typeface="Arial" panose="020B0604020202020204" pitchFamily="34" charset="-122"/>
                <a:cs typeface="Arial" panose="020B0604020202020204" pitchFamily="34" charset="-120"/>
              </a:rPr>
              <a:t>STEP 1 — Update Ubuntu and install base tools</a:t>
            </a:r>
            <a:endParaRPr lang="en-US" sz="1250" dirty="0"/>
          </a:p>
        </p:txBody>
      </p:sp>
      <p:sp>
        <p:nvSpPr>
          <p:cNvPr id="9" name="Command block background"/>
          <p:cNvSpPr/>
          <p:nvPr/>
        </p:nvSpPr>
        <p:spPr>
          <a:xfrm>
            <a:off x="411480" y="1408176"/>
            <a:ext cx="8321040" cy="758952"/>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408176"/>
            <a:ext cx="50292" cy="758952"/>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536192"/>
            <a:ext cx="8010144" cy="502920"/>
          </a:xfrm>
          <a:prstGeom prst="rect">
            <a:avLst/>
          </a:prstGeom>
          <a:noFill/>
        </p:spPr>
        <p:txBody>
          <a:bodyPr wrap="square" lIns="0" tIns="0" rIns="0" bIns="0" rtlCol="0" anchor="t"/>
          <a:lstStyle/>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apt update &amp;&amp; sudo apt upgrade -y</a:t>
            </a:r>
            <a:endParaRPr lang="en-US" sz="1100" dirty="0"/>
          </a:p>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apt install -y curl git wget ca-certificates</a:t>
            </a:r>
            <a:endParaRPr lang="en-US" sz="1100" dirty="0"/>
          </a:p>
        </p:txBody>
      </p:sp>
      <p:sp>
        <p:nvSpPr>
          <p:cNvPr id="12" name="Text 10"/>
          <p:cNvSpPr/>
          <p:nvPr/>
        </p:nvSpPr>
        <p:spPr>
          <a:xfrm>
            <a:off x="411480" y="221284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Reboot only if Ubuntu reports that a reboot is required.</a:t>
            </a:r>
            <a:endParaRPr lang="en-US" sz="1000" dirty="0"/>
          </a:p>
        </p:txBody>
      </p:sp>
      <p:sp>
        <p:nvSpPr>
          <p:cNvPr id="13" name="Text 11"/>
          <p:cNvSpPr/>
          <p:nvPr/>
        </p:nvSpPr>
        <p:spPr>
          <a:xfrm>
            <a:off x="411480" y="2633472"/>
            <a:ext cx="8321040" cy="256032"/>
          </a:xfrm>
          <a:prstGeom prst="rect">
            <a:avLst/>
          </a:prstGeom>
          <a:noFill/>
        </p:spPr>
        <p:txBody>
          <a:bodyPr wrap="square" lIns="0" tIns="0" rIns="0" bIns="0" rtlCol="0" anchor="ctr"/>
          <a:lstStyle/>
          <a:p>
            <a:pPr marL="0" indent="0">
              <a:buNone/>
            </a:pPr>
            <a:r>
              <a:rPr lang="en-US" sz="1250" b="1" dirty="0">
                <a:solidFill>
                  <a:srgbClr val="E2761F"/>
                </a:solidFill>
                <a:latin typeface="Arial" panose="020B0604020202020204" pitchFamily="34" charset="0"/>
                <a:ea typeface="Arial" panose="020B0604020202020204" pitchFamily="34" charset="-122"/>
                <a:cs typeface="Arial" panose="020B0604020202020204" pitchFamily="34" charset="-120"/>
              </a:rPr>
              <a:t>STEP 2 — Install Docker Engine and Compose</a:t>
            </a:r>
            <a:endParaRPr lang="en-US" sz="1250" dirty="0"/>
          </a:p>
        </p:txBody>
      </p:sp>
      <p:sp>
        <p:nvSpPr>
          <p:cNvPr id="14" name="Command block background"/>
          <p:cNvSpPr/>
          <p:nvPr/>
        </p:nvSpPr>
        <p:spPr>
          <a:xfrm>
            <a:off x="411480" y="2926080"/>
            <a:ext cx="8321040" cy="1207008"/>
          </a:xfrm>
          <a:prstGeom prst="rect">
            <a:avLst/>
          </a:prstGeom>
          <a:solidFill>
            <a:srgbClr val="141210"/>
          </a:solidFill>
          <a:ln w="12700">
            <a:solidFill>
              <a:srgbClr val="3A332C"/>
            </a:solidFill>
            <a:prstDash val="solid"/>
          </a:ln>
        </p:spPr>
        <p:txBody>
          <a:bodyPr/>
          <a:lstStyle/>
          <a:p>
            <a:endParaRPr lang="en-US"/>
          </a:p>
        </p:txBody>
      </p:sp>
      <p:sp>
        <p:nvSpPr>
          <p:cNvPr id="15" name="Command block accent"/>
          <p:cNvSpPr/>
          <p:nvPr/>
        </p:nvSpPr>
        <p:spPr>
          <a:xfrm>
            <a:off x="411480" y="2926080"/>
            <a:ext cx="50292" cy="1207008"/>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594360" y="3054096"/>
            <a:ext cx="8010144" cy="950976"/>
          </a:xfrm>
          <a:prstGeom prst="rect">
            <a:avLst/>
          </a:prstGeom>
          <a:noFill/>
        </p:spPr>
        <p:txBody>
          <a:bodyPr wrap="square" lIns="0" tIns="0" rIns="0" bIns="0" rtlCol="0" anchor="t"/>
          <a:lstStyle/>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-fsSL https://get.docker.com -o get-docker.sh</a:t>
            </a:r>
            <a:endParaRPr lang="en-US" sz="1100" dirty="0"/>
          </a:p>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sh get-docker.sh</a:t>
            </a:r>
            <a:endParaRPr lang="en-US" sz="1100" dirty="0"/>
          </a:p>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usermod -aG docker $USER --- </a:t>
            </a:r>
            <a:r>
              <a:rPr lang="en-US" sz="1100" dirty="0" err="1">
                <a:solidFill>
                  <a:srgbClr val="E8DCCB"/>
                </a:solidFill>
                <a:latin typeface="Consolas" panose="020B0609020204030204" pitchFamily="34" charset="0"/>
                <a:ea typeface="Consolas" panose="020B0609020204030204" pitchFamily="34" charset="-122"/>
                <a:cs typeface="Consolas" panose="020B0609020204030204" pitchFamily="34" charset="-120"/>
              </a:rPr>
              <a:t>sudo</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 </a:t>
            </a:r>
            <a:r>
              <a:rPr lang="en-US" sz="1100" dirty="0" err="1">
                <a:solidFill>
                  <a:srgbClr val="E8DCCB"/>
                </a:solidFill>
                <a:latin typeface="Consolas" panose="020B0609020204030204" pitchFamily="34" charset="0"/>
                <a:ea typeface="Consolas" panose="020B0609020204030204" pitchFamily="34" charset="-122"/>
                <a:cs typeface="Consolas" panose="020B0609020204030204" pitchFamily="34" charset="-120"/>
              </a:rPr>
              <a:t>usermode</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 –</a:t>
            </a:r>
            <a:r>
              <a:rPr lang="en-US" sz="1100" dirty="0" err="1">
                <a:solidFill>
                  <a:srgbClr val="E8DCCB"/>
                </a:solidFill>
                <a:latin typeface="Consolas" panose="020B0609020204030204" pitchFamily="34" charset="0"/>
                <a:ea typeface="Consolas" panose="020B0609020204030204" pitchFamily="34" charset="-122"/>
                <a:cs typeface="Consolas" panose="020B0609020204030204" pitchFamily="34" charset="-120"/>
              </a:rPr>
              <a:t>aG</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 docker </a:t>
            </a:r>
            <a:r>
              <a:rPr lang="en-US" sz="1100" dirty="0" err="1">
                <a:solidFill>
                  <a:srgbClr val="E8DCCB"/>
                </a:solidFill>
                <a:latin typeface="Consolas" panose="020B0609020204030204" pitchFamily="34" charset="0"/>
                <a:ea typeface="Consolas" panose="020B0609020204030204" pitchFamily="34" charset="-122"/>
                <a:cs typeface="Consolas" panose="020B0609020204030204" pitchFamily="34" charset="-120"/>
              </a:rPr>
              <a:t>naifnezar</a:t>
            </a:r>
            <a:endParaRPr lang="en-US" sz="1100" dirty="0"/>
          </a:p>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reboot</a:t>
            </a:r>
            <a:endParaRPr lang="en-US" sz="1100" dirty="0"/>
          </a:p>
        </p:txBody>
      </p:sp>
      <p:sp>
        <p:nvSpPr>
          <p:cNvPr id="17" name="Text 15"/>
          <p:cNvSpPr/>
          <p:nvPr/>
        </p:nvSpPr>
        <p:spPr>
          <a:xfrm>
            <a:off x="411480" y="4334256"/>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After reboot, confirm with: docker --version &amp;&amp; docker compose version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02</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2  ·  INITIAL SERVER PREPARATION</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3 — Create the Project Structure</a:t>
            </a:r>
            <a:endParaRPr lang="en-US" sz="2600" dirty="0"/>
          </a:p>
        </p:txBody>
      </p:sp>
      <p:sp>
        <p:nvSpPr>
          <p:cNvPr id="8" name="Command block background"/>
          <p:cNvSpPr/>
          <p:nvPr/>
        </p:nvSpPr>
        <p:spPr>
          <a:xfrm>
            <a:off x="411480" y="1188720"/>
            <a:ext cx="4892040" cy="982980"/>
          </a:xfrm>
          <a:prstGeom prst="rect">
            <a:avLst/>
          </a:prstGeom>
          <a:solidFill>
            <a:srgbClr val="141210"/>
          </a:solidFill>
          <a:ln w="12700">
            <a:solidFill>
              <a:srgbClr val="3A332C"/>
            </a:solidFill>
            <a:prstDash val="solid"/>
          </a:ln>
        </p:spPr>
        <p:txBody>
          <a:bodyPr/>
          <a:lstStyle/>
          <a:p>
            <a:endParaRPr lang="en-US"/>
          </a:p>
        </p:txBody>
      </p:sp>
      <p:sp>
        <p:nvSpPr>
          <p:cNvPr id="9" name="Command block accent"/>
          <p:cNvSpPr/>
          <p:nvPr/>
        </p:nvSpPr>
        <p:spPr>
          <a:xfrm>
            <a:off x="411480" y="1188720"/>
            <a:ext cx="50292" cy="98298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94360" y="1316736"/>
            <a:ext cx="4581144" cy="726948"/>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mkdir -p /srv/ai-platform/{data,models,services}</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chown -R $USER:$USER /srv/ai-platform</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cd /srv/ai-platform</a:t>
            </a:r>
            <a:endParaRPr lang="en-US" sz="1000" dirty="0"/>
          </a:p>
        </p:txBody>
      </p:sp>
      <p:sp>
        <p:nvSpPr>
          <p:cNvPr id="11" name="Folder map panel"/>
          <p:cNvSpPr/>
          <p:nvPr/>
        </p:nvSpPr>
        <p:spPr>
          <a:xfrm>
            <a:off x="5532120" y="1188720"/>
            <a:ext cx="3200400" cy="1783080"/>
          </a:xfrm>
          <a:prstGeom prst="rect">
            <a:avLst/>
          </a:prstGeom>
          <a:solidFill>
            <a:srgbClr val="2A2622"/>
          </a:solidFill>
          <a:ln w="12700">
            <a:solidFill>
              <a:srgbClr val="3A332C"/>
            </a:solidFill>
            <a:prstDash val="solid"/>
          </a:ln>
        </p:spPr>
        <p:txBody>
          <a:bodyPr/>
          <a:lstStyle/>
          <a:p>
            <a:endParaRPr lang="en-US"/>
          </a:p>
        </p:txBody>
      </p:sp>
      <p:sp>
        <p:nvSpPr>
          <p:cNvPr id="12" name="Text 10"/>
          <p:cNvSpPr/>
          <p:nvPr/>
        </p:nvSpPr>
        <p:spPr>
          <a:xfrm>
            <a:off x="5742432" y="1316736"/>
            <a:ext cx="2834640" cy="256032"/>
          </a:xfrm>
          <a:prstGeom prst="rect">
            <a:avLst/>
          </a:prstGeom>
          <a:noFill/>
        </p:spPr>
        <p:txBody>
          <a:bodyPr wrap="square" lIns="0" tIns="0" rIns="0" bIns="0" rtlCol="0" anchor="ctr"/>
          <a:lstStyle/>
          <a:p>
            <a:pPr marL="0" indent="0">
              <a:buNone/>
            </a:pPr>
            <a:r>
              <a:rPr lang="en-US" sz="1000" b="1" kern="0" spc="150" dirty="0">
                <a:solidFill>
                  <a:srgbClr val="E2761F"/>
                </a:solidFill>
                <a:latin typeface="Arial" panose="020B0604020202020204" pitchFamily="34" charset="0"/>
                <a:ea typeface="Arial" panose="020B0604020202020204" pitchFamily="34" charset="-122"/>
                <a:cs typeface="Arial" panose="020B0604020202020204" pitchFamily="34" charset="-120"/>
              </a:rPr>
              <a:t>FOLDER MAP</a:t>
            </a:r>
            <a:endParaRPr lang="en-US" sz="1000" dirty="0"/>
          </a:p>
        </p:txBody>
      </p:sp>
      <p:sp>
        <p:nvSpPr>
          <p:cNvPr id="13" name="Text 11"/>
          <p:cNvSpPr/>
          <p:nvPr/>
        </p:nvSpPr>
        <p:spPr>
          <a:xfrm>
            <a:off x="5742432" y="1645920"/>
            <a:ext cx="2834640" cy="1234440"/>
          </a:xfrm>
          <a:prstGeom prst="rect">
            <a:avLst/>
          </a:prstGeom>
          <a:noFill/>
        </p:spPr>
        <p:txBody>
          <a:bodyPr wrap="square" lIns="0" tIns="0" rIns="0" bIns="0" rtlCol="0" anchor="t"/>
          <a:lstStyle/>
          <a:p>
            <a:pPr marL="0" indent="0">
              <a:lnSpc>
                <a:spcPts val="1600"/>
              </a:lnSpc>
              <a:buNone/>
            </a:pPr>
            <a:r>
              <a:rPr lang="en-US" sz="1000" b="1" dirty="0">
                <a:solidFill>
                  <a:srgbClr val="F5EDE2"/>
                </a:solidFill>
                <a:latin typeface="Consolas" panose="020B0609020204030204" pitchFamily="34" charset="0"/>
                <a:ea typeface="Consolas" panose="020B0609020204030204" pitchFamily="34" charset="-122"/>
                <a:cs typeface="Consolas" panose="020B0609020204030204" pitchFamily="34" charset="-120"/>
              </a:rPr>
              <a:t>/srv/ai-platform</a:t>
            </a:r>
            <a:endParaRPr lang="en-US" sz="1000" dirty="0"/>
          </a:p>
          <a:p>
            <a:pPr marL="0" indent="0">
              <a:lnSpc>
                <a:spcPts val="1600"/>
              </a:lnSpc>
              <a:buNone/>
            </a:pPr>
            <a:r>
              <a:rPr lang="en-US" sz="1000" dirty="0">
                <a:solidFill>
                  <a:srgbClr val="C9BFB2"/>
                </a:solidFill>
                <a:latin typeface="Consolas" panose="020B0609020204030204" pitchFamily="34" charset="0"/>
                <a:ea typeface="Consolas" panose="020B0609020204030204" pitchFamily="34" charset="-122"/>
                <a:cs typeface="Consolas" panose="020B0609020204030204" pitchFamily="34" charset="-120"/>
              </a:rPr>
              <a:t>   data/      databases, volumes</a:t>
            </a:r>
            <a:endParaRPr lang="en-US" sz="1000" dirty="0"/>
          </a:p>
          <a:p>
            <a:pPr marL="0" indent="0">
              <a:lnSpc>
                <a:spcPts val="1600"/>
              </a:lnSpc>
              <a:buNone/>
            </a:pPr>
            <a:r>
              <a:rPr lang="en-US" sz="1000" dirty="0">
                <a:solidFill>
                  <a:srgbClr val="C9BFB2"/>
                </a:solidFill>
                <a:latin typeface="Consolas" panose="020B0609020204030204" pitchFamily="34" charset="0"/>
                <a:ea typeface="Consolas" panose="020B0609020204030204" pitchFamily="34" charset="-122"/>
                <a:cs typeface="Consolas" panose="020B0609020204030204" pitchFamily="34" charset="-120"/>
              </a:rPr>
              <a:t>   models/    downloaded LLM weights</a:t>
            </a:r>
            <a:endParaRPr lang="en-US" sz="1000" dirty="0"/>
          </a:p>
          <a:p>
            <a:pPr marL="0" indent="0">
              <a:lnSpc>
                <a:spcPts val="1600"/>
              </a:lnSpc>
              <a:buNone/>
            </a:pPr>
            <a:r>
              <a:rPr lang="en-US" sz="1000" dirty="0">
                <a:solidFill>
                  <a:srgbClr val="C9BFB2"/>
                </a:solidFill>
                <a:latin typeface="Consolas" panose="020B0609020204030204" pitchFamily="34" charset="0"/>
                <a:ea typeface="Consolas" panose="020B0609020204030204" pitchFamily="34" charset="-122"/>
                <a:cs typeface="Consolas" panose="020B0609020204030204" pitchFamily="34" charset="-120"/>
              </a:rPr>
              <a:t>   services/  compose files, app code</a:t>
            </a:r>
            <a:endParaRPr lang="en-US" sz="1000" dirty="0"/>
          </a:p>
        </p:txBody>
      </p:sp>
      <p:sp>
        <p:nvSpPr>
          <p:cNvPr id="14" name="Backup tip panel"/>
          <p:cNvSpPr/>
          <p:nvPr/>
        </p:nvSpPr>
        <p:spPr>
          <a:xfrm>
            <a:off x="5532120" y="3127248"/>
            <a:ext cx="3200400" cy="1207008"/>
          </a:xfrm>
          <a:prstGeom prst="rect">
            <a:avLst/>
          </a:prstGeom>
          <a:solidFill>
            <a:srgbClr val="2A2622"/>
          </a:solidFill>
          <a:ln w="12700">
            <a:solidFill>
              <a:srgbClr val="3A332C"/>
            </a:solidFill>
            <a:prstDash val="solid"/>
          </a:ln>
        </p:spPr>
        <p:txBody>
          <a:bodyPr/>
          <a:lstStyle/>
          <a:p>
            <a:endParaRPr lang="en-US"/>
          </a:p>
        </p:txBody>
      </p:sp>
      <p:sp>
        <p:nvSpPr>
          <p:cNvPr id="15" name="Panel accent"/>
          <p:cNvSpPr/>
          <p:nvPr/>
        </p:nvSpPr>
        <p:spPr>
          <a:xfrm>
            <a:off x="5532120" y="3127248"/>
            <a:ext cx="45720" cy="1207008"/>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5760720" y="3255264"/>
            <a:ext cx="2788920" cy="960120"/>
          </a:xfrm>
          <a:prstGeom prst="rect">
            <a:avLst/>
          </a:prstGeom>
          <a:noFill/>
        </p:spPr>
        <p:txBody>
          <a:bodyPr wrap="square" lIns="0" tIns="0" rIns="0" bIns="0" rtlCol="0" anchor="t"/>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BACKUP TARGET</a:t>
            </a:r>
            <a:endParaRPr lang="en-US" sz="1000" dirty="0"/>
          </a:p>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Snapshot this single root and you have captured the entire platform state — models, vectors, database and configuration.</a:t>
            </a:r>
            <a:endParaRPr lang="en-US" sz="1000" dirty="0"/>
          </a:p>
        </p:txBody>
      </p:sp>
      <p:sp>
        <p:nvSpPr>
          <p:cNvPr id="17" name="Text 15"/>
          <p:cNvSpPr/>
          <p:nvPr/>
        </p:nvSpPr>
        <p:spPr>
          <a:xfrm>
            <a:off x="411480" y="2487168"/>
            <a:ext cx="4892040" cy="1097280"/>
          </a:xfrm>
          <a:prstGeom prst="rect">
            <a:avLst/>
          </a:prstGeom>
          <a:noFill/>
        </p:spPr>
        <p:txBody>
          <a:bodyPr wrap="square" lIns="0" tIns="0" rIns="0" bIns="0" rtlCol="0" anchor="t"/>
          <a:lstStyle/>
          <a:p>
            <a:pPr marL="0" indent="0">
              <a:buNone/>
            </a:pPr>
            <a:r>
              <a:rPr lang="en-US" sz="1200" b="1" dirty="0">
                <a:solidFill>
                  <a:srgbClr val="F5EDE2"/>
                </a:solidFill>
                <a:latin typeface="Arial" panose="020B0604020202020204" pitchFamily="34" charset="0"/>
                <a:ea typeface="Arial" panose="020B0604020202020204" pitchFamily="34" charset="-122"/>
                <a:cs typeface="Arial" panose="020B0604020202020204" pitchFamily="34" charset="-120"/>
              </a:rPr>
              <a:t>Why one directory</a:t>
            </a:r>
            <a:endParaRPr lang="en-US" sz="1200" dirty="0"/>
          </a:p>
          <a:p>
            <a:pPr marL="0" indent="0">
              <a:buNone/>
            </a:pPr>
            <a:r>
              <a:rPr lang="en-US" sz="1150" dirty="0">
                <a:solidFill>
                  <a:srgbClr val="C9BFB2"/>
                </a:solidFill>
                <a:latin typeface="Arial" panose="020B0604020202020204" pitchFamily="34" charset="0"/>
                <a:ea typeface="Arial" panose="020B0604020202020204" pitchFamily="34" charset="-122"/>
                <a:cs typeface="Arial" panose="020B0604020202020204" pitchFamily="34" charset="-120"/>
              </a:rPr>
              <a:t>Keeping models, databases and service files under a single root makes backup, migration and permissions a single operation instead of a hunt across the filesystem.</a:t>
            </a:r>
            <a:endParaRPr lang="en-US" sz="1200" dirty="0"/>
          </a:p>
        </p:txBody>
      </p:sp>
      <p:sp>
        <p:nvSpPr>
          <p:cNvPr id="18" name="Text 16"/>
          <p:cNvSpPr/>
          <p:nvPr/>
        </p:nvSpPr>
        <p:spPr>
          <a:xfrm>
            <a:off x="411480" y="3749040"/>
            <a:ext cx="4892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Adding your user to the docker group avoids running every container command with sudo — the reboot is what applies 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02</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2  ·  VERIFY BEFORE YOU BUILD</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4 — Prove the Foundation Works</a:t>
            </a:r>
            <a:endParaRPr lang="en-US" sz="2600" dirty="0"/>
          </a:p>
        </p:txBody>
      </p:sp>
      <p:sp>
        <p:nvSpPr>
          <p:cNvPr id="8" name="Text 6"/>
          <p:cNvSpPr/>
          <p:nvPr/>
        </p:nvSpPr>
        <p:spPr>
          <a:xfrm>
            <a:off x="411480" y="1078992"/>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Four quick checks. If any one fails, stop here — nothing above this layer will work.</a:t>
            </a:r>
            <a:endParaRPr lang="en-US" sz="1200" dirty="0"/>
          </a:p>
        </p:txBody>
      </p:sp>
      <p:sp>
        <p:nvSpPr>
          <p:cNvPr id="9" name="Command block background"/>
          <p:cNvSpPr/>
          <p:nvPr/>
        </p:nvSpPr>
        <p:spPr>
          <a:xfrm>
            <a:off x="411480" y="1426464"/>
            <a:ext cx="4069080" cy="1207008"/>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426464"/>
            <a:ext cx="50292" cy="1207008"/>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554480"/>
            <a:ext cx="3758184" cy="950976"/>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--version</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version</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run --rm hello-world</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groups | grep docker</a:t>
            </a:r>
            <a:endPar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endParaRPr>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sym typeface="+mn-ea"/>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sym typeface="+mn-ea"/>
              </a:rPr>
              <a:t>touch .env</a:t>
            </a:r>
            <a:endParaRPr lang="en-US" sz="1000" dirty="0"/>
          </a:p>
          <a:p>
            <a:pPr marL="0" indent="0">
              <a:lnSpc>
                <a:spcPts val="1550"/>
              </a:lnSpc>
              <a:buNone/>
            </a:pPr>
            <a:endParaRPr lang="en-US" sz="1000" dirty="0"/>
          </a:p>
        </p:txBody>
      </p:sp>
      <p:sp>
        <p:nvSpPr>
          <p:cNvPr id="12" name="Panel background"/>
          <p:cNvSpPr/>
          <p:nvPr/>
        </p:nvSpPr>
        <p:spPr>
          <a:xfrm>
            <a:off x="4663440" y="1426464"/>
            <a:ext cx="4069080" cy="1207008"/>
          </a:xfrm>
          <a:prstGeom prst="rect">
            <a:avLst/>
          </a:prstGeom>
          <a:solidFill>
            <a:srgbClr val="2A2622"/>
          </a:solidFill>
          <a:ln w="12700">
            <a:solidFill>
              <a:srgbClr val="3A332C"/>
            </a:solidFill>
            <a:prstDash val="solid"/>
          </a:ln>
        </p:spPr>
        <p:txBody>
          <a:bodyPr/>
          <a:lstStyle/>
          <a:p>
            <a:endParaRPr lang="en-US"/>
          </a:p>
        </p:txBody>
      </p:sp>
      <p:sp>
        <p:nvSpPr>
          <p:cNvPr id="13" name="Panel accent"/>
          <p:cNvSpPr/>
          <p:nvPr/>
        </p:nvSpPr>
        <p:spPr>
          <a:xfrm>
            <a:off x="4663440" y="1426464"/>
            <a:ext cx="45720" cy="1207008"/>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4882896" y="1517904"/>
            <a:ext cx="364845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WHAT GOOD LOOKS LIKE</a:t>
            </a:r>
            <a:endParaRPr lang="en-US" sz="1000" dirty="0"/>
          </a:p>
        </p:txBody>
      </p:sp>
      <p:sp>
        <p:nvSpPr>
          <p:cNvPr id="15" name="Text 13"/>
          <p:cNvSpPr/>
          <p:nvPr/>
        </p:nvSpPr>
        <p:spPr>
          <a:xfrm>
            <a:off x="4882896" y="1792224"/>
            <a:ext cx="3648456" cy="731520"/>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Both version commands print a version. hello-world prints a greeting and exits cleanly. Your username appears in the docker group.</a:t>
            </a:r>
            <a:endParaRPr lang="en-US" sz="1000" dirty="0"/>
          </a:p>
        </p:txBody>
      </p:sp>
      <p:sp>
        <p:nvSpPr>
          <p:cNvPr id="16" name="Card"/>
          <p:cNvSpPr/>
          <p:nvPr/>
        </p:nvSpPr>
        <p:spPr>
          <a:xfrm>
            <a:off x="411480" y="2798064"/>
            <a:ext cx="4069080" cy="896112"/>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411480" y="2798064"/>
            <a:ext cx="406908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12648" y="292608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"permission denied" on the socket</a:t>
            </a:r>
            <a:endParaRPr lang="en-US" sz="1050" dirty="0"/>
          </a:p>
        </p:txBody>
      </p:sp>
      <p:sp>
        <p:nvSpPr>
          <p:cNvPr id="19" name="Text 17"/>
          <p:cNvSpPr/>
          <p:nvPr/>
        </p:nvSpPr>
        <p:spPr>
          <a:xfrm>
            <a:off x="612648" y="3200400"/>
            <a:ext cx="3666744"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Your user is not in the docker group yet, or you have not logged out and back in since being added.</a:t>
            </a:r>
            <a:endParaRPr lang="en-US" sz="950" dirty="0"/>
          </a:p>
        </p:txBody>
      </p:sp>
      <p:sp>
        <p:nvSpPr>
          <p:cNvPr id="20" name="Card"/>
          <p:cNvSpPr/>
          <p:nvPr/>
        </p:nvSpPr>
        <p:spPr>
          <a:xfrm>
            <a:off x="4663440" y="2798064"/>
            <a:ext cx="4069080" cy="896112"/>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663440" y="2798064"/>
            <a:ext cx="406908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64608" y="292608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hello-world cannot pull</a:t>
            </a:r>
            <a:endParaRPr lang="en-US" sz="1050" dirty="0"/>
          </a:p>
        </p:txBody>
      </p:sp>
      <p:sp>
        <p:nvSpPr>
          <p:cNvPr id="23" name="Text 21"/>
          <p:cNvSpPr/>
          <p:nvPr/>
        </p:nvSpPr>
        <p:spPr>
          <a:xfrm>
            <a:off x="4864608" y="3200400"/>
            <a:ext cx="3666744"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Outbound HTTPS or DNS is blocked. Test with: curl -I https://registry-1.docker.io</a:t>
            </a:r>
            <a:endParaRPr lang="en-US" sz="950" dirty="0"/>
          </a:p>
        </p:txBody>
      </p:sp>
      <p:sp>
        <p:nvSpPr>
          <p:cNvPr id="24" name="Card"/>
          <p:cNvSpPr/>
          <p:nvPr/>
        </p:nvSpPr>
        <p:spPr>
          <a:xfrm>
            <a:off x="411480" y="3803904"/>
            <a:ext cx="4069080" cy="896112"/>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411480" y="3803904"/>
            <a:ext cx="406908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12648" y="393192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"docker compose" not found</a:t>
            </a:r>
            <a:endParaRPr lang="en-US" sz="1050" dirty="0"/>
          </a:p>
        </p:txBody>
      </p:sp>
      <p:sp>
        <p:nvSpPr>
          <p:cNvPr id="27" name="Text 25"/>
          <p:cNvSpPr/>
          <p:nvPr/>
        </p:nvSpPr>
        <p:spPr>
          <a:xfrm>
            <a:off x="612648" y="4206240"/>
            <a:ext cx="3666744"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You have the old standalone docker-compose. Reinstall using the official convenience script.</a:t>
            </a:r>
            <a:endParaRPr lang="en-US" sz="950" dirty="0"/>
          </a:p>
        </p:txBody>
      </p:sp>
      <p:sp>
        <p:nvSpPr>
          <p:cNvPr id="28" name="Card"/>
          <p:cNvSpPr/>
          <p:nvPr/>
        </p:nvSpPr>
        <p:spPr>
          <a:xfrm>
            <a:off x="4663440" y="3803904"/>
            <a:ext cx="4069080" cy="896112"/>
          </a:xfrm>
          <a:prstGeom prst="rect">
            <a:avLst/>
          </a:prstGeom>
          <a:solidFill>
            <a:srgbClr val="2A2622"/>
          </a:solidFill>
          <a:ln w="12700">
            <a:solidFill>
              <a:srgbClr val="3A332C"/>
            </a:solidFill>
            <a:prstDash val="solid"/>
          </a:ln>
        </p:spPr>
        <p:txBody>
          <a:bodyPr/>
          <a:lstStyle/>
          <a:p>
            <a:endParaRPr lang="en-US"/>
          </a:p>
        </p:txBody>
      </p:sp>
      <p:sp>
        <p:nvSpPr>
          <p:cNvPr id="29" name="Card accent"/>
          <p:cNvSpPr/>
          <p:nvPr/>
        </p:nvSpPr>
        <p:spPr>
          <a:xfrm>
            <a:off x="4663440" y="3803904"/>
            <a:ext cx="4069080"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64608" y="393192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Service will not start on boot</a:t>
            </a:r>
            <a:endParaRPr lang="en-US" sz="1050" dirty="0"/>
          </a:p>
        </p:txBody>
      </p:sp>
      <p:sp>
        <p:nvSpPr>
          <p:cNvPr id="31" name="Text 29"/>
          <p:cNvSpPr/>
          <p:nvPr/>
        </p:nvSpPr>
        <p:spPr>
          <a:xfrm>
            <a:off x="4864608" y="4206240"/>
            <a:ext cx="3666744"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Enable it explicitly: sudo systemctl enable --now docker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CORE DOCKER SERVICES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One Compose Stack, Five Services</a:t>
            </a:r>
            <a:endParaRPr lang="en-US" sz="2600" dirty="0"/>
          </a:p>
        </p:txBody>
      </p:sp>
      <p:sp>
        <p:nvSpPr>
          <p:cNvPr id="8" name="Service row"/>
          <p:cNvSpPr/>
          <p:nvPr/>
        </p:nvSpPr>
        <p:spPr>
          <a:xfrm>
            <a:off x="411480" y="1133856"/>
            <a:ext cx="5120640" cy="512064"/>
          </a:xfrm>
          <a:prstGeom prst="rect">
            <a:avLst/>
          </a:prstGeom>
          <a:solidFill>
            <a:srgbClr val="2A2622"/>
          </a:solidFill>
          <a:ln w="12700">
            <a:solidFill>
              <a:srgbClr val="3A332C"/>
            </a:solidFill>
            <a:prstDash val="solid"/>
          </a:ln>
        </p:spPr>
        <p:txBody>
          <a:bodyPr/>
          <a:lstStyle/>
          <a:p>
            <a:endParaRPr lang="en-US"/>
          </a:p>
        </p:txBody>
      </p:sp>
      <p:sp>
        <p:nvSpPr>
          <p:cNvPr id="9" name="Service accent"/>
          <p:cNvSpPr/>
          <p:nvPr/>
        </p:nvSpPr>
        <p:spPr>
          <a:xfrm>
            <a:off x="411480" y="1133856"/>
            <a:ext cx="45720" cy="512064"/>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21792" y="1133856"/>
            <a:ext cx="1417320" cy="512064"/>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OLLAMA</a:t>
            </a:r>
            <a:endParaRPr lang="en-US" sz="1000" dirty="0"/>
          </a:p>
        </p:txBody>
      </p:sp>
      <p:sp>
        <p:nvSpPr>
          <p:cNvPr id="11" name="Text 9"/>
          <p:cNvSpPr/>
          <p:nvPr/>
        </p:nvSpPr>
        <p:spPr>
          <a:xfrm>
            <a:off x="2011680" y="1133856"/>
            <a:ext cx="3383280" cy="512064"/>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Local AI model server — runs inference on CPU or GPU</a:t>
            </a:r>
            <a:endParaRPr lang="en-US" sz="950" dirty="0"/>
          </a:p>
        </p:txBody>
      </p:sp>
      <p:sp>
        <p:nvSpPr>
          <p:cNvPr id="12" name="Service row"/>
          <p:cNvSpPr/>
          <p:nvPr/>
        </p:nvSpPr>
        <p:spPr>
          <a:xfrm>
            <a:off x="411480" y="1737360"/>
            <a:ext cx="5120640" cy="512064"/>
          </a:xfrm>
          <a:prstGeom prst="rect">
            <a:avLst/>
          </a:prstGeom>
          <a:solidFill>
            <a:srgbClr val="2A2622"/>
          </a:solidFill>
          <a:ln w="12700">
            <a:solidFill>
              <a:srgbClr val="3A332C"/>
            </a:solidFill>
            <a:prstDash val="solid"/>
          </a:ln>
        </p:spPr>
        <p:txBody>
          <a:bodyPr/>
          <a:lstStyle/>
          <a:p>
            <a:endParaRPr lang="en-US"/>
          </a:p>
        </p:txBody>
      </p:sp>
      <p:sp>
        <p:nvSpPr>
          <p:cNvPr id="13" name="Service accent"/>
          <p:cNvSpPr/>
          <p:nvPr/>
        </p:nvSpPr>
        <p:spPr>
          <a:xfrm>
            <a:off x="411480" y="1737360"/>
            <a:ext cx="45720" cy="512064"/>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21792" y="1737360"/>
            <a:ext cx="1417320" cy="512064"/>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QDRANT</a:t>
            </a:r>
            <a:endParaRPr lang="en-US" sz="1000" dirty="0"/>
          </a:p>
        </p:txBody>
      </p:sp>
      <p:sp>
        <p:nvSpPr>
          <p:cNvPr id="15" name="Text 13"/>
          <p:cNvSpPr/>
          <p:nvPr/>
        </p:nvSpPr>
        <p:spPr>
          <a:xfrm>
            <a:off x="2011680" y="1737360"/>
            <a:ext cx="3383280" cy="512064"/>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Vector storage for document retrieval and semantic search</a:t>
            </a:r>
            <a:endParaRPr lang="en-US" sz="950" dirty="0"/>
          </a:p>
        </p:txBody>
      </p:sp>
      <p:sp>
        <p:nvSpPr>
          <p:cNvPr id="16" name="Service row"/>
          <p:cNvSpPr/>
          <p:nvPr/>
        </p:nvSpPr>
        <p:spPr>
          <a:xfrm>
            <a:off x="411480" y="2340864"/>
            <a:ext cx="5120640" cy="512064"/>
          </a:xfrm>
          <a:prstGeom prst="rect">
            <a:avLst/>
          </a:prstGeom>
          <a:solidFill>
            <a:srgbClr val="2A2622"/>
          </a:solidFill>
          <a:ln w="12700">
            <a:solidFill>
              <a:srgbClr val="3A332C"/>
            </a:solidFill>
            <a:prstDash val="solid"/>
          </a:ln>
        </p:spPr>
        <p:txBody>
          <a:bodyPr/>
          <a:lstStyle/>
          <a:p>
            <a:endParaRPr lang="en-US"/>
          </a:p>
        </p:txBody>
      </p:sp>
      <p:sp>
        <p:nvSpPr>
          <p:cNvPr id="17" name="Service accent"/>
          <p:cNvSpPr/>
          <p:nvPr/>
        </p:nvSpPr>
        <p:spPr>
          <a:xfrm>
            <a:off x="411480" y="2340864"/>
            <a:ext cx="45720" cy="512064"/>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21792" y="2340864"/>
            <a:ext cx="1417320" cy="512064"/>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POSTGRESQL</a:t>
            </a:r>
            <a:endParaRPr lang="en-US" sz="1000" dirty="0"/>
          </a:p>
        </p:txBody>
      </p:sp>
      <p:sp>
        <p:nvSpPr>
          <p:cNvPr id="19" name="Text 17"/>
          <p:cNvSpPr/>
          <p:nvPr/>
        </p:nvSpPr>
        <p:spPr>
          <a:xfrm>
            <a:off x="2011680" y="2340864"/>
            <a:ext cx="3383280" cy="512064"/>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Structured memory, chat logs and application data</a:t>
            </a:r>
            <a:endParaRPr lang="en-US" sz="950" dirty="0"/>
          </a:p>
        </p:txBody>
      </p:sp>
      <p:sp>
        <p:nvSpPr>
          <p:cNvPr id="20" name="Service row"/>
          <p:cNvSpPr/>
          <p:nvPr/>
        </p:nvSpPr>
        <p:spPr>
          <a:xfrm>
            <a:off x="411480" y="2944368"/>
            <a:ext cx="5120640" cy="512064"/>
          </a:xfrm>
          <a:prstGeom prst="rect">
            <a:avLst/>
          </a:prstGeom>
          <a:solidFill>
            <a:srgbClr val="2A2622"/>
          </a:solidFill>
          <a:ln w="12700">
            <a:solidFill>
              <a:srgbClr val="3A332C"/>
            </a:solidFill>
            <a:prstDash val="solid"/>
          </a:ln>
        </p:spPr>
        <p:txBody>
          <a:bodyPr/>
          <a:lstStyle/>
          <a:p>
            <a:endParaRPr lang="en-US"/>
          </a:p>
        </p:txBody>
      </p:sp>
      <p:sp>
        <p:nvSpPr>
          <p:cNvPr id="21" name="Service accent"/>
          <p:cNvSpPr/>
          <p:nvPr/>
        </p:nvSpPr>
        <p:spPr>
          <a:xfrm>
            <a:off x="411480" y="2944368"/>
            <a:ext cx="45720" cy="512064"/>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21792" y="2944368"/>
            <a:ext cx="1417320" cy="512064"/>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FASTAPI</a:t>
            </a:r>
            <a:endParaRPr lang="en-US" sz="1000" dirty="0"/>
          </a:p>
        </p:txBody>
      </p:sp>
      <p:sp>
        <p:nvSpPr>
          <p:cNvPr id="23" name="Text 21"/>
          <p:cNvSpPr/>
          <p:nvPr/>
        </p:nvSpPr>
        <p:spPr>
          <a:xfrm>
            <a:off x="2011680" y="2944368"/>
            <a:ext cx="3383280" cy="512064"/>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Central API gateway tying retrieval, memory and the model together</a:t>
            </a:r>
            <a:endParaRPr lang="en-US" sz="950" dirty="0"/>
          </a:p>
        </p:txBody>
      </p:sp>
      <p:sp>
        <p:nvSpPr>
          <p:cNvPr id="24" name="Service row"/>
          <p:cNvSpPr/>
          <p:nvPr/>
        </p:nvSpPr>
        <p:spPr>
          <a:xfrm>
            <a:off x="411480" y="3547872"/>
            <a:ext cx="5120640" cy="512064"/>
          </a:xfrm>
          <a:prstGeom prst="rect">
            <a:avLst/>
          </a:prstGeom>
          <a:solidFill>
            <a:srgbClr val="2A2622"/>
          </a:solidFill>
          <a:ln w="12700">
            <a:solidFill>
              <a:srgbClr val="3A332C"/>
            </a:solidFill>
            <a:prstDash val="solid"/>
          </a:ln>
        </p:spPr>
        <p:txBody>
          <a:bodyPr/>
          <a:lstStyle/>
          <a:p>
            <a:endParaRPr lang="en-US"/>
          </a:p>
        </p:txBody>
      </p:sp>
      <p:sp>
        <p:nvSpPr>
          <p:cNvPr id="25" name="Service accent"/>
          <p:cNvSpPr/>
          <p:nvPr/>
        </p:nvSpPr>
        <p:spPr>
          <a:xfrm>
            <a:off x="411480" y="3547872"/>
            <a:ext cx="45720" cy="512064"/>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21792" y="3547872"/>
            <a:ext cx="1417320" cy="512064"/>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OPEN WEBUI</a:t>
            </a:r>
            <a:endParaRPr lang="en-US" sz="1000" dirty="0"/>
          </a:p>
        </p:txBody>
      </p:sp>
      <p:sp>
        <p:nvSpPr>
          <p:cNvPr id="27" name="Text 25"/>
          <p:cNvSpPr/>
          <p:nvPr/>
        </p:nvSpPr>
        <p:spPr>
          <a:xfrm>
            <a:off x="2011680" y="3547872"/>
            <a:ext cx="3383280" cy="512064"/>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Optional browser interface for everyday chat use</a:t>
            </a:r>
            <a:endParaRPr lang="en-US" sz="950" dirty="0"/>
          </a:p>
        </p:txBody>
      </p:sp>
      <p:sp>
        <p:nvSpPr>
          <p:cNvPr id="28" name="Text 26"/>
          <p:cNvSpPr/>
          <p:nvPr/>
        </p:nvSpPr>
        <p:spPr>
          <a:xfrm>
            <a:off x="5715000" y="1133856"/>
            <a:ext cx="3017520" cy="256032"/>
          </a:xfrm>
          <a:prstGeom prst="rect">
            <a:avLst/>
          </a:prstGeom>
          <a:noFill/>
        </p:spPr>
        <p:txBody>
          <a:bodyPr wrap="square" lIns="0" tIns="0" rIns="0" bIns="0" rtlCol="0" anchor="ctr"/>
          <a:lstStyle/>
          <a:p>
            <a:pPr marL="0" indent="0">
              <a:buNone/>
            </a:pPr>
            <a:r>
              <a:rPr lang="en-US" sz="1200" b="1" dirty="0">
                <a:solidFill>
                  <a:srgbClr val="E2761F"/>
                </a:solidFill>
                <a:latin typeface="Arial" panose="020B0604020202020204" pitchFamily="34" charset="0"/>
                <a:ea typeface="Arial" panose="020B0604020202020204" pitchFamily="34" charset="-122"/>
                <a:cs typeface="Arial" panose="020B0604020202020204" pitchFamily="34" charset="-120"/>
              </a:rPr>
              <a:t>Start or restart the stack</a:t>
            </a:r>
            <a:endParaRPr lang="en-US" sz="1200" dirty="0"/>
          </a:p>
        </p:txBody>
      </p:sp>
      <p:sp>
        <p:nvSpPr>
          <p:cNvPr id="29" name="Command block background"/>
          <p:cNvSpPr/>
          <p:nvPr/>
        </p:nvSpPr>
        <p:spPr>
          <a:xfrm>
            <a:off x="5715000" y="1426464"/>
            <a:ext cx="3017520" cy="982980"/>
          </a:xfrm>
          <a:prstGeom prst="rect">
            <a:avLst/>
          </a:prstGeom>
          <a:solidFill>
            <a:srgbClr val="141210"/>
          </a:solidFill>
          <a:ln w="12700">
            <a:solidFill>
              <a:srgbClr val="3A332C"/>
            </a:solidFill>
            <a:prstDash val="solid"/>
          </a:ln>
        </p:spPr>
        <p:txBody>
          <a:bodyPr/>
          <a:lstStyle/>
          <a:p>
            <a:endParaRPr lang="en-US"/>
          </a:p>
        </p:txBody>
      </p:sp>
      <p:sp>
        <p:nvSpPr>
          <p:cNvPr id="30" name="Command block accent"/>
          <p:cNvSpPr/>
          <p:nvPr/>
        </p:nvSpPr>
        <p:spPr>
          <a:xfrm>
            <a:off x="5715000" y="1426464"/>
            <a:ext cx="50292" cy="982980"/>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5897880" y="1554480"/>
            <a:ext cx="2706624" cy="726948"/>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cd /srv/ai-platform</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up -d</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ps</a:t>
            </a:r>
            <a:endParaRPr lang="en-US" sz="1000" dirty="0"/>
          </a:p>
        </p:txBody>
      </p:sp>
      <p:sp>
        <p:nvSpPr>
          <p:cNvPr id="32" name="Text 30"/>
          <p:cNvSpPr/>
          <p:nvPr/>
        </p:nvSpPr>
        <p:spPr>
          <a:xfrm>
            <a:off x="5715000" y="2395728"/>
            <a:ext cx="301752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Use docker compose up -d --build after changing application code or Dockerfiles.</a:t>
            </a:r>
            <a:endParaRPr lang="en-US" sz="1000" dirty="0"/>
          </a:p>
        </p:txBody>
      </p:sp>
      <p:sp>
        <p:nvSpPr>
          <p:cNvPr id="33" name="Tip panel"/>
          <p:cNvSpPr/>
          <p:nvPr/>
        </p:nvSpPr>
        <p:spPr>
          <a:xfrm>
            <a:off x="5715000" y="3200400"/>
            <a:ext cx="3017520" cy="822960"/>
          </a:xfrm>
          <a:prstGeom prst="rect">
            <a:avLst/>
          </a:prstGeom>
          <a:solidFill>
            <a:srgbClr val="2A2622"/>
          </a:solidFill>
          <a:ln w="12700">
            <a:solidFill>
              <a:srgbClr val="3A332C"/>
            </a:solidFill>
            <a:prstDash val="solid"/>
          </a:ln>
        </p:spPr>
        <p:txBody>
          <a:bodyPr/>
          <a:lstStyle/>
          <a:p>
            <a:endParaRPr lang="en-US"/>
          </a:p>
        </p:txBody>
      </p:sp>
      <p:sp>
        <p:nvSpPr>
          <p:cNvPr id="34" name="Text 32"/>
          <p:cNvSpPr/>
          <p:nvPr/>
        </p:nvSpPr>
        <p:spPr>
          <a:xfrm>
            <a:off x="5897880" y="3291840"/>
            <a:ext cx="2697480" cy="65836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Define all five services in one docker-compose.yml so the whole platform starts, stops and versions together.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WALKTHROUGH  ·  1 OF 6</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Anatomy of the Compose File</a:t>
            </a:r>
            <a:endParaRPr lang="en-US" sz="2600" dirty="0"/>
          </a:p>
        </p:txBody>
      </p:sp>
      <p:sp>
        <p:nvSpPr>
          <p:cNvPr id="8" name="Text 6"/>
          <p:cNvSpPr/>
          <p:nvPr/>
        </p:nvSpPr>
        <p:spPr>
          <a:xfrm>
            <a:off x="411480" y="1078992"/>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One file at /srv/ai-platform/docker-compose.yml describes the whole platform.</a:t>
            </a:r>
            <a:endParaRPr lang="en-US" sz="1200" dirty="0"/>
          </a:p>
        </p:txBody>
      </p:sp>
      <p:sp>
        <p:nvSpPr>
          <p:cNvPr id="9" name="Configuration block background"/>
          <p:cNvSpPr/>
          <p:nvPr/>
        </p:nvSpPr>
        <p:spPr>
          <a:xfrm>
            <a:off x="411480" y="1426464"/>
            <a:ext cx="4572000" cy="2084832"/>
          </a:xfrm>
          <a:prstGeom prst="rect">
            <a:avLst/>
          </a:prstGeom>
          <a:solidFill>
            <a:srgbClr val="141210"/>
          </a:solidFill>
          <a:ln w="12700">
            <a:solidFill>
              <a:srgbClr val="3A332C"/>
            </a:solidFill>
            <a:prstDash val="solid"/>
          </a:ln>
        </p:spPr>
        <p:txBody>
          <a:bodyPr/>
          <a:lstStyle/>
          <a:p>
            <a:endParaRPr lang="en-US"/>
          </a:p>
        </p:txBody>
      </p:sp>
      <p:sp>
        <p:nvSpPr>
          <p:cNvPr id="10" name="Configuration block accent"/>
          <p:cNvSpPr/>
          <p:nvPr/>
        </p:nvSpPr>
        <p:spPr>
          <a:xfrm>
            <a:off x="411480" y="1426464"/>
            <a:ext cx="50292" cy="2084832"/>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545336"/>
            <a:ext cx="4261104" cy="1847088"/>
          </a:xfrm>
          <a:prstGeom prst="rect">
            <a:avLst/>
          </a:prstGeom>
          <a:noFill/>
        </p:spPr>
        <p:txBody>
          <a:bodyPr wrap="square" lIns="0" tIns="0" rIns="0" bIns="0" rtlCol="0" anchor="t"/>
          <a:lstStyle/>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services:</a:t>
            </a: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  ollama:      # model inference</a:t>
            </a: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  qdrant:      # vector database</a:t>
            </a: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postgres:    # structured memory</a:t>
            </a: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  gateway:     # FastAPI application</a:t>
            </a: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  webui:       # browser interface</a:t>
            </a:r>
            <a:endParaRPr lang="en-US" sz="1000" dirty="0"/>
          </a:p>
          <a:p>
            <a:pPr marL="0" indent="0">
              <a:lnSpc>
                <a:spcPts val="1500"/>
              </a:lnSpc>
              <a:buNone/>
            </a:pP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volumes:       # named, persistent storage</a:t>
            </a:r>
            <a:endParaRPr lang="en-US" sz="1000" dirty="0"/>
          </a:p>
          <a:p>
            <a:pPr marL="0" indent="0">
              <a:lnSpc>
                <a:spcPts val="1500"/>
              </a:lnSpc>
              <a:buNone/>
            </a:pP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networks:      # private internal network</a:t>
            </a:r>
            <a:endParaRPr lang="en-US" sz="1000" dirty="0"/>
          </a:p>
        </p:txBody>
      </p:sp>
      <p:sp>
        <p:nvSpPr>
          <p:cNvPr id="12" name="List row"/>
          <p:cNvSpPr/>
          <p:nvPr/>
        </p:nvSpPr>
        <p:spPr>
          <a:xfrm>
            <a:off x="5212080" y="1426464"/>
            <a:ext cx="3520440" cy="475488"/>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5212080" y="1426464"/>
            <a:ext cx="45720" cy="475488"/>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5431536" y="1426464"/>
            <a:ext cx="868680" cy="475488"/>
          </a:xfrm>
          <a:prstGeom prst="rect">
            <a:avLst/>
          </a:prstGeom>
          <a:noFill/>
        </p:spPr>
        <p:txBody>
          <a:bodyPr wrap="square" lIns="0" tIns="0" rIns="0" bIns="0" rtlCol="0" anchor="ctr"/>
          <a:lstStyle/>
          <a:p>
            <a:pPr marL="0" indent="0">
              <a:buNone/>
            </a:pPr>
            <a:r>
              <a:rPr lang="en-US" sz="9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SERVICES</a:t>
            </a:r>
            <a:endParaRPr lang="en-US" sz="950" dirty="0"/>
          </a:p>
        </p:txBody>
      </p:sp>
      <p:sp>
        <p:nvSpPr>
          <p:cNvPr id="15" name="Text 13"/>
          <p:cNvSpPr/>
          <p:nvPr/>
        </p:nvSpPr>
        <p:spPr>
          <a:xfrm>
            <a:off x="6355080" y="1426464"/>
            <a:ext cx="2157984" cy="47548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One block per container</a:t>
            </a:r>
            <a:endParaRPr lang="en-US" sz="950" dirty="0"/>
          </a:p>
        </p:txBody>
      </p:sp>
      <p:sp>
        <p:nvSpPr>
          <p:cNvPr id="16" name="List row"/>
          <p:cNvSpPr/>
          <p:nvPr/>
        </p:nvSpPr>
        <p:spPr>
          <a:xfrm>
            <a:off x="5212080" y="1975104"/>
            <a:ext cx="3520440" cy="475488"/>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5212080" y="1975104"/>
            <a:ext cx="45720" cy="475488"/>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5431536" y="1975104"/>
            <a:ext cx="868680" cy="475488"/>
          </a:xfrm>
          <a:prstGeom prst="rect">
            <a:avLst/>
          </a:prstGeom>
          <a:noFill/>
        </p:spPr>
        <p:txBody>
          <a:bodyPr wrap="square" lIns="0" tIns="0" rIns="0" bIns="0" rtlCol="0" anchor="ctr"/>
          <a:lstStyle/>
          <a:p>
            <a:pPr marL="0" indent="0">
              <a:buNone/>
            </a:pPr>
            <a:r>
              <a:rPr lang="en-US" sz="9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VOLUMES</a:t>
            </a:r>
            <a:endParaRPr lang="en-US" sz="950" dirty="0"/>
          </a:p>
        </p:txBody>
      </p:sp>
      <p:sp>
        <p:nvSpPr>
          <p:cNvPr id="19" name="Text 17"/>
          <p:cNvSpPr/>
          <p:nvPr/>
        </p:nvSpPr>
        <p:spPr>
          <a:xfrm>
            <a:off x="6355080" y="1975104"/>
            <a:ext cx="2157984" cy="47548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Data that survives restarts</a:t>
            </a:r>
            <a:endParaRPr lang="en-US" sz="950" dirty="0"/>
          </a:p>
        </p:txBody>
      </p:sp>
      <p:sp>
        <p:nvSpPr>
          <p:cNvPr id="20" name="List row"/>
          <p:cNvSpPr/>
          <p:nvPr/>
        </p:nvSpPr>
        <p:spPr>
          <a:xfrm>
            <a:off x="5212080" y="2523744"/>
            <a:ext cx="3520440" cy="475488"/>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5212080" y="2523744"/>
            <a:ext cx="45720" cy="475488"/>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5431536" y="2523744"/>
            <a:ext cx="868680" cy="475488"/>
          </a:xfrm>
          <a:prstGeom prst="rect">
            <a:avLst/>
          </a:prstGeom>
          <a:noFill/>
        </p:spPr>
        <p:txBody>
          <a:bodyPr wrap="square" lIns="0" tIns="0" rIns="0" bIns="0" rtlCol="0" anchor="ctr"/>
          <a:lstStyle/>
          <a:p>
            <a:pPr marL="0" indent="0">
              <a:buNone/>
            </a:pPr>
            <a:r>
              <a:rPr lang="en-US" sz="9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NETWORKS</a:t>
            </a:r>
            <a:endParaRPr lang="en-US" sz="950" dirty="0"/>
          </a:p>
        </p:txBody>
      </p:sp>
      <p:sp>
        <p:nvSpPr>
          <p:cNvPr id="23" name="Text 21"/>
          <p:cNvSpPr/>
          <p:nvPr/>
        </p:nvSpPr>
        <p:spPr>
          <a:xfrm>
            <a:off x="6355080" y="2523744"/>
            <a:ext cx="2157984" cy="47548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Who can talk to whom</a:t>
            </a:r>
            <a:endParaRPr lang="en-US" sz="950" dirty="0"/>
          </a:p>
        </p:txBody>
      </p:sp>
      <p:sp>
        <p:nvSpPr>
          <p:cNvPr id="24" name="List row"/>
          <p:cNvSpPr/>
          <p:nvPr/>
        </p:nvSpPr>
        <p:spPr>
          <a:xfrm>
            <a:off x="5212080" y="3072384"/>
            <a:ext cx="3520440" cy="475488"/>
          </a:xfrm>
          <a:prstGeom prst="rect">
            <a:avLst/>
          </a:prstGeom>
          <a:solidFill>
            <a:srgbClr val="2A2622"/>
          </a:solidFill>
          <a:ln w="12700">
            <a:solidFill>
              <a:srgbClr val="3A332C"/>
            </a:solidFill>
            <a:prstDash val="solid"/>
          </a:ln>
        </p:spPr>
        <p:txBody>
          <a:bodyPr/>
          <a:lstStyle/>
          <a:p>
            <a:endParaRPr lang="en-US"/>
          </a:p>
        </p:txBody>
      </p:sp>
      <p:sp>
        <p:nvSpPr>
          <p:cNvPr id="25" name="List row accent"/>
          <p:cNvSpPr/>
          <p:nvPr/>
        </p:nvSpPr>
        <p:spPr>
          <a:xfrm>
            <a:off x="5212080" y="3072384"/>
            <a:ext cx="45720" cy="475488"/>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5431536" y="3072384"/>
            <a:ext cx="868680" cy="475488"/>
          </a:xfrm>
          <a:prstGeom prst="rect">
            <a:avLst/>
          </a:prstGeom>
          <a:noFill/>
        </p:spPr>
        <p:txBody>
          <a:bodyPr wrap="square" lIns="0" tIns="0" rIns="0" bIns="0" rtlCol="0" anchor="ctr"/>
          <a:lstStyle/>
          <a:p>
            <a:pPr marL="0" indent="0">
              <a:buNone/>
            </a:pPr>
            <a:r>
              <a:rPr lang="en-US" sz="9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PORTS</a:t>
            </a:r>
            <a:endParaRPr lang="en-US" sz="950" dirty="0"/>
          </a:p>
        </p:txBody>
      </p:sp>
      <p:sp>
        <p:nvSpPr>
          <p:cNvPr id="27" name="Text 25"/>
          <p:cNvSpPr/>
          <p:nvPr/>
        </p:nvSpPr>
        <p:spPr>
          <a:xfrm>
            <a:off x="6355080" y="3072384"/>
            <a:ext cx="2157984" cy="47548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What the LAN can reach</a:t>
            </a:r>
            <a:endParaRPr lang="en-US" sz="950" dirty="0"/>
          </a:p>
        </p:txBody>
      </p:sp>
      <p:sp>
        <p:nvSpPr>
          <p:cNvPr id="28" name="Text 26"/>
          <p:cNvSpPr/>
          <p:nvPr/>
        </p:nvSpPr>
        <p:spPr>
          <a:xfrm>
            <a:off x="411480" y="3968496"/>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Keep this file in version control. It is the single most valuable artefact of the deployment — it describes the entire platform.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WALKTHROUGH  ·  2 OF 6</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1 — Externalise Every Secret</a:t>
            </a:r>
            <a:endParaRPr lang="en-US" sz="2600" dirty="0"/>
          </a:p>
        </p:txBody>
      </p:sp>
      <p:sp>
        <p:nvSpPr>
          <p:cNvPr id="8" name="Text 6"/>
          <p:cNvSpPr/>
          <p:nvPr/>
        </p:nvSpPr>
        <p:spPr>
          <a:xfrm>
            <a:off x="411480" y="1078992"/>
            <a:ext cx="8321040" cy="256032"/>
          </a:xfrm>
          <a:prstGeom prst="rect">
            <a:avLst/>
          </a:prstGeom>
          <a:noFill/>
        </p:spPr>
        <p:txBody>
          <a:bodyPr wrap="square" lIns="0" tIns="0" rIns="0" bIns="0" rtlCol="0" anchor="ctr"/>
          <a:lstStyle/>
          <a:p>
            <a:pPr marL="0" indent="0">
              <a:buNone/>
            </a:pPr>
            <a:r>
              <a:rPr lang="en-US" sz="1150" dirty="0">
                <a:solidFill>
                  <a:srgbClr val="C9BFB2"/>
                </a:solidFill>
                <a:latin typeface="Arial" panose="020B0604020202020204" pitchFamily="34" charset="0"/>
                <a:ea typeface="Arial" panose="020B0604020202020204" pitchFamily="34" charset="-122"/>
                <a:cs typeface="Arial" panose="020B0604020202020204" pitchFamily="34" charset="-120"/>
              </a:rPr>
              <a:t>Create a .env file beside the Compose file. Nothing sensitive is ever written into the YAML itself.</a:t>
            </a:r>
            <a:endParaRPr lang="en-US" sz="1150" dirty="0"/>
          </a:p>
        </p:txBody>
      </p:sp>
      <p:sp>
        <p:nvSpPr>
          <p:cNvPr id="9" name="Configuration block background"/>
          <p:cNvSpPr/>
          <p:nvPr/>
        </p:nvSpPr>
        <p:spPr>
          <a:xfrm>
            <a:off x="411480" y="1426464"/>
            <a:ext cx="4572000" cy="1650492"/>
          </a:xfrm>
          <a:prstGeom prst="rect">
            <a:avLst/>
          </a:prstGeom>
          <a:solidFill>
            <a:srgbClr val="141210"/>
          </a:solidFill>
          <a:ln w="12700">
            <a:solidFill>
              <a:srgbClr val="3A332C"/>
            </a:solidFill>
            <a:prstDash val="solid"/>
          </a:ln>
        </p:spPr>
        <p:txBody>
          <a:bodyPr/>
          <a:lstStyle/>
          <a:p>
            <a:endParaRPr lang="en-US"/>
          </a:p>
        </p:txBody>
      </p:sp>
      <p:sp>
        <p:nvSpPr>
          <p:cNvPr id="10" name="Configuration block accent"/>
          <p:cNvSpPr/>
          <p:nvPr/>
        </p:nvSpPr>
        <p:spPr>
          <a:xfrm>
            <a:off x="411480" y="1426464"/>
            <a:ext cx="50292" cy="1650492"/>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545336"/>
            <a:ext cx="4261104" cy="1412748"/>
          </a:xfrm>
          <a:prstGeom prst="rect">
            <a:avLst/>
          </a:prstGeom>
          <a:noFill/>
        </p:spPr>
        <p:txBody>
          <a:bodyPr wrap="square" lIns="0" tIns="0" rIns="0" bIns="0" rtlCol="0" anchor="t"/>
          <a:lstStyle/>
          <a:p>
            <a:pPr marL="0" indent="0">
              <a:lnSpc>
                <a:spcPts val="1425"/>
              </a:lnSpc>
              <a:buNone/>
            </a:pPr>
            <a:r>
              <a:rPr lang="en-US" sz="950" dirty="0">
                <a:solidFill>
                  <a:srgbClr val="8A7F72"/>
                </a:solidFill>
                <a:latin typeface="Consolas" panose="020B0609020204030204" pitchFamily="34" charset="0"/>
                <a:ea typeface="Consolas" panose="020B0609020204030204" pitchFamily="34" charset="-122"/>
                <a:cs typeface="Consolas" panose="020B0609020204030204" pitchFamily="34" charset="-120"/>
              </a:rPr>
              <a:t># /srv/ai-platform/.env</a:t>
            </a:r>
            <a:endParaRPr lang="en-US" sz="950" dirty="0"/>
          </a:p>
          <a:p>
            <a:pPr marL="0" indent="0">
              <a:lnSpc>
                <a:spcPts val="1425"/>
              </a:lnSpc>
              <a:buNone/>
            </a:pP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POSTGRES_USER=aiapp</a:t>
            </a:r>
            <a:endParaRPr lang="en-US" sz="950" dirty="0"/>
          </a:p>
          <a:p>
            <a:pPr marL="0" indent="0">
              <a:lnSpc>
                <a:spcPts val="1425"/>
              </a:lnSpc>
              <a:buNone/>
            </a:pP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POSTGRES_PASSWORD=change-me-to-something-long</a:t>
            </a:r>
            <a:endParaRPr lang="en-US" sz="950" dirty="0"/>
          </a:p>
          <a:p>
            <a:pPr marL="0" indent="0">
              <a:lnSpc>
                <a:spcPts val="1425"/>
              </a:lnSpc>
              <a:buNone/>
            </a:pP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POSTGRES_DB=aiplatform</a:t>
            </a:r>
            <a:endParaRPr lang="en-US" sz="950" dirty="0"/>
          </a:p>
          <a:p>
            <a:pPr marL="0" indent="0">
              <a:lnSpc>
                <a:spcPts val="1425"/>
              </a:lnSpc>
              <a:buNone/>
            </a:pP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OLLAMA_MODEL=qwen2.5:7b-instruct</a:t>
            </a:r>
            <a:endParaRPr lang="en-US" sz="950" dirty="0"/>
          </a:p>
          <a:p>
            <a:pPr marL="0" indent="0">
              <a:lnSpc>
                <a:spcPts val="1425"/>
              </a:lnSpc>
              <a:buNone/>
            </a:pP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QDRANT_COLLECTION=knowledge</a:t>
            </a:r>
            <a:endParaRPr lang="en-US" sz="950" dirty="0"/>
          </a:p>
          <a:p>
            <a:pPr marL="0" indent="0">
              <a:lnSpc>
                <a:spcPts val="1425"/>
              </a:lnSpc>
              <a:buNone/>
            </a:pP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GATEWAY_PORT=9000</a:t>
            </a:r>
            <a:endParaRPr lang="en-US" sz="950" dirty="0"/>
          </a:p>
        </p:txBody>
      </p:sp>
      <p:sp>
        <p:nvSpPr>
          <p:cNvPr id="12" name="Command block background"/>
          <p:cNvSpPr/>
          <p:nvPr/>
        </p:nvSpPr>
        <p:spPr>
          <a:xfrm>
            <a:off x="411480" y="3127248"/>
            <a:ext cx="4572000" cy="758952"/>
          </a:xfrm>
          <a:prstGeom prst="rect">
            <a:avLst/>
          </a:prstGeom>
          <a:solidFill>
            <a:srgbClr val="141210"/>
          </a:solidFill>
          <a:ln w="12700">
            <a:solidFill>
              <a:srgbClr val="3A332C"/>
            </a:solidFill>
            <a:prstDash val="solid"/>
          </a:ln>
        </p:spPr>
        <p:txBody>
          <a:bodyPr/>
          <a:lstStyle/>
          <a:p>
            <a:endParaRPr lang="en-US"/>
          </a:p>
        </p:txBody>
      </p:sp>
      <p:sp>
        <p:nvSpPr>
          <p:cNvPr id="13" name="Command block accent"/>
          <p:cNvSpPr/>
          <p:nvPr/>
        </p:nvSpPr>
        <p:spPr>
          <a:xfrm>
            <a:off x="411480" y="3127248"/>
            <a:ext cx="50292" cy="758952"/>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594360" y="3255264"/>
            <a:ext cx="4261104" cy="502920"/>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chmod 600 .env</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echo '.env' &gt;&gt; .gitignore</a:t>
            </a:r>
            <a:endParaRPr lang="en-US" sz="1000" dirty="0"/>
          </a:p>
        </p:txBody>
      </p:sp>
      <p:sp>
        <p:nvSpPr>
          <p:cNvPr id="15" name="Panel background"/>
          <p:cNvSpPr/>
          <p:nvPr/>
        </p:nvSpPr>
        <p:spPr>
          <a:xfrm>
            <a:off x="5212080" y="1426464"/>
            <a:ext cx="3520440" cy="1371600"/>
          </a:xfrm>
          <a:prstGeom prst="rect">
            <a:avLst/>
          </a:prstGeom>
          <a:solidFill>
            <a:srgbClr val="2A2622"/>
          </a:solidFill>
          <a:ln w="12700">
            <a:solidFill>
              <a:srgbClr val="3A332C"/>
            </a:solidFill>
            <a:prstDash val="solid"/>
          </a:ln>
        </p:spPr>
        <p:txBody>
          <a:bodyPr/>
          <a:lstStyle/>
          <a:p>
            <a:endParaRPr lang="en-US"/>
          </a:p>
        </p:txBody>
      </p:sp>
      <p:sp>
        <p:nvSpPr>
          <p:cNvPr id="16" name="Panel accent"/>
          <p:cNvSpPr/>
          <p:nvPr/>
        </p:nvSpPr>
        <p:spPr>
          <a:xfrm>
            <a:off x="5212080" y="1426464"/>
            <a:ext cx="45720" cy="1371600"/>
          </a:xfrm>
          <a:prstGeom prst="rect">
            <a:avLst/>
          </a:prstGeom>
          <a:solidFill>
            <a:srgbClr val="E2761F"/>
          </a:solidFill>
          <a:ln w="12700">
            <a:solidFill>
              <a:srgbClr val="E2761F"/>
            </a:solidFill>
            <a:prstDash val="solid"/>
          </a:ln>
        </p:spPr>
        <p:txBody>
          <a:bodyPr/>
          <a:lstStyle/>
          <a:p>
            <a:endParaRPr lang="en-US"/>
          </a:p>
        </p:txBody>
      </p:sp>
      <p:sp>
        <p:nvSpPr>
          <p:cNvPr id="17" name="Text 15"/>
          <p:cNvSpPr/>
          <p:nvPr/>
        </p:nvSpPr>
        <p:spPr>
          <a:xfrm>
            <a:off x="5431536" y="1517904"/>
            <a:ext cx="309981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WHY THIS MATTERS</a:t>
            </a:r>
            <a:endParaRPr lang="en-US" sz="1000" dirty="0"/>
          </a:p>
        </p:txBody>
      </p:sp>
      <p:sp>
        <p:nvSpPr>
          <p:cNvPr id="18" name="Text 16"/>
          <p:cNvSpPr/>
          <p:nvPr/>
        </p:nvSpPr>
        <p:spPr>
          <a:xfrm>
            <a:off x="5431536" y="1792224"/>
            <a:ext cx="3099816" cy="896112"/>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Compose reads .env automatically. Credentials stay out of your YAML, out of version control and out of container image layers.</a:t>
            </a:r>
            <a:endParaRPr lang="en-US" sz="1000" dirty="0"/>
          </a:p>
        </p:txBody>
      </p:sp>
      <p:sp>
        <p:nvSpPr>
          <p:cNvPr id="19" name="Panel background"/>
          <p:cNvSpPr/>
          <p:nvPr/>
        </p:nvSpPr>
        <p:spPr>
          <a:xfrm>
            <a:off x="5212080" y="2926080"/>
            <a:ext cx="3520440" cy="1225296"/>
          </a:xfrm>
          <a:prstGeom prst="rect">
            <a:avLst/>
          </a:prstGeom>
          <a:solidFill>
            <a:srgbClr val="2A2622"/>
          </a:solidFill>
          <a:ln w="12700">
            <a:solidFill>
              <a:srgbClr val="3A332C"/>
            </a:solidFill>
            <a:prstDash val="solid"/>
          </a:ln>
        </p:spPr>
        <p:txBody>
          <a:bodyPr/>
          <a:lstStyle/>
          <a:p>
            <a:endParaRPr lang="en-US"/>
          </a:p>
        </p:txBody>
      </p:sp>
      <p:sp>
        <p:nvSpPr>
          <p:cNvPr id="20" name="Panel accent"/>
          <p:cNvSpPr/>
          <p:nvPr/>
        </p:nvSpPr>
        <p:spPr>
          <a:xfrm>
            <a:off x="5212080" y="2926080"/>
            <a:ext cx="45720" cy="1225296"/>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5431536" y="3017520"/>
            <a:ext cx="309981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GENERATE STRONG VALUES</a:t>
            </a:r>
            <a:endParaRPr lang="en-US" sz="1000" dirty="0"/>
          </a:p>
        </p:txBody>
      </p:sp>
      <p:sp>
        <p:nvSpPr>
          <p:cNvPr id="22" name="Text 20"/>
          <p:cNvSpPr/>
          <p:nvPr/>
        </p:nvSpPr>
        <p:spPr>
          <a:xfrm>
            <a:off x="5431536" y="3291840"/>
            <a:ext cx="3099816" cy="749808"/>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Use openssl rand -base64 32 for passwords rather than inventing them. Rotate before the platform leaves testing.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WALKTHROUGH  ·  3 OF 6</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2 — Inference and Vector Storage</a:t>
            </a:r>
            <a:endParaRPr lang="en-US" sz="2600" dirty="0"/>
          </a:p>
        </p:txBody>
      </p:sp>
      <p:sp>
        <p:nvSpPr>
          <p:cNvPr id="8" name="Configuration block background"/>
          <p:cNvSpPr/>
          <p:nvPr/>
        </p:nvSpPr>
        <p:spPr>
          <a:xfrm>
            <a:off x="411480" y="1097280"/>
            <a:ext cx="5074920" cy="3200400"/>
          </a:xfrm>
          <a:prstGeom prst="rect">
            <a:avLst/>
          </a:prstGeom>
          <a:solidFill>
            <a:srgbClr val="141210"/>
          </a:solidFill>
          <a:ln w="12700">
            <a:solidFill>
              <a:srgbClr val="3A332C"/>
            </a:solidFill>
            <a:prstDash val="solid"/>
          </a:ln>
        </p:spPr>
        <p:txBody>
          <a:bodyPr/>
          <a:lstStyle/>
          <a:p>
            <a:endParaRPr lang="en-US"/>
          </a:p>
        </p:txBody>
      </p:sp>
      <p:sp>
        <p:nvSpPr>
          <p:cNvPr id="9" name="Configuration block accent"/>
          <p:cNvSpPr/>
          <p:nvPr/>
        </p:nvSpPr>
        <p:spPr>
          <a:xfrm>
            <a:off x="411480" y="1097280"/>
            <a:ext cx="50292" cy="320040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94360" y="1216152"/>
            <a:ext cx="4764024" cy="2962656"/>
          </a:xfrm>
          <a:prstGeom prst="rect">
            <a:avLst/>
          </a:prstGeom>
          <a:noFill/>
        </p:spPr>
        <p:txBody>
          <a:bodyPr wrap="square" lIns="0" tIns="0" rIns="0" bIns="0" rtlCol="0" anchor="t"/>
          <a:lstStyle/>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services:</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ollama:</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image: ollama/ollama:latest</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container_name: ollama</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restart: unless-stopped</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ports: ["11434:11434"]</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volumes: ["./models:/root/.ollama"]</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networks: [ai-net]</a:t>
            </a:r>
            <a:endParaRPr lang="en-US" sz="900" dirty="0"/>
          </a:p>
          <a:p>
            <a:pPr marL="0" indent="0">
              <a:lnSpc>
                <a:spcPts val="1350"/>
              </a:lnSpc>
              <a:buNone/>
            </a:pP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qdrant:</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image: qdrant/qdrant:latest</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container_name: qdrant</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restart: unless-stopped</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ports: ["6333:6333"]</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volumes: ["./data/qdrant:/qdrant/storage"]</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networks: [ai-net]</a:t>
            </a:r>
            <a:endParaRPr lang="en-US" sz="900" dirty="0"/>
          </a:p>
        </p:txBody>
      </p:sp>
      <p:sp>
        <p:nvSpPr>
          <p:cNvPr id="11" name="Panel background"/>
          <p:cNvSpPr/>
          <p:nvPr/>
        </p:nvSpPr>
        <p:spPr>
          <a:xfrm>
            <a:off x="5715000" y="1097280"/>
            <a:ext cx="3017520" cy="1371600"/>
          </a:xfrm>
          <a:prstGeom prst="rect">
            <a:avLst/>
          </a:prstGeom>
          <a:solidFill>
            <a:srgbClr val="2A2622"/>
          </a:solidFill>
          <a:ln w="12700">
            <a:solidFill>
              <a:srgbClr val="3A332C"/>
            </a:solidFill>
            <a:prstDash val="solid"/>
          </a:ln>
        </p:spPr>
        <p:txBody>
          <a:bodyPr/>
          <a:lstStyle/>
          <a:p>
            <a:endParaRPr lang="en-US"/>
          </a:p>
        </p:txBody>
      </p:sp>
      <p:sp>
        <p:nvSpPr>
          <p:cNvPr id="12" name="Panel accent"/>
          <p:cNvSpPr/>
          <p:nvPr/>
        </p:nvSpPr>
        <p:spPr>
          <a:xfrm>
            <a:off x="5715000" y="1097280"/>
            <a:ext cx="45720" cy="1371600"/>
          </a:xfrm>
          <a:prstGeom prst="rect">
            <a:avLst/>
          </a:prstGeom>
          <a:solidFill>
            <a:srgbClr val="E2761F"/>
          </a:solidFill>
          <a:ln w="12700">
            <a:solidFill>
              <a:srgbClr val="E2761F"/>
            </a:solidFill>
            <a:prstDash val="solid"/>
          </a:ln>
        </p:spPr>
        <p:txBody>
          <a:bodyPr/>
          <a:lstStyle/>
          <a:p>
            <a:endParaRPr lang="en-US"/>
          </a:p>
        </p:txBody>
      </p:sp>
      <p:sp>
        <p:nvSpPr>
          <p:cNvPr id="13" name="Text 11"/>
          <p:cNvSpPr/>
          <p:nvPr/>
        </p:nvSpPr>
        <p:spPr>
          <a:xfrm>
            <a:off x="5934456" y="1188720"/>
            <a:ext cx="259689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MODELS ON THE HOST</a:t>
            </a:r>
            <a:endParaRPr lang="en-US" sz="1000" dirty="0"/>
          </a:p>
        </p:txBody>
      </p:sp>
      <p:sp>
        <p:nvSpPr>
          <p:cNvPr id="14" name="Text 12"/>
          <p:cNvSpPr/>
          <p:nvPr/>
        </p:nvSpPr>
        <p:spPr>
          <a:xfrm>
            <a:off x="5934456" y="1463040"/>
            <a:ext cx="2596896" cy="89611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Mapping ./models keeps downloaded weights outside the container, so a rebuild never re-downloads gigabytes.</a:t>
            </a:r>
            <a:endParaRPr lang="en-US" sz="950" dirty="0"/>
          </a:p>
        </p:txBody>
      </p:sp>
      <p:sp>
        <p:nvSpPr>
          <p:cNvPr id="15" name="Panel background"/>
          <p:cNvSpPr/>
          <p:nvPr/>
        </p:nvSpPr>
        <p:spPr>
          <a:xfrm>
            <a:off x="5715000" y="2596896"/>
            <a:ext cx="3017520" cy="1371600"/>
          </a:xfrm>
          <a:prstGeom prst="rect">
            <a:avLst/>
          </a:prstGeom>
          <a:solidFill>
            <a:srgbClr val="2A2622"/>
          </a:solidFill>
          <a:ln w="12700">
            <a:solidFill>
              <a:srgbClr val="3A332C"/>
            </a:solidFill>
            <a:prstDash val="solid"/>
          </a:ln>
        </p:spPr>
        <p:txBody>
          <a:bodyPr/>
          <a:lstStyle/>
          <a:p>
            <a:endParaRPr lang="en-US"/>
          </a:p>
        </p:txBody>
      </p:sp>
      <p:sp>
        <p:nvSpPr>
          <p:cNvPr id="16" name="Panel accent"/>
          <p:cNvSpPr/>
          <p:nvPr/>
        </p:nvSpPr>
        <p:spPr>
          <a:xfrm>
            <a:off x="5715000" y="2596896"/>
            <a:ext cx="45720" cy="1371600"/>
          </a:xfrm>
          <a:prstGeom prst="rect">
            <a:avLst/>
          </a:prstGeom>
          <a:solidFill>
            <a:srgbClr val="E2761F"/>
          </a:solidFill>
          <a:ln w="12700">
            <a:solidFill>
              <a:srgbClr val="E2761F"/>
            </a:solidFill>
            <a:prstDash val="solid"/>
          </a:ln>
        </p:spPr>
        <p:txBody>
          <a:bodyPr/>
          <a:lstStyle/>
          <a:p>
            <a:endParaRPr lang="en-US"/>
          </a:p>
        </p:txBody>
      </p:sp>
      <p:sp>
        <p:nvSpPr>
          <p:cNvPr id="17" name="Text 15"/>
          <p:cNvSpPr/>
          <p:nvPr/>
        </p:nvSpPr>
        <p:spPr>
          <a:xfrm>
            <a:off x="5934456" y="2688336"/>
            <a:ext cx="259689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RESTART POLICY</a:t>
            </a:r>
            <a:endParaRPr lang="en-US" sz="1000" dirty="0"/>
          </a:p>
        </p:txBody>
      </p:sp>
      <p:sp>
        <p:nvSpPr>
          <p:cNvPr id="18" name="Text 16"/>
          <p:cNvSpPr/>
          <p:nvPr/>
        </p:nvSpPr>
        <p:spPr>
          <a:xfrm>
            <a:off x="5934456" y="2962656"/>
            <a:ext cx="2596896" cy="89611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unless-stopped brings services back after a reboot but respects a deliberate manual stop.</a:t>
            </a:r>
            <a:endParaRPr lang="en-US" sz="950" dirty="0"/>
          </a:p>
        </p:txBody>
      </p:sp>
      <p:sp>
        <p:nvSpPr>
          <p:cNvPr id="19" name="Text 17"/>
          <p:cNvSpPr/>
          <p:nvPr/>
        </p:nvSpPr>
        <p:spPr>
          <a:xfrm>
            <a:off x="5715000" y="4096512"/>
            <a:ext cx="301752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Drop the ports line once the gateway is the only client.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WALKTHROUGH  ·  4 OF 6</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3 — Memory and the API Gateway</a:t>
            </a:r>
            <a:endParaRPr lang="en-US" sz="2600" dirty="0"/>
          </a:p>
        </p:txBody>
      </p:sp>
      <p:sp>
        <p:nvSpPr>
          <p:cNvPr id="8" name="Configuration block background"/>
          <p:cNvSpPr/>
          <p:nvPr/>
        </p:nvSpPr>
        <p:spPr>
          <a:xfrm>
            <a:off x="411480" y="1097280"/>
            <a:ext cx="5074920" cy="3401568"/>
          </a:xfrm>
          <a:prstGeom prst="rect">
            <a:avLst/>
          </a:prstGeom>
          <a:solidFill>
            <a:srgbClr val="141210"/>
          </a:solidFill>
          <a:ln w="12700">
            <a:solidFill>
              <a:srgbClr val="3A332C"/>
            </a:solidFill>
            <a:prstDash val="solid"/>
          </a:ln>
        </p:spPr>
        <p:txBody>
          <a:bodyPr/>
          <a:lstStyle/>
          <a:p>
            <a:endParaRPr lang="en-US"/>
          </a:p>
        </p:txBody>
      </p:sp>
      <p:sp>
        <p:nvSpPr>
          <p:cNvPr id="9" name="Configuration block accent"/>
          <p:cNvSpPr/>
          <p:nvPr/>
        </p:nvSpPr>
        <p:spPr>
          <a:xfrm>
            <a:off x="411480" y="1097280"/>
            <a:ext cx="50292" cy="3401568"/>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94360" y="1216152"/>
            <a:ext cx="4764024" cy="3163824"/>
          </a:xfrm>
          <a:prstGeom prst="rect">
            <a:avLst/>
          </a:prstGeom>
          <a:noFill/>
        </p:spPr>
        <p:txBody>
          <a:bodyPr wrap="square" lIns="0" tIns="0" rIns="0" bIns="0" rtlCol="0" anchor="t"/>
          <a:lstStyle/>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postgres:</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image: postgres:16</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container_name: postgres</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restart: unless-stopped</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environment:</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POSTGRES_USER: ${POSTGRES_USER}</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POSTGRES_PASSWORD: ${POSTGRES_PASSWORD}</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POSTGRES_DB: ${POSTGRES_DB}</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volumes: ["./data/postgres:/var/lib/postgresql/data"]</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networks: [ai-net]</a:t>
            </a:r>
            <a:endParaRPr lang="en-US" sz="870" dirty="0"/>
          </a:p>
          <a:p>
            <a:pPr marL="0" indent="0">
              <a:lnSpc>
                <a:spcPts val="1305"/>
              </a:lnSpc>
              <a:buNone/>
            </a:pP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gateway:</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build: ./services/gateway</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container_name: gateway</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depends_on: [ollama, qdrant, postgres]</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ports: ["9000:9000"]</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env_file: .env</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networks: [ai-net]</a:t>
            </a:r>
            <a:endParaRPr lang="en-US" sz="870" dirty="0"/>
          </a:p>
        </p:txBody>
      </p:sp>
      <p:sp>
        <p:nvSpPr>
          <p:cNvPr id="11" name="Panel background"/>
          <p:cNvSpPr/>
          <p:nvPr/>
        </p:nvSpPr>
        <p:spPr>
          <a:xfrm>
            <a:off x="5715000" y="1097280"/>
            <a:ext cx="3017520" cy="1463040"/>
          </a:xfrm>
          <a:prstGeom prst="rect">
            <a:avLst/>
          </a:prstGeom>
          <a:solidFill>
            <a:srgbClr val="2A2622"/>
          </a:solidFill>
          <a:ln w="12700">
            <a:solidFill>
              <a:srgbClr val="3A332C"/>
            </a:solidFill>
            <a:prstDash val="solid"/>
          </a:ln>
        </p:spPr>
        <p:txBody>
          <a:bodyPr/>
          <a:lstStyle/>
          <a:p>
            <a:endParaRPr lang="en-US"/>
          </a:p>
        </p:txBody>
      </p:sp>
      <p:sp>
        <p:nvSpPr>
          <p:cNvPr id="12" name="Panel accent"/>
          <p:cNvSpPr/>
          <p:nvPr/>
        </p:nvSpPr>
        <p:spPr>
          <a:xfrm>
            <a:off x="5715000" y="1097280"/>
            <a:ext cx="45720" cy="1463040"/>
          </a:xfrm>
          <a:prstGeom prst="rect">
            <a:avLst/>
          </a:prstGeom>
          <a:solidFill>
            <a:srgbClr val="E2761F"/>
          </a:solidFill>
          <a:ln w="12700">
            <a:solidFill>
              <a:srgbClr val="E2761F"/>
            </a:solidFill>
            <a:prstDash val="solid"/>
          </a:ln>
        </p:spPr>
        <p:txBody>
          <a:bodyPr/>
          <a:lstStyle/>
          <a:p>
            <a:endParaRPr lang="en-US"/>
          </a:p>
        </p:txBody>
      </p:sp>
      <p:sp>
        <p:nvSpPr>
          <p:cNvPr id="13" name="Text 11"/>
          <p:cNvSpPr/>
          <p:nvPr/>
        </p:nvSpPr>
        <p:spPr>
          <a:xfrm>
            <a:off x="5934456" y="1188720"/>
            <a:ext cx="259689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DEPENDS_ON IS ORDER, NOT READINESS</a:t>
            </a:r>
            <a:endParaRPr lang="en-US" sz="1000" dirty="0"/>
          </a:p>
        </p:txBody>
      </p:sp>
      <p:sp>
        <p:nvSpPr>
          <p:cNvPr id="14" name="Text 12"/>
          <p:cNvSpPr/>
          <p:nvPr/>
        </p:nvSpPr>
        <p:spPr>
          <a:xfrm>
            <a:off x="5934456" y="1463040"/>
            <a:ext cx="2596896" cy="98755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It starts containers in sequence but does not wait for them to be ready. Retry connections inside your application.</a:t>
            </a:r>
            <a:endParaRPr lang="en-US" sz="950" dirty="0"/>
          </a:p>
        </p:txBody>
      </p:sp>
      <p:sp>
        <p:nvSpPr>
          <p:cNvPr id="15" name="Panel background"/>
          <p:cNvSpPr/>
          <p:nvPr/>
        </p:nvSpPr>
        <p:spPr>
          <a:xfrm>
            <a:off x="5715000" y="2688336"/>
            <a:ext cx="3017520" cy="1463040"/>
          </a:xfrm>
          <a:prstGeom prst="rect">
            <a:avLst/>
          </a:prstGeom>
          <a:solidFill>
            <a:srgbClr val="2A2622"/>
          </a:solidFill>
          <a:ln w="12700">
            <a:solidFill>
              <a:srgbClr val="3A332C"/>
            </a:solidFill>
            <a:prstDash val="solid"/>
          </a:ln>
        </p:spPr>
        <p:txBody>
          <a:bodyPr/>
          <a:lstStyle/>
          <a:p>
            <a:endParaRPr lang="en-US"/>
          </a:p>
        </p:txBody>
      </p:sp>
      <p:sp>
        <p:nvSpPr>
          <p:cNvPr id="16" name="Panel accent"/>
          <p:cNvSpPr/>
          <p:nvPr/>
        </p:nvSpPr>
        <p:spPr>
          <a:xfrm>
            <a:off x="5715000" y="2688336"/>
            <a:ext cx="45720" cy="1463040"/>
          </a:xfrm>
          <a:prstGeom prst="rect">
            <a:avLst/>
          </a:prstGeom>
          <a:solidFill>
            <a:srgbClr val="E2761F"/>
          </a:solidFill>
          <a:ln w="12700">
            <a:solidFill>
              <a:srgbClr val="E2761F"/>
            </a:solidFill>
            <a:prstDash val="solid"/>
          </a:ln>
        </p:spPr>
        <p:txBody>
          <a:bodyPr/>
          <a:lstStyle/>
          <a:p>
            <a:endParaRPr lang="en-US"/>
          </a:p>
        </p:txBody>
      </p:sp>
      <p:sp>
        <p:nvSpPr>
          <p:cNvPr id="17" name="Text 15"/>
          <p:cNvSpPr/>
          <p:nvPr/>
        </p:nvSpPr>
        <p:spPr>
          <a:xfrm>
            <a:off x="5934456" y="2779776"/>
            <a:ext cx="259689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BUILD VS IMAGE</a:t>
            </a:r>
            <a:endParaRPr lang="en-US" sz="1000" dirty="0"/>
          </a:p>
        </p:txBody>
      </p:sp>
      <p:sp>
        <p:nvSpPr>
          <p:cNvPr id="18" name="Text 16"/>
          <p:cNvSpPr/>
          <p:nvPr/>
        </p:nvSpPr>
        <p:spPr>
          <a:xfrm>
            <a:off x="5934456" y="3054096"/>
            <a:ext cx="2596896" cy="98755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gateway is your own code, so it uses build. Everything else pulls a published image.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WALKTHROUGH  ·  5 OF 6</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4 — Interface, Networks and Volumes</a:t>
            </a:r>
            <a:endParaRPr lang="en-US" sz="2600" dirty="0"/>
          </a:p>
        </p:txBody>
      </p:sp>
      <p:sp>
        <p:nvSpPr>
          <p:cNvPr id="8" name="Configuration block background"/>
          <p:cNvSpPr/>
          <p:nvPr/>
        </p:nvSpPr>
        <p:spPr>
          <a:xfrm>
            <a:off x="411480" y="1097280"/>
            <a:ext cx="5074920" cy="3227832"/>
          </a:xfrm>
          <a:prstGeom prst="rect">
            <a:avLst/>
          </a:prstGeom>
          <a:solidFill>
            <a:srgbClr val="141210"/>
          </a:solidFill>
          <a:ln w="12700">
            <a:solidFill>
              <a:srgbClr val="3A332C"/>
            </a:solidFill>
            <a:prstDash val="solid"/>
          </a:ln>
        </p:spPr>
        <p:txBody>
          <a:bodyPr/>
          <a:lstStyle/>
          <a:p>
            <a:endParaRPr lang="en-US"/>
          </a:p>
        </p:txBody>
      </p:sp>
      <p:sp>
        <p:nvSpPr>
          <p:cNvPr id="9" name="Configuration block accent"/>
          <p:cNvSpPr/>
          <p:nvPr/>
        </p:nvSpPr>
        <p:spPr>
          <a:xfrm>
            <a:off x="411480" y="1097280"/>
            <a:ext cx="50292" cy="3227832"/>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94360" y="1216152"/>
            <a:ext cx="4764024" cy="2990088"/>
          </a:xfrm>
          <a:prstGeom prst="rect">
            <a:avLst/>
          </a:prstGeom>
          <a:noFill/>
        </p:spPr>
        <p:txBody>
          <a:bodyPr wrap="square" lIns="0" tIns="0" rIns="0" bIns="0" rtlCol="0" anchor="t"/>
          <a:lstStyle/>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webui:</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image: ghcr.io/open-webui/open-webui:main</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container_name: webui</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restart: unless-stopped</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ports: ["3000:8080"]</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environment:</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OLLAMA_BASE_URL: http://ollama:11434</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depends_on: [ollama]</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networks: [ai-net]</a:t>
            </a:r>
            <a:endParaRPr lang="en-US" sz="870" dirty="0"/>
          </a:p>
          <a:p>
            <a:pPr marL="0" indent="0">
              <a:lnSpc>
                <a:spcPts val="1305"/>
              </a:lnSpc>
              <a:buNone/>
            </a:pP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networks:</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ai-net:</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driver: bridge</a:t>
            </a:r>
            <a:endParaRPr lang="en-US" sz="870" dirty="0"/>
          </a:p>
          <a:p>
            <a:pPr marL="0" indent="0">
              <a:lnSpc>
                <a:spcPts val="1305"/>
              </a:lnSpc>
              <a:buNone/>
            </a:pP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volumes:</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models:</a:t>
            </a:r>
            <a:endParaRPr lang="en-US" sz="870" dirty="0"/>
          </a:p>
          <a:p>
            <a:pPr marL="0" indent="0">
              <a:lnSpc>
                <a:spcPts val="1305"/>
              </a:lnSpc>
              <a:buNone/>
            </a:pPr>
            <a:r>
              <a:rPr lang="en-US" sz="870" dirty="0">
                <a:solidFill>
                  <a:srgbClr val="E8DCCB"/>
                </a:solidFill>
                <a:latin typeface="Consolas" panose="020B0609020204030204" pitchFamily="34" charset="0"/>
                <a:ea typeface="Consolas" panose="020B0609020204030204" pitchFamily="34" charset="-122"/>
                <a:cs typeface="Consolas" panose="020B0609020204030204" pitchFamily="34" charset="-120"/>
              </a:rPr>
              <a:t>  pgdata:</a:t>
            </a:r>
            <a:endParaRPr lang="en-US" sz="870" dirty="0"/>
          </a:p>
        </p:txBody>
      </p:sp>
      <p:sp>
        <p:nvSpPr>
          <p:cNvPr id="11" name="Panel background"/>
          <p:cNvSpPr/>
          <p:nvPr/>
        </p:nvSpPr>
        <p:spPr>
          <a:xfrm>
            <a:off x="5715000" y="1097280"/>
            <a:ext cx="3017520" cy="1600200"/>
          </a:xfrm>
          <a:prstGeom prst="rect">
            <a:avLst/>
          </a:prstGeom>
          <a:solidFill>
            <a:srgbClr val="2A2622"/>
          </a:solidFill>
          <a:ln w="12700">
            <a:solidFill>
              <a:srgbClr val="3A332C"/>
            </a:solidFill>
            <a:prstDash val="solid"/>
          </a:ln>
        </p:spPr>
        <p:txBody>
          <a:bodyPr/>
          <a:lstStyle/>
          <a:p>
            <a:endParaRPr lang="en-US"/>
          </a:p>
        </p:txBody>
      </p:sp>
      <p:sp>
        <p:nvSpPr>
          <p:cNvPr id="12" name="Panel accent"/>
          <p:cNvSpPr/>
          <p:nvPr/>
        </p:nvSpPr>
        <p:spPr>
          <a:xfrm>
            <a:off x="5715000" y="1097280"/>
            <a:ext cx="45720" cy="1600200"/>
          </a:xfrm>
          <a:prstGeom prst="rect">
            <a:avLst/>
          </a:prstGeom>
          <a:solidFill>
            <a:srgbClr val="E2761F"/>
          </a:solidFill>
          <a:ln w="12700">
            <a:solidFill>
              <a:srgbClr val="E2761F"/>
            </a:solidFill>
            <a:prstDash val="solid"/>
          </a:ln>
        </p:spPr>
        <p:txBody>
          <a:bodyPr/>
          <a:lstStyle/>
          <a:p>
            <a:endParaRPr lang="en-US"/>
          </a:p>
        </p:txBody>
      </p:sp>
      <p:sp>
        <p:nvSpPr>
          <p:cNvPr id="13" name="Text 11"/>
          <p:cNvSpPr/>
          <p:nvPr/>
        </p:nvSpPr>
        <p:spPr>
          <a:xfrm>
            <a:off x="5934456" y="1188720"/>
            <a:ext cx="259689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CONTAINER NAMES ARE HOSTNAMES</a:t>
            </a:r>
            <a:endParaRPr lang="en-US" sz="1000" dirty="0"/>
          </a:p>
        </p:txBody>
      </p:sp>
      <p:sp>
        <p:nvSpPr>
          <p:cNvPr id="14" name="Text 12"/>
          <p:cNvSpPr/>
          <p:nvPr/>
        </p:nvSpPr>
        <p:spPr>
          <a:xfrm>
            <a:off x="5934456" y="1463040"/>
            <a:ext cx="2596896" cy="112471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Inside ai-net, services reach each other by name: http://ollama:11434, postgres:5432, qdrant:6333. No IP addresses required.</a:t>
            </a:r>
            <a:endParaRPr lang="en-US" sz="950" dirty="0"/>
          </a:p>
        </p:txBody>
      </p:sp>
      <p:sp>
        <p:nvSpPr>
          <p:cNvPr id="15" name="Panel background"/>
          <p:cNvSpPr/>
          <p:nvPr/>
        </p:nvSpPr>
        <p:spPr>
          <a:xfrm>
            <a:off x="5715000" y="2825496"/>
            <a:ext cx="3017520" cy="1325880"/>
          </a:xfrm>
          <a:prstGeom prst="rect">
            <a:avLst/>
          </a:prstGeom>
          <a:solidFill>
            <a:srgbClr val="2A2622"/>
          </a:solidFill>
          <a:ln w="12700">
            <a:solidFill>
              <a:srgbClr val="3A332C"/>
            </a:solidFill>
            <a:prstDash val="solid"/>
          </a:ln>
        </p:spPr>
        <p:txBody>
          <a:bodyPr/>
          <a:lstStyle/>
          <a:p>
            <a:endParaRPr lang="en-US"/>
          </a:p>
        </p:txBody>
      </p:sp>
      <p:sp>
        <p:nvSpPr>
          <p:cNvPr id="16" name="Panel accent"/>
          <p:cNvSpPr/>
          <p:nvPr/>
        </p:nvSpPr>
        <p:spPr>
          <a:xfrm>
            <a:off x="5715000" y="2825496"/>
            <a:ext cx="45720" cy="1325880"/>
          </a:xfrm>
          <a:prstGeom prst="rect">
            <a:avLst/>
          </a:prstGeom>
          <a:solidFill>
            <a:srgbClr val="E2761F"/>
          </a:solidFill>
          <a:ln w="12700">
            <a:solidFill>
              <a:srgbClr val="E2761F"/>
            </a:solidFill>
            <a:prstDash val="solid"/>
          </a:ln>
        </p:spPr>
        <p:txBody>
          <a:bodyPr/>
          <a:lstStyle/>
          <a:p>
            <a:endParaRPr lang="en-US"/>
          </a:p>
        </p:txBody>
      </p:sp>
      <p:sp>
        <p:nvSpPr>
          <p:cNvPr id="17" name="Text 15"/>
          <p:cNvSpPr/>
          <p:nvPr/>
        </p:nvSpPr>
        <p:spPr>
          <a:xfrm>
            <a:off x="5934456" y="2916936"/>
            <a:ext cx="259689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PORT MAPPING READS HOST:CONTAINER</a:t>
            </a:r>
            <a:endParaRPr lang="en-US" sz="1000" dirty="0"/>
          </a:p>
        </p:txBody>
      </p:sp>
      <p:sp>
        <p:nvSpPr>
          <p:cNvPr id="18" name="Text 16"/>
          <p:cNvSpPr/>
          <p:nvPr/>
        </p:nvSpPr>
        <p:spPr>
          <a:xfrm>
            <a:off x="5934456" y="3191256"/>
            <a:ext cx="2596896" cy="85039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3000:8080 publishes the container's internal 8080 on host port 3000.</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WALKTHROUGH  ·  6 OF 6</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Step 5 — Start the Stack and Verify</a:t>
            </a:r>
            <a:endParaRPr lang="en-US" sz="2600" dirty="0"/>
          </a:p>
        </p:txBody>
      </p:sp>
      <p:sp>
        <p:nvSpPr>
          <p:cNvPr id="8" name="Text 6"/>
          <p:cNvSpPr/>
          <p:nvPr/>
        </p:nvSpPr>
        <p:spPr>
          <a:xfrm>
            <a:off x="411480" y="1078992"/>
            <a:ext cx="4069080" cy="237744"/>
          </a:xfrm>
          <a:prstGeom prst="rect">
            <a:avLst/>
          </a:prstGeom>
          <a:noFill/>
        </p:spPr>
        <p:txBody>
          <a:bodyPr wrap="square" lIns="0" tIns="0" rIns="0" bIns="0" rtlCol="0" anchor="ctr"/>
          <a:lstStyle/>
          <a:p>
            <a:pPr marL="0" indent="0">
              <a:buNone/>
            </a:pPr>
            <a:r>
              <a:rPr lang="en-US" sz="1100" b="1" dirty="0">
                <a:solidFill>
                  <a:srgbClr val="E2761F"/>
                </a:solidFill>
                <a:latin typeface="Arial" panose="020B0604020202020204" pitchFamily="34" charset="0"/>
                <a:ea typeface="Arial" panose="020B0604020202020204" pitchFamily="34" charset="-122"/>
                <a:cs typeface="Arial" panose="020B0604020202020204" pitchFamily="34" charset="-120"/>
              </a:rPr>
              <a:t>Validate the file, then start it</a:t>
            </a:r>
            <a:endParaRPr lang="en-US" sz="1100" dirty="0"/>
          </a:p>
        </p:txBody>
      </p:sp>
      <p:sp>
        <p:nvSpPr>
          <p:cNvPr id="9" name="Command block background"/>
          <p:cNvSpPr/>
          <p:nvPr/>
        </p:nvSpPr>
        <p:spPr>
          <a:xfrm>
            <a:off x="411480" y="1353312"/>
            <a:ext cx="4069080" cy="982980"/>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353312"/>
            <a:ext cx="50292" cy="982980"/>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481328"/>
            <a:ext cx="3758184" cy="726948"/>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config</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up -d --build</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ps</a:t>
            </a:r>
            <a:endParaRPr lang="en-US" sz="1000" dirty="0"/>
          </a:p>
        </p:txBody>
      </p:sp>
      <p:sp>
        <p:nvSpPr>
          <p:cNvPr id="12" name="Text 10"/>
          <p:cNvSpPr/>
          <p:nvPr/>
        </p:nvSpPr>
        <p:spPr>
          <a:xfrm>
            <a:off x="4663440" y="1078992"/>
            <a:ext cx="4069080" cy="237744"/>
          </a:xfrm>
          <a:prstGeom prst="rect">
            <a:avLst/>
          </a:prstGeom>
          <a:noFill/>
        </p:spPr>
        <p:txBody>
          <a:bodyPr wrap="square" lIns="0" tIns="0" rIns="0" bIns="0" rtlCol="0" anchor="ctr"/>
          <a:lstStyle/>
          <a:p>
            <a:pPr marL="0" indent="0">
              <a:buNone/>
            </a:pPr>
            <a:r>
              <a:rPr lang="en-US" sz="1100" b="1" dirty="0">
                <a:solidFill>
                  <a:srgbClr val="E2761F"/>
                </a:solidFill>
                <a:latin typeface="Arial" panose="020B0604020202020204" pitchFamily="34" charset="0"/>
                <a:ea typeface="Arial" panose="020B0604020202020204" pitchFamily="34" charset="-122"/>
                <a:cs typeface="Arial" panose="020B0604020202020204" pitchFamily="34" charset="-120"/>
              </a:rPr>
              <a:t>Watch it come alive</a:t>
            </a:r>
            <a:endParaRPr lang="en-US" sz="1100" dirty="0"/>
          </a:p>
        </p:txBody>
      </p:sp>
      <p:sp>
        <p:nvSpPr>
          <p:cNvPr id="13" name="Command block background"/>
          <p:cNvSpPr/>
          <p:nvPr/>
        </p:nvSpPr>
        <p:spPr>
          <a:xfrm>
            <a:off x="4663440" y="1353312"/>
            <a:ext cx="4069080" cy="982980"/>
          </a:xfrm>
          <a:prstGeom prst="rect">
            <a:avLst/>
          </a:prstGeom>
          <a:solidFill>
            <a:srgbClr val="141210"/>
          </a:solidFill>
          <a:ln w="12700">
            <a:solidFill>
              <a:srgbClr val="3A332C"/>
            </a:solidFill>
            <a:prstDash val="solid"/>
          </a:ln>
        </p:spPr>
        <p:txBody>
          <a:bodyPr/>
          <a:lstStyle/>
          <a:p>
            <a:endParaRPr lang="en-US"/>
          </a:p>
        </p:txBody>
      </p:sp>
      <p:sp>
        <p:nvSpPr>
          <p:cNvPr id="14" name="Command block accent"/>
          <p:cNvSpPr/>
          <p:nvPr/>
        </p:nvSpPr>
        <p:spPr>
          <a:xfrm>
            <a:off x="4663440" y="1353312"/>
            <a:ext cx="50292" cy="982980"/>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4846320" y="1481328"/>
            <a:ext cx="3758184" cy="726948"/>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logs -f gateway</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http://localhost:9000/health</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http://localhost:6333/collections</a:t>
            </a:r>
            <a:endParaRPr lang="en-US" sz="1000" dirty="0"/>
          </a:p>
        </p:txBody>
      </p:sp>
      <p:sp>
        <p:nvSpPr>
          <p:cNvPr id="16" name="Card"/>
          <p:cNvSpPr/>
          <p:nvPr/>
        </p:nvSpPr>
        <p:spPr>
          <a:xfrm>
            <a:off x="411480" y="2432304"/>
            <a:ext cx="4069080" cy="877824"/>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411480" y="2432304"/>
            <a:ext cx="406908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12648" y="256032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ALL FIVE UP</a:t>
            </a:r>
            <a:endParaRPr lang="en-US" sz="1050" dirty="0"/>
          </a:p>
        </p:txBody>
      </p:sp>
      <p:sp>
        <p:nvSpPr>
          <p:cNvPr id="19" name="Text 17"/>
          <p:cNvSpPr/>
          <p:nvPr/>
        </p:nvSpPr>
        <p:spPr>
          <a:xfrm>
            <a:off x="612648" y="2834640"/>
            <a:ext cx="3666744" cy="36576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docker compose ps shows every service as running or healthy — not restarting.</a:t>
            </a:r>
            <a:endParaRPr lang="en-US" sz="950" dirty="0"/>
          </a:p>
        </p:txBody>
      </p:sp>
      <p:sp>
        <p:nvSpPr>
          <p:cNvPr id="20" name="Card"/>
          <p:cNvSpPr/>
          <p:nvPr/>
        </p:nvSpPr>
        <p:spPr>
          <a:xfrm>
            <a:off x="4663440" y="2432304"/>
            <a:ext cx="4069080" cy="877824"/>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663440" y="2432304"/>
            <a:ext cx="406908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64608" y="256032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NO CRASH LOOPS</a:t>
            </a:r>
            <a:endParaRPr lang="en-US" sz="1050" dirty="0"/>
          </a:p>
        </p:txBody>
      </p:sp>
      <p:sp>
        <p:nvSpPr>
          <p:cNvPr id="23" name="Text 21"/>
          <p:cNvSpPr/>
          <p:nvPr/>
        </p:nvSpPr>
        <p:spPr>
          <a:xfrm>
            <a:off x="4864608" y="2834640"/>
            <a:ext cx="3666744" cy="36576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A container that restarts repeatedly is failing at start-up. Read its logs first.</a:t>
            </a:r>
            <a:endParaRPr lang="en-US" sz="950" dirty="0"/>
          </a:p>
        </p:txBody>
      </p:sp>
      <p:sp>
        <p:nvSpPr>
          <p:cNvPr id="24" name="Card"/>
          <p:cNvSpPr/>
          <p:nvPr/>
        </p:nvSpPr>
        <p:spPr>
          <a:xfrm>
            <a:off x="411480" y="3401568"/>
            <a:ext cx="4069080" cy="877824"/>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411480" y="3401568"/>
            <a:ext cx="406908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12648" y="3529584"/>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ENDPOINTS ANSWER</a:t>
            </a:r>
            <a:endParaRPr lang="en-US" sz="1050" dirty="0"/>
          </a:p>
        </p:txBody>
      </p:sp>
      <p:sp>
        <p:nvSpPr>
          <p:cNvPr id="27" name="Text 25"/>
          <p:cNvSpPr/>
          <p:nvPr/>
        </p:nvSpPr>
        <p:spPr>
          <a:xfrm>
            <a:off x="612648" y="3803904"/>
            <a:ext cx="3666744" cy="36576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Ollama, Qdrant and the gateway each respond on localhost before you test from another machine.</a:t>
            </a:r>
            <a:endParaRPr lang="en-US" sz="950" dirty="0"/>
          </a:p>
        </p:txBody>
      </p:sp>
      <p:sp>
        <p:nvSpPr>
          <p:cNvPr id="28" name="Card"/>
          <p:cNvSpPr/>
          <p:nvPr/>
        </p:nvSpPr>
        <p:spPr>
          <a:xfrm>
            <a:off x="4663440" y="3401568"/>
            <a:ext cx="4069080" cy="877824"/>
          </a:xfrm>
          <a:prstGeom prst="rect">
            <a:avLst/>
          </a:prstGeom>
          <a:solidFill>
            <a:srgbClr val="2A2622"/>
          </a:solidFill>
          <a:ln w="12700">
            <a:solidFill>
              <a:srgbClr val="3A332C"/>
            </a:solidFill>
            <a:prstDash val="solid"/>
          </a:ln>
        </p:spPr>
        <p:txBody>
          <a:bodyPr/>
          <a:lstStyle/>
          <a:p>
            <a:endParaRPr lang="en-US"/>
          </a:p>
        </p:txBody>
      </p:sp>
      <p:sp>
        <p:nvSpPr>
          <p:cNvPr id="29" name="Card accent"/>
          <p:cNvSpPr/>
          <p:nvPr/>
        </p:nvSpPr>
        <p:spPr>
          <a:xfrm>
            <a:off x="4663440" y="3401568"/>
            <a:ext cx="4069080"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64608" y="3529584"/>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DATA PERSISTS</a:t>
            </a:r>
            <a:endParaRPr lang="en-US" sz="1050" dirty="0"/>
          </a:p>
        </p:txBody>
      </p:sp>
      <p:sp>
        <p:nvSpPr>
          <p:cNvPr id="31" name="Text 29"/>
          <p:cNvSpPr/>
          <p:nvPr/>
        </p:nvSpPr>
        <p:spPr>
          <a:xfrm>
            <a:off x="4864608" y="3803904"/>
            <a:ext cx="3666744" cy="36576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Run docker compose down then up -d. Your data must still be there.</a:t>
            </a:r>
            <a:endParaRPr lang="en-US" sz="950" dirty="0"/>
          </a:p>
        </p:txBody>
      </p:sp>
      <p:sp>
        <p:nvSpPr>
          <p:cNvPr id="32" name="Text 30"/>
          <p:cNvSpPr/>
          <p:nvPr/>
        </p:nvSpPr>
        <p:spPr>
          <a:xfrm>
            <a:off x="411480" y="4352544"/>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docker compose config catches YAML and variable mistakes before any container is created — always run it first.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3  ·  COMPOSE COMMAND REFERENCE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Compose Commands You Will Use Daily</a:t>
            </a:r>
            <a:endParaRPr lang="en-US" sz="2600" dirty="0"/>
          </a:p>
        </p:txBody>
      </p:sp>
      <p:sp>
        <p:nvSpPr>
          <p:cNvPr id="8" name="Command row"/>
          <p:cNvSpPr/>
          <p:nvPr/>
        </p:nvSpPr>
        <p:spPr>
          <a:xfrm>
            <a:off x="411480" y="1152144"/>
            <a:ext cx="4069080" cy="566928"/>
          </a:xfrm>
          <a:prstGeom prst="rect">
            <a:avLst/>
          </a:prstGeom>
          <a:solidFill>
            <a:srgbClr val="2A2622"/>
          </a:solidFill>
          <a:ln w="12700">
            <a:solidFill>
              <a:srgbClr val="3A332C"/>
            </a:solidFill>
            <a:prstDash val="solid"/>
          </a:ln>
        </p:spPr>
        <p:txBody>
          <a:bodyPr/>
          <a:lstStyle/>
          <a:p>
            <a:endParaRPr lang="en-US"/>
          </a:p>
        </p:txBody>
      </p:sp>
      <p:sp>
        <p:nvSpPr>
          <p:cNvPr id="9" name="Command row accent"/>
          <p:cNvSpPr/>
          <p:nvPr/>
        </p:nvSpPr>
        <p:spPr>
          <a:xfrm>
            <a:off x="411480" y="1152144"/>
            <a:ext cx="45720" cy="566928"/>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12648" y="1207008"/>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Validate the file</a:t>
            </a:r>
            <a:endParaRPr lang="en-US" sz="950" dirty="0"/>
          </a:p>
        </p:txBody>
      </p:sp>
      <p:sp>
        <p:nvSpPr>
          <p:cNvPr id="11" name="Text 9"/>
          <p:cNvSpPr/>
          <p:nvPr/>
        </p:nvSpPr>
        <p:spPr>
          <a:xfrm>
            <a:off x="612648" y="1426464"/>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config</a:t>
            </a:r>
            <a:endParaRPr lang="en-US" sz="1050" dirty="0"/>
          </a:p>
        </p:txBody>
      </p:sp>
      <p:sp>
        <p:nvSpPr>
          <p:cNvPr id="12" name="Command row"/>
          <p:cNvSpPr/>
          <p:nvPr/>
        </p:nvSpPr>
        <p:spPr>
          <a:xfrm>
            <a:off x="4663440" y="1152144"/>
            <a:ext cx="4069080" cy="566928"/>
          </a:xfrm>
          <a:prstGeom prst="rect">
            <a:avLst/>
          </a:prstGeom>
          <a:solidFill>
            <a:srgbClr val="2A2622"/>
          </a:solidFill>
          <a:ln w="12700">
            <a:solidFill>
              <a:srgbClr val="3A332C"/>
            </a:solidFill>
            <a:prstDash val="solid"/>
          </a:ln>
        </p:spPr>
        <p:txBody>
          <a:bodyPr/>
          <a:lstStyle/>
          <a:p>
            <a:endParaRPr lang="en-US"/>
          </a:p>
        </p:txBody>
      </p:sp>
      <p:sp>
        <p:nvSpPr>
          <p:cNvPr id="13" name="Command row accent"/>
          <p:cNvSpPr/>
          <p:nvPr/>
        </p:nvSpPr>
        <p:spPr>
          <a:xfrm>
            <a:off x="4663440" y="1152144"/>
            <a:ext cx="45720" cy="566928"/>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4864608" y="1207008"/>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Start everything detached</a:t>
            </a:r>
            <a:endParaRPr lang="en-US" sz="950" dirty="0"/>
          </a:p>
        </p:txBody>
      </p:sp>
      <p:sp>
        <p:nvSpPr>
          <p:cNvPr id="15" name="Text 13"/>
          <p:cNvSpPr/>
          <p:nvPr/>
        </p:nvSpPr>
        <p:spPr>
          <a:xfrm>
            <a:off x="4864608" y="1426464"/>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up -d</a:t>
            </a:r>
            <a:endParaRPr lang="en-US" sz="1050" dirty="0"/>
          </a:p>
        </p:txBody>
      </p:sp>
      <p:sp>
        <p:nvSpPr>
          <p:cNvPr id="16" name="Command row"/>
          <p:cNvSpPr/>
          <p:nvPr/>
        </p:nvSpPr>
        <p:spPr>
          <a:xfrm>
            <a:off x="411480" y="1810512"/>
            <a:ext cx="4069080" cy="566928"/>
          </a:xfrm>
          <a:prstGeom prst="rect">
            <a:avLst/>
          </a:prstGeom>
          <a:solidFill>
            <a:srgbClr val="2A2622"/>
          </a:solidFill>
          <a:ln w="12700">
            <a:solidFill>
              <a:srgbClr val="3A332C"/>
            </a:solidFill>
            <a:prstDash val="solid"/>
          </a:ln>
        </p:spPr>
        <p:txBody>
          <a:bodyPr/>
          <a:lstStyle/>
          <a:p>
            <a:endParaRPr lang="en-US"/>
          </a:p>
        </p:txBody>
      </p:sp>
      <p:sp>
        <p:nvSpPr>
          <p:cNvPr id="17" name="Command row accent"/>
          <p:cNvSpPr/>
          <p:nvPr/>
        </p:nvSpPr>
        <p:spPr>
          <a:xfrm>
            <a:off x="411480" y="1810512"/>
            <a:ext cx="45720" cy="566928"/>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12648" y="1865376"/>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Rebuild after code changes</a:t>
            </a:r>
            <a:endParaRPr lang="en-US" sz="950" dirty="0"/>
          </a:p>
        </p:txBody>
      </p:sp>
      <p:sp>
        <p:nvSpPr>
          <p:cNvPr id="19" name="Text 17"/>
          <p:cNvSpPr/>
          <p:nvPr/>
        </p:nvSpPr>
        <p:spPr>
          <a:xfrm>
            <a:off x="612648" y="2084832"/>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up -d --build</a:t>
            </a:r>
            <a:endParaRPr lang="en-US" sz="1050" dirty="0"/>
          </a:p>
        </p:txBody>
      </p:sp>
      <p:sp>
        <p:nvSpPr>
          <p:cNvPr id="20" name="Command row"/>
          <p:cNvSpPr/>
          <p:nvPr/>
        </p:nvSpPr>
        <p:spPr>
          <a:xfrm>
            <a:off x="4663440" y="1810512"/>
            <a:ext cx="4069080" cy="566928"/>
          </a:xfrm>
          <a:prstGeom prst="rect">
            <a:avLst/>
          </a:prstGeom>
          <a:solidFill>
            <a:srgbClr val="2A2622"/>
          </a:solidFill>
          <a:ln w="12700">
            <a:solidFill>
              <a:srgbClr val="3A332C"/>
            </a:solidFill>
            <a:prstDash val="solid"/>
          </a:ln>
        </p:spPr>
        <p:txBody>
          <a:bodyPr/>
          <a:lstStyle/>
          <a:p>
            <a:endParaRPr lang="en-US"/>
          </a:p>
        </p:txBody>
      </p:sp>
      <p:sp>
        <p:nvSpPr>
          <p:cNvPr id="21" name="Command row accent"/>
          <p:cNvSpPr/>
          <p:nvPr/>
        </p:nvSpPr>
        <p:spPr>
          <a:xfrm>
            <a:off x="4663440" y="1810512"/>
            <a:ext cx="45720" cy="566928"/>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64608" y="1865376"/>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Stop and remove containers</a:t>
            </a:r>
            <a:endParaRPr lang="en-US" sz="950" dirty="0"/>
          </a:p>
        </p:txBody>
      </p:sp>
      <p:sp>
        <p:nvSpPr>
          <p:cNvPr id="23" name="Text 21"/>
          <p:cNvSpPr/>
          <p:nvPr/>
        </p:nvSpPr>
        <p:spPr>
          <a:xfrm>
            <a:off x="4864608" y="2084832"/>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down</a:t>
            </a:r>
            <a:endParaRPr lang="en-US" sz="1050" dirty="0"/>
          </a:p>
        </p:txBody>
      </p:sp>
      <p:sp>
        <p:nvSpPr>
          <p:cNvPr id="24" name="Command row"/>
          <p:cNvSpPr/>
          <p:nvPr/>
        </p:nvSpPr>
        <p:spPr>
          <a:xfrm>
            <a:off x="411480" y="2468880"/>
            <a:ext cx="4069080" cy="566928"/>
          </a:xfrm>
          <a:prstGeom prst="rect">
            <a:avLst/>
          </a:prstGeom>
          <a:solidFill>
            <a:srgbClr val="2A2622"/>
          </a:solidFill>
          <a:ln w="12700">
            <a:solidFill>
              <a:srgbClr val="3A332C"/>
            </a:solidFill>
            <a:prstDash val="solid"/>
          </a:ln>
        </p:spPr>
        <p:txBody>
          <a:bodyPr/>
          <a:lstStyle/>
          <a:p>
            <a:endParaRPr lang="en-US"/>
          </a:p>
        </p:txBody>
      </p:sp>
      <p:sp>
        <p:nvSpPr>
          <p:cNvPr id="25" name="Command row accent"/>
          <p:cNvSpPr/>
          <p:nvPr/>
        </p:nvSpPr>
        <p:spPr>
          <a:xfrm>
            <a:off x="411480" y="2468880"/>
            <a:ext cx="45720" cy="566928"/>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12648" y="2523744"/>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Stop but keep containers</a:t>
            </a:r>
            <a:endParaRPr lang="en-US" sz="950" dirty="0"/>
          </a:p>
        </p:txBody>
      </p:sp>
      <p:sp>
        <p:nvSpPr>
          <p:cNvPr id="27" name="Text 25"/>
          <p:cNvSpPr/>
          <p:nvPr/>
        </p:nvSpPr>
        <p:spPr>
          <a:xfrm>
            <a:off x="612648" y="2743200"/>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stop</a:t>
            </a:r>
            <a:endParaRPr lang="en-US" sz="1050" dirty="0"/>
          </a:p>
        </p:txBody>
      </p:sp>
      <p:sp>
        <p:nvSpPr>
          <p:cNvPr id="28" name="Command row"/>
          <p:cNvSpPr/>
          <p:nvPr/>
        </p:nvSpPr>
        <p:spPr>
          <a:xfrm>
            <a:off x="4663440" y="2468880"/>
            <a:ext cx="4069080" cy="566928"/>
          </a:xfrm>
          <a:prstGeom prst="rect">
            <a:avLst/>
          </a:prstGeom>
          <a:solidFill>
            <a:srgbClr val="2A2622"/>
          </a:solidFill>
          <a:ln w="12700">
            <a:solidFill>
              <a:srgbClr val="3A332C"/>
            </a:solidFill>
            <a:prstDash val="solid"/>
          </a:ln>
        </p:spPr>
        <p:txBody>
          <a:bodyPr/>
          <a:lstStyle/>
          <a:p>
            <a:endParaRPr lang="en-US"/>
          </a:p>
        </p:txBody>
      </p:sp>
      <p:sp>
        <p:nvSpPr>
          <p:cNvPr id="29" name="Command row accent"/>
          <p:cNvSpPr/>
          <p:nvPr/>
        </p:nvSpPr>
        <p:spPr>
          <a:xfrm>
            <a:off x="4663440" y="2468880"/>
            <a:ext cx="45720" cy="566928"/>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64608" y="2523744"/>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Restart one service</a:t>
            </a:r>
            <a:endParaRPr lang="en-US" sz="950" dirty="0"/>
          </a:p>
        </p:txBody>
      </p:sp>
      <p:sp>
        <p:nvSpPr>
          <p:cNvPr id="31" name="Text 29"/>
          <p:cNvSpPr/>
          <p:nvPr/>
        </p:nvSpPr>
        <p:spPr>
          <a:xfrm>
            <a:off x="4864608" y="2743200"/>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restart gateway</a:t>
            </a:r>
            <a:endParaRPr lang="en-US" sz="1050" dirty="0"/>
          </a:p>
        </p:txBody>
      </p:sp>
      <p:sp>
        <p:nvSpPr>
          <p:cNvPr id="32" name="Command row"/>
          <p:cNvSpPr/>
          <p:nvPr/>
        </p:nvSpPr>
        <p:spPr>
          <a:xfrm>
            <a:off x="411480" y="3127248"/>
            <a:ext cx="4069080" cy="566928"/>
          </a:xfrm>
          <a:prstGeom prst="rect">
            <a:avLst/>
          </a:prstGeom>
          <a:solidFill>
            <a:srgbClr val="2A2622"/>
          </a:solidFill>
          <a:ln w="12700">
            <a:solidFill>
              <a:srgbClr val="3A332C"/>
            </a:solidFill>
            <a:prstDash val="solid"/>
          </a:ln>
        </p:spPr>
        <p:txBody>
          <a:bodyPr/>
          <a:lstStyle/>
          <a:p>
            <a:endParaRPr lang="en-US"/>
          </a:p>
        </p:txBody>
      </p:sp>
      <p:sp>
        <p:nvSpPr>
          <p:cNvPr id="33" name="Command row accent"/>
          <p:cNvSpPr/>
          <p:nvPr/>
        </p:nvSpPr>
        <p:spPr>
          <a:xfrm>
            <a:off x="411480" y="3127248"/>
            <a:ext cx="45720" cy="566928"/>
          </a:xfrm>
          <a:prstGeom prst="rect">
            <a:avLst/>
          </a:prstGeom>
          <a:solidFill>
            <a:srgbClr val="E2761F"/>
          </a:solidFill>
          <a:ln w="12700">
            <a:solidFill>
              <a:srgbClr val="E2761F"/>
            </a:solidFill>
            <a:prstDash val="solid"/>
          </a:ln>
        </p:spPr>
        <p:txBody>
          <a:bodyPr/>
          <a:lstStyle/>
          <a:p>
            <a:endParaRPr lang="en-US"/>
          </a:p>
        </p:txBody>
      </p:sp>
      <p:sp>
        <p:nvSpPr>
          <p:cNvPr id="34" name="Text 32"/>
          <p:cNvSpPr/>
          <p:nvPr/>
        </p:nvSpPr>
        <p:spPr>
          <a:xfrm>
            <a:off x="612648" y="3182112"/>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Follow logs for one service</a:t>
            </a:r>
            <a:endParaRPr lang="en-US" sz="950" dirty="0"/>
          </a:p>
        </p:txBody>
      </p:sp>
      <p:sp>
        <p:nvSpPr>
          <p:cNvPr id="35" name="Text 33"/>
          <p:cNvSpPr/>
          <p:nvPr/>
        </p:nvSpPr>
        <p:spPr>
          <a:xfrm>
            <a:off x="612648" y="3401568"/>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logs -f qdrant</a:t>
            </a:r>
            <a:endParaRPr lang="en-US" sz="1050" dirty="0"/>
          </a:p>
        </p:txBody>
      </p:sp>
      <p:sp>
        <p:nvSpPr>
          <p:cNvPr id="36" name="Command row"/>
          <p:cNvSpPr/>
          <p:nvPr/>
        </p:nvSpPr>
        <p:spPr>
          <a:xfrm>
            <a:off x="4663440" y="3127248"/>
            <a:ext cx="4069080" cy="566928"/>
          </a:xfrm>
          <a:prstGeom prst="rect">
            <a:avLst/>
          </a:prstGeom>
          <a:solidFill>
            <a:srgbClr val="2A2622"/>
          </a:solidFill>
          <a:ln w="12700">
            <a:solidFill>
              <a:srgbClr val="3A332C"/>
            </a:solidFill>
            <a:prstDash val="solid"/>
          </a:ln>
        </p:spPr>
        <p:txBody>
          <a:bodyPr/>
          <a:lstStyle/>
          <a:p>
            <a:endParaRPr lang="en-US"/>
          </a:p>
        </p:txBody>
      </p:sp>
      <p:sp>
        <p:nvSpPr>
          <p:cNvPr id="37" name="Command row accent"/>
          <p:cNvSpPr/>
          <p:nvPr/>
        </p:nvSpPr>
        <p:spPr>
          <a:xfrm>
            <a:off x="4663440" y="3127248"/>
            <a:ext cx="45720" cy="566928"/>
          </a:xfrm>
          <a:prstGeom prst="rect">
            <a:avLst/>
          </a:prstGeom>
          <a:solidFill>
            <a:srgbClr val="E2761F"/>
          </a:solidFill>
          <a:ln w="12700">
            <a:solidFill>
              <a:srgbClr val="E2761F"/>
            </a:solidFill>
            <a:prstDash val="solid"/>
          </a:ln>
        </p:spPr>
        <p:txBody>
          <a:bodyPr/>
          <a:lstStyle/>
          <a:p>
            <a:endParaRPr lang="en-US"/>
          </a:p>
        </p:txBody>
      </p:sp>
      <p:sp>
        <p:nvSpPr>
          <p:cNvPr id="38" name="Text 36"/>
          <p:cNvSpPr/>
          <p:nvPr/>
        </p:nvSpPr>
        <p:spPr>
          <a:xfrm>
            <a:off x="4864608" y="3182112"/>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Shell into a service</a:t>
            </a:r>
            <a:endParaRPr lang="en-US" sz="950" dirty="0"/>
          </a:p>
        </p:txBody>
      </p:sp>
      <p:sp>
        <p:nvSpPr>
          <p:cNvPr id="39" name="Text 37"/>
          <p:cNvSpPr/>
          <p:nvPr/>
        </p:nvSpPr>
        <p:spPr>
          <a:xfrm>
            <a:off x="4864608" y="3401568"/>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exec gateway bash</a:t>
            </a:r>
            <a:endParaRPr lang="en-US" sz="1050" dirty="0"/>
          </a:p>
        </p:txBody>
      </p:sp>
      <p:sp>
        <p:nvSpPr>
          <p:cNvPr id="40" name="Command row"/>
          <p:cNvSpPr/>
          <p:nvPr/>
        </p:nvSpPr>
        <p:spPr>
          <a:xfrm>
            <a:off x="411480" y="3785616"/>
            <a:ext cx="4069080" cy="566928"/>
          </a:xfrm>
          <a:prstGeom prst="rect">
            <a:avLst/>
          </a:prstGeom>
          <a:solidFill>
            <a:srgbClr val="2A2622"/>
          </a:solidFill>
          <a:ln w="12700">
            <a:solidFill>
              <a:srgbClr val="3A332C"/>
            </a:solidFill>
            <a:prstDash val="solid"/>
          </a:ln>
        </p:spPr>
        <p:txBody>
          <a:bodyPr/>
          <a:lstStyle/>
          <a:p>
            <a:endParaRPr lang="en-US"/>
          </a:p>
        </p:txBody>
      </p:sp>
      <p:sp>
        <p:nvSpPr>
          <p:cNvPr id="41" name="Command row accent"/>
          <p:cNvSpPr/>
          <p:nvPr/>
        </p:nvSpPr>
        <p:spPr>
          <a:xfrm>
            <a:off x="411480" y="3785616"/>
            <a:ext cx="45720" cy="566928"/>
          </a:xfrm>
          <a:prstGeom prst="rect">
            <a:avLst/>
          </a:prstGeom>
          <a:solidFill>
            <a:srgbClr val="E2761F"/>
          </a:solidFill>
          <a:ln w="12700">
            <a:solidFill>
              <a:srgbClr val="E2761F"/>
            </a:solidFill>
            <a:prstDash val="solid"/>
          </a:ln>
        </p:spPr>
        <p:txBody>
          <a:bodyPr/>
          <a:lstStyle/>
          <a:p>
            <a:endParaRPr lang="en-US"/>
          </a:p>
        </p:txBody>
      </p:sp>
      <p:sp>
        <p:nvSpPr>
          <p:cNvPr id="42" name="Text 40"/>
          <p:cNvSpPr/>
          <p:nvPr/>
        </p:nvSpPr>
        <p:spPr>
          <a:xfrm>
            <a:off x="612648" y="3840480"/>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Pull newer images</a:t>
            </a:r>
            <a:endParaRPr lang="en-US" sz="950" dirty="0"/>
          </a:p>
        </p:txBody>
      </p:sp>
      <p:sp>
        <p:nvSpPr>
          <p:cNvPr id="43" name="Text 41"/>
          <p:cNvSpPr/>
          <p:nvPr/>
        </p:nvSpPr>
        <p:spPr>
          <a:xfrm>
            <a:off x="612648" y="4059936"/>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pull</a:t>
            </a:r>
            <a:endParaRPr lang="en-US" sz="1050" dirty="0"/>
          </a:p>
        </p:txBody>
      </p:sp>
      <p:sp>
        <p:nvSpPr>
          <p:cNvPr id="44" name="Command row"/>
          <p:cNvSpPr/>
          <p:nvPr/>
        </p:nvSpPr>
        <p:spPr>
          <a:xfrm>
            <a:off x="4663440" y="3785616"/>
            <a:ext cx="4069080" cy="566928"/>
          </a:xfrm>
          <a:prstGeom prst="rect">
            <a:avLst/>
          </a:prstGeom>
          <a:solidFill>
            <a:srgbClr val="2A2622"/>
          </a:solidFill>
          <a:ln w="12700">
            <a:solidFill>
              <a:srgbClr val="3A332C"/>
            </a:solidFill>
            <a:prstDash val="solid"/>
          </a:ln>
        </p:spPr>
        <p:txBody>
          <a:bodyPr/>
          <a:lstStyle/>
          <a:p>
            <a:endParaRPr lang="en-US"/>
          </a:p>
        </p:txBody>
      </p:sp>
      <p:sp>
        <p:nvSpPr>
          <p:cNvPr id="45" name="Command row accent"/>
          <p:cNvSpPr/>
          <p:nvPr/>
        </p:nvSpPr>
        <p:spPr>
          <a:xfrm>
            <a:off x="4663440" y="3785616"/>
            <a:ext cx="45720" cy="566928"/>
          </a:xfrm>
          <a:prstGeom prst="rect">
            <a:avLst/>
          </a:prstGeom>
          <a:solidFill>
            <a:srgbClr val="E2761F"/>
          </a:solidFill>
          <a:ln w="12700">
            <a:solidFill>
              <a:srgbClr val="E2761F"/>
            </a:solidFill>
            <a:prstDash val="solid"/>
          </a:ln>
        </p:spPr>
        <p:txBody>
          <a:bodyPr/>
          <a:lstStyle/>
          <a:p>
            <a:endParaRPr lang="en-US"/>
          </a:p>
        </p:txBody>
      </p:sp>
      <p:sp>
        <p:nvSpPr>
          <p:cNvPr id="46" name="Text 44"/>
          <p:cNvSpPr/>
          <p:nvPr/>
        </p:nvSpPr>
        <p:spPr>
          <a:xfrm>
            <a:off x="4864608" y="3840480"/>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Show resource usage</a:t>
            </a:r>
            <a:endParaRPr lang="en-US" sz="950" dirty="0"/>
          </a:p>
        </p:txBody>
      </p:sp>
      <p:sp>
        <p:nvSpPr>
          <p:cNvPr id="47" name="Text 45"/>
          <p:cNvSpPr/>
          <p:nvPr/>
        </p:nvSpPr>
        <p:spPr>
          <a:xfrm>
            <a:off x="4864608" y="4059936"/>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stats --no-stream</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04</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4  ·  INSTALL AND TEST THE LANGUAGE MODEL</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Pull the Model, Then Prove It Works</a:t>
            </a:r>
            <a:endParaRPr lang="en-US" sz="2600" dirty="0"/>
          </a:p>
        </p:txBody>
      </p:sp>
      <p:sp>
        <p:nvSpPr>
          <p:cNvPr id="8" name="Text 6"/>
          <p:cNvSpPr/>
          <p:nvPr/>
        </p:nvSpPr>
        <p:spPr>
          <a:xfrm>
            <a:off x="411480" y="1115568"/>
            <a:ext cx="8321040" cy="256032"/>
          </a:xfrm>
          <a:prstGeom prst="rect">
            <a:avLst/>
          </a:prstGeom>
          <a:noFill/>
        </p:spPr>
        <p:txBody>
          <a:bodyPr wrap="square" lIns="0" tIns="0" rIns="0" bIns="0" rtlCol="0" anchor="ctr"/>
          <a:lstStyle/>
          <a:p>
            <a:pPr marL="0" indent="0">
              <a:buNone/>
            </a:pPr>
            <a:r>
              <a:rPr lang="en-US" sz="1250" b="1" dirty="0">
                <a:solidFill>
                  <a:srgbClr val="E2761F"/>
                </a:solidFill>
                <a:latin typeface="Arial" panose="020B0604020202020204" pitchFamily="34" charset="0"/>
                <a:ea typeface="Arial" panose="020B0604020202020204" pitchFamily="34" charset="-122"/>
                <a:cs typeface="Arial" panose="020B0604020202020204" pitchFamily="34" charset="-120"/>
              </a:rPr>
              <a:t>STEP 1 — Pull a multilingual model</a:t>
            </a:r>
            <a:endParaRPr lang="en-US" sz="1250" dirty="0"/>
          </a:p>
        </p:txBody>
      </p:sp>
      <p:sp>
        <p:nvSpPr>
          <p:cNvPr id="9" name="Command block background"/>
          <p:cNvSpPr/>
          <p:nvPr/>
        </p:nvSpPr>
        <p:spPr>
          <a:xfrm>
            <a:off x="411480" y="1408176"/>
            <a:ext cx="8321040" cy="534924"/>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408176"/>
            <a:ext cx="50292" cy="534924"/>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536192"/>
            <a:ext cx="8010144" cy="278892"/>
          </a:xfrm>
          <a:prstGeom prst="rect">
            <a:avLst/>
          </a:prstGeom>
          <a:noFill/>
        </p:spPr>
        <p:txBody>
          <a:bodyPr wrap="square" lIns="0" tIns="0" rIns="0" bIns="0" rtlCol="0" anchor="t"/>
          <a:lstStyle/>
          <a:p>
            <a:pPr marL="0" indent="0">
              <a:lnSpc>
                <a:spcPts val="1705"/>
              </a:lnSpc>
              <a:buNone/>
            </a:pPr>
            <a:r>
              <a:rPr lang="en-US" sz="11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1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exec -it ollama ollama pull qwen2.5:3b-instruct</a:t>
            </a:r>
            <a:endParaRPr lang="en-US" sz="1100" dirty="0"/>
          </a:p>
        </p:txBody>
      </p:sp>
      <p:sp>
        <p:nvSpPr>
          <p:cNvPr id="12" name="Text 10"/>
          <p:cNvSpPr/>
          <p:nvPr/>
        </p:nvSpPr>
        <p:spPr>
          <a:xfrm>
            <a:off x="411480" y="2011680"/>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 7B model is a practical CPU-first starting point. Larger models need far more RAM and benefit strongly from a GPU.</a:t>
            </a:r>
            <a:endParaRPr lang="en-US" sz="1000" dirty="0"/>
          </a:p>
        </p:txBody>
      </p:sp>
      <p:sp>
        <p:nvSpPr>
          <p:cNvPr id="13" name="Text 11"/>
          <p:cNvSpPr/>
          <p:nvPr/>
        </p:nvSpPr>
        <p:spPr>
          <a:xfrm>
            <a:off x="411480" y="2505456"/>
            <a:ext cx="8321040" cy="256032"/>
          </a:xfrm>
          <a:prstGeom prst="rect">
            <a:avLst/>
          </a:prstGeom>
          <a:noFill/>
        </p:spPr>
        <p:txBody>
          <a:bodyPr wrap="square" lIns="0" tIns="0" rIns="0" bIns="0" rtlCol="0" anchor="ctr"/>
          <a:lstStyle/>
          <a:p>
            <a:pPr marL="0" indent="0">
              <a:buNone/>
            </a:pPr>
            <a:r>
              <a:rPr lang="en-US" sz="1250" b="1" dirty="0">
                <a:solidFill>
                  <a:srgbClr val="E2761F"/>
                </a:solidFill>
                <a:latin typeface="Arial" panose="020B0604020202020204" pitchFamily="34" charset="0"/>
                <a:ea typeface="Arial" panose="020B0604020202020204" pitchFamily="34" charset="-122"/>
                <a:cs typeface="Arial" panose="020B0604020202020204" pitchFamily="34" charset="-120"/>
              </a:rPr>
              <a:t>STEP 2 — Run a live test prompt</a:t>
            </a:r>
            <a:endParaRPr lang="en-US" sz="1250" dirty="0"/>
          </a:p>
        </p:txBody>
      </p:sp>
      <p:sp>
        <p:nvSpPr>
          <p:cNvPr id="14" name="Command block background"/>
          <p:cNvSpPr/>
          <p:nvPr/>
        </p:nvSpPr>
        <p:spPr>
          <a:xfrm>
            <a:off x="411480" y="2798064"/>
            <a:ext cx="8321040" cy="534924"/>
          </a:xfrm>
          <a:prstGeom prst="rect">
            <a:avLst/>
          </a:prstGeom>
          <a:solidFill>
            <a:srgbClr val="141210"/>
          </a:solidFill>
          <a:ln w="12700">
            <a:solidFill>
              <a:srgbClr val="3A332C"/>
            </a:solidFill>
            <a:prstDash val="solid"/>
          </a:ln>
        </p:spPr>
        <p:txBody>
          <a:bodyPr/>
          <a:lstStyle/>
          <a:p>
            <a:endParaRPr lang="en-US"/>
          </a:p>
        </p:txBody>
      </p:sp>
      <p:sp>
        <p:nvSpPr>
          <p:cNvPr id="15" name="Command block accent"/>
          <p:cNvSpPr/>
          <p:nvPr/>
        </p:nvSpPr>
        <p:spPr>
          <a:xfrm>
            <a:off x="411480" y="2798064"/>
            <a:ext cx="50292" cy="534924"/>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594360" y="2926080"/>
            <a:ext cx="8010144" cy="278892"/>
          </a:xfrm>
          <a:prstGeom prst="rect">
            <a:avLst/>
          </a:prstGeom>
          <a:noFill/>
        </p:spPr>
        <p:txBody>
          <a:bodyPr wrap="square" lIns="0" tIns="0" rIns="0" bIns="0" rtlCol="0" anchor="t"/>
          <a:lstStyle/>
          <a:p>
            <a:pPr marL="0" indent="0">
              <a:lnSpc>
                <a:spcPts val="1630"/>
              </a:lnSpc>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exec -it ollama ollama </a:t>
            </a:r>
            <a:r>
              <a:rPr lang="en-US" sz="1050">
                <a:solidFill>
                  <a:srgbClr val="E8DCCB"/>
                </a:solidFill>
                <a:latin typeface="Consolas" panose="020B0609020204030204" pitchFamily="34" charset="0"/>
                <a:ea typeface="Consolas" panose="020B0609020204030204" pitchFamily="34" charset="-122"/>
                <a:cs typeface="Consolas" panose="020B0609020204030204" pitchFamily="34" charset="-120"/>
              </a:rPr>
              <a:t>run qwen2.5:3b-instruct </a:t>
            </a:r>
            <a:r>
              <a:rPr lang="en-US" sz="1050" dirty="0">
                <a:solidFill>
                  <a:srgbClr val="E8DCCB"/>
                </a:solidFill>
                <a:latin typeface="Consolas" panose="020B0609020204030204" pitchFamily="34" charset="0"/>
                <a:ea typeface="Consolas" panose="020B0609020204030204" pitchFamily="34" charset="-122"/>
                <a:cs typeface="Consolas" panose="020B0609020204030204" pitchFamily="34" charset="-120"/>
              </a:rPr>
              <a:t>"Hello. Reply in Malay."</a:t>
            </a:r>
            <a:endParaRPr lang="en-US" sz="1050" dirty="0"/>
          </a:p>
        </p:txBody>
      </p:sp>
      <p:sp>
        <p:nvSpPr>
          <p:cNvPr id="17" name="Text 15"/>
          <p:cNvSpPr/>
          <p:nvPr/>
        </p:nvSpPr>
        <p:spPr>
          <a:xfrm>
            <a:off x="411480" y="340156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Test several languages and realistic use cases before wiring the model into your application.</a:t>
            </a:r>
            <a:endParaRPr lang="en-US" sz="1000" dirty="0"/>
          </a:p>
        </p:txBody>
      </p:sp>
      <p:sp>
        <p:nvSpPr>
          <p:cNvPr id="18" name="Checklist panel"/>
          <p:cNvSpPr/>
          <p:nvPr/>
        </p:nvSpPr>
        <p:spPr>
          <a:xfrm>
            <a:off x="411480" y="3858768"/>
            <a:ext cx="8321040" cy="658368"/>
          </a:xfrm>
          <a:prstGeom prst="rect">
            <a:avLst/>
          </a:prstGeom>
          <a:solidFill>
            <a:srgbClr val="2A2622"/>
          </a:solidFill>
          <a:ln w="12700">
            <a:solidFill>
              <a:srgbClr val="3A332C"/>
            </a:solidFill>
            <a:prstDash val="solid"/>
          </a:ln>
        </p:spPr>
        <p:txBody>
          <a:bodyPr/>
          <a:lstStyle/>
          <a:p>
            <a:endParaRPr lang="en-US"/>
          </a:p>
        </p:txBody>
      </p:sp>
      <p:sp>
        <p:nvSpPr>
          <p:cNvPr id="19" name="Text 17"/>
          <p:cNvSpPr/>
          <p:nvPr/>
        </p:nvSpPr>
        <p:spPr>
          <a:xfrm>
            <a:off x="621792" y="3858768"/>
            <a:ext cx="7900416" cy="658368"/>
          </a:xfrm>
          <a:prstGeom prst="rect">
            <a:avLst/>
          </a:prstGeom>
          <a:noFill/>
        </p:spPr>
        <p:txBody>
          <a:bodyPr wrap="square" lIns="0" tIns="0" rIns="0" bIns="0" rtlCol="0" anchor="ctr"/>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CHECK BEFORE MOVING ON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response quality per language  ·  tokens per second on CPU  ·  RAM headroom under load  ·  cold-start time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04</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4  ·  CHOOSING A MODEL</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Picking the Right Model Size</a:t>
            </a:r>
            <a:endParaRPr lang="en-US" sz="2600" dirty="0"/>
          </a:p>
        </p:txBody>
      </p:sp>
      <p:sp>
        <p:nvSpPr>
          <p:cNvPr id="8" name="Text 6"/>
          <p:cNvSpPr/>
          <p:nvPr/>
        </p:nvSpPr>
        <p:spPr>
          <a:xfrm>
            <a:off x="411480" y="1078992"/>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Bigger is not automatically better. On CPU, a responsive small model beats a slow large one.</a:t>
            </a:r>
            <a:endParaRPr lang="en-US" sz="1200" dirty="0"/>
          </a:p>
        </p:txBody>
      </p:sp>
      <p:graphicFrame>
        <p:nvGraphicFramePr>
          <p:cNvPr id="20" name="Table 0"/>
          <p:cNvGraphicFramePr>
            <a:graphicFrameLocks noGrp="1"/>
          </p:cNvGraphicFramePr>
          <p:nvPr/>
        </p:nvGraphicFramePr>
        <p:xfrm>
          <a:off x="411480" y="1426464"/>
          <a:ext cx="8321040" cy="2103120"/>
        </p:xfrm>
        <a:graphic>
          <a:graphicData uri="http://schemas.openxmlformats.org/drawingml/2006/table">
            <a:tbl>
              <a:tblPr/>
              <a:tblGrid>
                <a:gridCol w="1600200"/>
                <a:gridCol w="1188720"/>
                <a:gridCol w="1188720"/>
                <a:gridCol w="4343400"/>
              </a:tblGrid>
              <a:tr h="420624">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MODEL SIZE</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ON DISK</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HOST RAM</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BEST SUITED FOR</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3B class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~2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16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Fast on CPU; simple Q&amp;A, classification, routing</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7B class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~4-5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32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The practical default: good reasoning, workable CPU speed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13-14B class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~8-9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64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Noticeably better quality; slow without a GPU</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30B and above</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20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GPU</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Requires GPU acceleration to be usable interactively</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
        <p:nvSpPr>
          <p:cNvPr id="10" name="Panel background"/>
          <p:cNvSpPr/>
          <p:nvPr/>
        </p:nvSpPr>
        <p:spPr>
          <a:xfrm>
            <a:off x="411480" y="3474720"/>
            <a:ext cx="4069080" cy="950976"/>
          </a:xfrm>
          <a:prstGeom prst="rect">
            <a:avLst/>
          </a:prstGeom>
          <a:solidFill>
            <a:srgbClr val="2A2622"/>
          </a:solidFill>
          <a:ln w="12700">
            <a:solidFill>
              <a:srgbClr val="3A332C"/>
            </a:solidFill>
            <a:prstDash val="solid"/>
          </a:ln>
        </p:spPr>
        <p:txBody>
          <a:bodyPr/>
          <a:lstStyle/>
          <a:p>
            <a:endParaRPr lang="en-US"/>
          </a:p>
        </p:txBody>
      </p:sp>
      <p:sp>
        <p:nvSpPr>
          <p:cNvPr id="11" name="Panel accent"/>
          <p:cNvSpPr/>
          <p:nvPr/>
        </p:nvSpPr>
        <p:spPr>
          <a:xfrm>
            <a:off x="411480" y="3474720"/>
            <a:ext cx="45720" cy="950976"/>
          </a:xfrm>
          <a:prstGeom prst="rect">
            <a:avLst/>
          </a:prstGeom>
          <a:solidFill>
            <a:srgbClr val="E2761F"/>
          </a:solidFill>
          <a:ln w="12700">
            <a:solidFill>
              <a:srgbClr val="E2761F"/>
            </a:solidFill>
            <a:prstDash val="solid"/>
          </a:ln>
        </p:spPr>
        <p:txBody>
          <a:bodyPr/>
          <a:lstStyle/>
          <a:p>
            <a:endParaRPr lang="en-US"/>
          </a:p>
        </p:txBody>
      </p:sp>
      <p:sp>
        <p:nvSpPr>
          <p:cNvPr id="12" name="Text 9"/>
          <p:cNvSpPr/>
          <p:nvPr/>
        </p:nvSpPr>
        <p:spPr>
          <a:xfrm>
            <a:off x="630936" y="3566160"/>
            <a:ext cx="364845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QUANTISATION</a:t>
            </a:r>
            <a:endParaRPr lang="en-US" sz="1000" dirty="0"/>
          </a:p>
        </p:txBody>
      </p:sp>
      <p:sp>
        <p:nvSpPr>
          <p:cNvPr id="13" name="Text 10"/>
          <p:cNvSpPr/>
          <p:nvPr/>
        </p:nvSpPr>
        <p:spPr>
          <a:xfrm>
            <a:off x="630936" y="3840480"/>
            <a:ext cx="3648456" cy="475488"/>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Quantised builds trade a little accuracy for large memory savings. Start with the instruct variant at default quantisation.</a:t>
            </a:r>
            <a:endParaRPr lang="en-US" sz="1000" dirty="0"/>
          </a:p>
        </p:txBody>
      </p:sp>
      <p:sp>
        <p:nvSpPr>
          <p:cNvPr id="14" name="Panel background"/>
          <p:cNvSpPr/>
          <p:nvPr/>
        </p:nvSpPr>
        <p:spPr>
          <a:xfrm>
            <a:off x="4663440" y="3474720"/>
            <a:ext cx="4069080" cy="950976"/>
          </a:xfrm>
          <a:prstGeom prst="rect">
            <a:avLst/>
          </a:prstGeom>
          <a:solidFill>
            <a:srgbClr val="2A2622"/>
          </a:solidFill>
          <a:ln w="12700">
            <a:solidFill>
              <a:srgbClr val="3A332C"/>
            </a:solidFill>
            <a:prstDash val="solid"/>
          </a:ln>
        </p:spPr>
        <p:txBody>
          <a:bodyPr/>
          <a:lstStyle/>
          <a:p>
            <a:endParaRPr lang="en-US"/>
          </a:p>
        </p:txBody>
      </p:sp>
      <p:sp>
        <p:nvSpPr>
          <p:cNvPr id="15" name="Panel accent"/>
          <p:cNvSpPr/>
          <p:nvPr/>
        </p:nvSpPr>
        <p:spPr>
          <a:xfrm>
            <a:off x="4663440" y="3474720"/>
            <a:ext cx="45720" cy="950976"/>
          </a:xfrm>
          <a:prstGeom prst="rect">
            <a:avLst/>
          </a:prstGeom>
          <a:solidFill>
            <a:srgbClr val="E2761F"/>
          </a:solidFill>
          <a:ln w="12700">
            <a:solidFill>
              <a:srgbClr val="E2761F"/>
            </a:solidFill>
            <a:prstDash val="solid"/>
          </a:ln>
        </p:spPr>
        <p:txBody>
          <a:bodyPr/>
          <a:lstStyle/>
          <a:p>
            <a:endParaRPr lang="en-US"/>
          </a:p>
        </p:txBody>
      </p:sp>
      <p:sp>
        <p:nvSpPr>
          <p:cNvPr id="16" name="Text 13"/>
          <p:cNvSpPr/>
          <p:nvPr/>
        </p:nvSpPr>
        <p:spPr>
          <a:xfrm>
            <a:off x="4882896" y="3566160"/>
            <a:ext cx="364845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MULTILINGUAL NEEDS</a:t>
            </a:r>
            <a:endParaRPr lang="en-US" sz="1000" dirty="0"/>
          </a:p>
        </p:txBody>
      </p:sp>
      <p:sp>
        <p:nvSpPr>
          <p:cNvPr id="17" name="Text 14"/>
          <p:cNvSpPr/>
          <p:nvPr/>
        </p:nvSpPr>
        <p:spPr>
          <a:xfrm>
            <a:off x="4882896" y="3840480"/>
            <a:ext cx="3648456" cy="475488"/>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If you serve English, Malay and Tamil, test each language explicitly — general benchmarks will not tell you.</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04</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4  ·  CPU PERFORMANCE TUNING</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Getting Usable Speed Without a GPU</a:t>
            </a:r>
            <a:endParaRPr lang="en-US" sz="2600" dirty="0"/>
          </a:p>
        </p:txBody>
      </p:sp>
      <p:sp>
        <p:nvSpPr>
          <p:cNvPr id="8" name="List row"/>
          <p:cNvSpPr/>
          <p:nvPr/>
        </p:nvSpPr>
        <p:spPr>
          <a:xfrm>
            <a:off x="411480" y="1097280"/>
            <a:ext cx="8321040" cy="457200"/>
          </a:xfrm>
          <a:prstGeom prst="rect">
            <a:avLst/>
          </a:prstGeom>
          <a:solidFill>
            <a:srgbClr val="2A2622"/>
          </a:solidFill>
          <a:ln w="12700">
            <a:solidFill>
              <a:srgbClr val="3A332C"/>
            </a:solidFill>
            <a:prstDash val="solid"/>
          </a:ln>
        </p:spPr>
        <p:txBody>
          <a:bodyPr/>
          <a:lstStyle/>
          <a:p>
            <a:endParaRPr lang="en-US"/>
          </a:p>
        </p:txBody>
      </p:sp>
      <p:sp>
        <p:nvSpPr>
          <p:cNvPr id="9" name="List row accent"/>
          <p:cNvSpPr/>
          <p:nvPr/>
        </p:nvSpPr>
        <p:spPr>
          <a:xfrm>
            <a:off x="411480" y="1097280"/>
            <a:ext cx="45720" cy="45720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30936" y="1097280"/>
            <a:ext cx="16459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THREADS</a:t>
            </a:r>
            <a:endParaRPr lang="en-US" sz="1000" dirty="0"/>
          </a:p>
        </p:txBody>
      </p:sp>
      <p:sp>
        <p:nvSpPr>
          <p:cNvPr id="11" name="Text 9"/>
          <p:cNvSpPr/>
          <p:nvPr/>
        </p:nvSpPr>
        <p:spPr>
          <a:xfrm>
            <a:off x="2331720" y="1097280"/>
            <a:ext cx="61813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Match inference threads to physical cores, not hyper-threads. More threads is not always faster.</a:t>
            </a:r>
            <a:endParaRPr lang="en-US" sz="1000" dirty="0"/>
          </a:p>
        </p:txBody>
      </p:sp>
      <p:sp>
        <p:nvSpPr>
          <p:cNvPr id="12" name="List row"/>
          <p:cNvSpPr/>
          <p:nvPr/>
        </p:nvSpPr>
        <p:spPr>
          <a:xfrm>
            <a:off x="411480" y="1600200"/>
            <a:ext cx="8321040" cy="457200"/>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411480" y="1600200"/>
            <a:ext cx="45720" cy="45720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30936" y="1600200"/>
            <a:ext cx="16459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KEEP-ALIVE</a:t>
            </a:r>
            <a:endParaRPr lang="en-US" sz="1000" dirty="0"/>
          </a:p>
        </p:txBody>
      </p:sp>
      <p:sp>
        <p:nvSpPr>
          <p:cNvPr id="15" name="Text 13"/>
          <p:cNvSpPr/>
          <p:nvPr/>
        </p:nvSpPr>
        <p:spPr>
          <a:xfrm>
            <a:off x="2331720" y="1600200"/>
            <a:ext cx="61813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Hold the model in memory between requests so users do not pay the load cost on every question.</a:t>
            </a:r>
            <a:endParaRPr lang="en-US" sz="1000" dirty="0"/>
          </a:p>
        </p:txBody>
      </p:sp>
      <p:sp>
        <p:nvSpPr>
          <p:cNvPr id="16" name="List row"/>
          <p:cNvSpPr/>
          <p:nvPr/>
        </p:nvSpPr>
        <p:spPr>
          <a:xfrm>
            <a:off x="411480" y="2103120"/>
            <a:ext cx="8321040" cy="457200"/>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411480" y="2103120"/>
            <a:ext cx="45720" cy="45720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0936" y="2103120"/>
            <a:ext cx="16459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CONTEXT SIZE</a:t>
            </a:r>
            <a:endParaRPr lang="en-US" sz="1000" dirty="0"/>
          </a:p>
        </p:txBody>
      </p:sp>
      <p:sp>
        <p:nvSpPr>
          <p:cNvPr id="19" name="Text 17"/>
          <p:cNvSpPr/>
          <p:nvPr/>
        </p:nvSpPr>
        <p:spPr>
          <a:xfrm>
            <a:off x="2331720" y="2103120"/>
            <a:ext cx="61813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Large context windows cost memory and time. Use the smallest window that fits your prompts.</a:t>
            </a:r>
            <a:endParaRPr lang="en-US" sz="1000" dirty="0"/>
          </a:p>
        </p:txBody>
      </p:sp>
      <p:sp>
        <p:nvSpPr>
          <p:cNvPr id="20" name="List row"/>
          <p:cNvSpPr/>
          <p:nvPr/>
        </p:nvSpPr>
        <p:spPr>
          <a:xfrm>
            <a:off x="411480" y="2606040"/>
            <a:ext cx="8321040" cy="457200"/>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411480" y="2606040"/>
            <a:ext cx="45720" cy="45720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30936" y="2606040"/>
            <a:ext cx="16459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SHORTER PROMPTS</a:t>
            </a:r>
            <a:endParaRPr lang="en-US" sz="1000" dirty="0"/>
          </a:p>
        </p:txBody>
      </p:sp>
      <p:sp>
        <p:nvSpPr>
          <p:cNvPr id="23" name="Text 21"/>
          <p:cNvSpPr/>
          <p:nvPr/>
        </p:nvSpPr>
        <p:spPr>
          <a:xfrm>
            <a:off x="2331720" y="2606040"/>
            <a:ext cx="61813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RAG lets you send three relevant chunks instead of an entire document — the single biggest speed win.</a:t>
            </a:r>
            <a:endParaRPr lang="en-US" sz="1000" dirty="0"/>
          </a:p>
        </p:txBody>
      </p:sp>
      <p:sp>
        <p:nvSpPr>
          <p:cNvPr id="24" name="List row"/>
          <p:cNvSpPr/>
          <p:nvPr/>
        </p:nvSpPr>
        <p:spPr>
          <a:xfrm>
            <a:off x="411480" y="3108960"/>
            <a:ext cx="8321040" cy="457200"/>
          </a:xfrm>
          <a:prstGeom prst="rect">
            <a:avLst/>
          </a:prstGeom>
          <a:solidFill>
            <a:srgbClr val="2A2622"/>
          </a:solidFill>
          <a:ln w="12700">
            <a:solidFill>
              <a:srgbClr val="3A332C"/>
            </a:solidFill>
            <a:prstDash val="solid"/>
          </a:ln>
        </p:spPr>
        <p:txBody>
          <a:bodyPr/>
          <a:lstStyle/>
          <a:p>
            <a:endParaRPr lang="en-US"/>
          </a:p>
        </p:txBody>
      </p:sp>
      <p:sp>
        <p:nvSpPr>
          <p:cNvPr id="25" name="List row accent"/>
          <p:cNvSpPr/>
          <p:nvPr/>
        </p:nvSpPr>
        <p:spPr>
          <a:xfrm>
            <a:off x="411480" y="3108960"/>
            <a:ext cx="45720" cy="45720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30936" y="3108960"/>
            <a:ext cx="16459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STREAMING</a:t>
            </a:r>
            <a:endParaRPr lang="en-US" sz="1000" dirty="0"/>
          </a:p>
        </p:txBody>
      </p:sp>
      <p:sp>
        <p:nvSpPr>
          <p:cNvPr id="27" name="Text 25"/>
          <p:cNvSpPr/>
          <p:nvPr/>
        </p:nvSpPr>
        <p:spPr>
          <a:xfrm>
            <a:off x="2331720" y="3108960"/>
            <a:ext cx="61813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Stream tokens to the interface so users see output immediately rather than waiting for the full answer.</a:t>
            </a:r>
            <a:endParaRPr lang="en-US" sz="1000" dirty="0"/>
          </a:p>
        </p:txBody>
      </p:sp>
      <p:sp>
        <p:nvSpPr>
          <p:cNvPr id="28" name="List row"/>
          <p:cNvSpPr/>
          <p:nvPr/>
        </p:nvSpPr>
        <p:spPr>
          <a:xfrm>
            <a:off x="411480" y="3611880"/>
            <a:ext cx="8321040" cy="457200"/>
          </a:xfrm>
          <a:prstGeom prst="rect">
            <a:avLst/>
          </a:prstGeom>
          <a:solidFill>
            <a:srgbClr val="2A2622"/>
          </a:solidFill>
          <a:ln w="12700">
            <a:solidFill>
              <a:srgbClr val="3A332C"/>
            </a:solidFill>
            <a:prstDash val="solid"/>
          </a:ln>
        </p:spPr>
        <p:txBody>
          <a:bodyPr/>
          <a:lstStyle/>
          <a:p>
            <a:endParaRPr lang="en-US"/>
          </a:p>
        </p:txBody>
      </p:sp>
      <p:sp>
        <p:nvSpPr>
          <p:cNvPr id="29" name="List row accent"/>
          <p:cNvSpPr/>
          <p:nvPr/>
        </p:nvSpPr>
        <p:spPr>
          <a:xfrm>
            <a:off x="411480" y="3611880"/>
            <a:ext cx="45720" cy="45720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30936" y="3611880"/>
            <a:ext cx="16459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ONE MODEL LOADED</a:t>
            </a:r>
            <a:endParaRPr lang="en-US" sz="1000" dirty="0"/>
          </a:p>
        </p:txBody>
      </p:sp>
      <p:sp>
        <p:nvSpPr>
          <p:cNvPr id="31" name="Text 29"/>
          <p:cNvSpPr/>
          <p:nvPr/>
        </p:nvSpPr>
        <p:spPr>
          <a:xfrm>
            <a:off x="2331720" y="3611880"/>
            <a:ext cx="61813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Avoid keeping several large models resident at once; swapping thrashes memory.</a:t>
            </a:r>
            <a:endParaRPr lang="en-US" sz="1000" dirty="0"/>
          </a:p>
        </p:txBody>
      </p:sp>
      <p:sp>
        <p:nvSpPr>
          <p:cNvPr id="32" name="Command block background"/>
          <p:cNvSpPr/>
          <p:nvPr/>
        </p:nvSpPr>
        <p:spPr>
          <a:xfrm>
            <a:off x="411480" y="4142232"/>
            <a:ext cx="8321040" cy="534924"/>
          </a:xfrm>
          <a:prstGeom prst="rect">
            <a:avLst/>
          </a:prstGeom>
          <a:solidFill>
            <a:srgbClr val="141210"/>
          </a:solidFill>
          <a:ln w="12700">
            <a:solidFill>
              <a:srgbClr val="3A332C"/>
            </a:solidFill>
            <a:prstDash val="solid"/>
          </a:ln>
        </p:spPr>
        <p:txBody>
          <a:bodyPr/>
          <a:lstStyle/>
          <a:p>
            <a:endParaRPr lang="en-US"/>
          </a:p>
        </p:txBody>
      </p:sp>
      <p:sp>
        <p:nvSpPr>
          <p:cNvPr id="33" name="Command block accent"/>
          <p:cNvSpPr/>
          <p:nvPr/>
        </p:nvSpPr>
        <p:spPr>
          <a:xfrm>
            <a:off x="411480" y="4142232"/>
            <a:ext cx="50292" cy="534924"/>
          </a:xfrm>
          <a:prstGeom prst="rect">
            <a:avLst/>
          </a:prstGeom>
          <a:solidFill>
            <a:srgbClr val="E2761F"/>
          </a:solidFill>
          <a:ln w="12700">
            <a:solidFill>
              <a:srgbClr val="E2761F"/>
            </a:solidFill>
            <a:prstDash val="solid"/>
          </a:ln>
        </p:spPr>
        <p:txBody>
          <a:bodyPr/>
          <a:lstStyle/>
          <a:p>
            <a:endParaRPr lang="en-US"/>
          </a:p>
        </p:txBody>
      </p:sp>
      <p:sp>
        <p:nvSpPr>
          <p:cNvPr id="34" name="Text 32"/>
          <p:cNvSpPr/>
          <p:nvPr/>
        </p:nvSpPr>
        <p:spPr>
          <a:xfrm>
            <a:off x="594360" y="4270248"/>
            <a:ext cx="8010144" cy="278892"/>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stats --no-stream          # watch CPU and memory per container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5  ·  RAG AND KNOWLEDGE RETRIEVAL</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Turn Documents Into Answers</a:t>
            </a:r>
            <a:endParaRPr lang="en-US" sz="2600" dirty="0"/>
          </a:p>
        </p:txBody>
      </p:sp>
      <p:sp>
        <p:nvSpPr>
          <p:cNvPr id="8" name="Text 6"/>
          <p:cNvSpPr/>
          <p:nvPr/>
        </p:nvSpPr>
        <p:spPr>
          <a:xfrm>
            <a:off x="411480" y="1097280"/>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Retrieval-augmented generation gives the model your knowledge without retraining it.</a:t>
            </a:r>
            <a:endParaRPr lang="en-US" sz="1200" dirty="0"/>
          </a:p>
        </p:txBody>
      </p:sp>
      <p:sp>
        <p:nvSpPr>
          <p:cNvPr id="9" name="Step card"/>
          <p:cNvSpPr/>
          <p:nvPr/>
        </p:nvSpPr>
        <p:spPr>
          <a:xfrm>
            <a:off x="411480" y="1408176"/>
            <a:ext cx="2688336" cy="1298448"/>
          </a:xfrm>
          <a:prstGeom prst="rect">
            <a:avLst/>
          </a:prstGeom>
          <a:solidFill>
            <a:srgbClr val="2A2622"/>
          </a:solidFill>
          <a:ln w="12700">
            <a:solidFill>
              <a:srgbClr val="3A332C"/>
            </a:solidFill>
            <a:prstDash val="solid"/>
          </a:ln>
        </p:spPr>
        <p:txBody>
          <a:bodyPr/>
          <a:lstStyle/>
          <a:p>
            <a:endParaRPr lang="en-US"/>
          </a:p>
        </p:txBody>
      </p:sp>
      <p:sp>
        <p:nvSpPr>
          <p:cNvPr id="10" name="Step card accent"/>
          <p:cNvSpPr/>
          <p:nvPr/>
        </p:nvSpPr>
        <p:spPr>
          <a:xfrm>
            <a:off x="411480" y="1408176"/>
            <a:ext cx="2688336" cy="45720"/>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76072" y="1536192"/>
            <a:ext cx="365760" cy="310896"/>
          </a:xfrm>
          <a:prstGeom prst="rect">
            <a:avLst/>
          </a:prstGeom>
          <a:noFill/>
        </p:spPr>
        <p:txBody>
          <a:bodyPr wrap="square" lIns="0" tIns="0" rIns="0" bIns="0" rtlCol="0" anchor="ctr"/>
          <a:lstStyle/>
          <a:p>
            <a:pPr marL="0" indent="0">
              <a:buNone/>
            </a:pPr>
            <a:r>
              <a:rPr lang="en-US" sz="1800" b="1" dirty="0">
                <a:solidFill>
                  <a:srgbClr val="E2761F"/>
                </a:solidFill>
                <a:latin typeface="Arial" panose="020B0604020202020204" pitchFamily="34" charset="0"/>
                <a:ea typeface="Arial" panose="020B0604020202020204" pitchFamily="34" charset="-122"/>
                <a:cs typeface="Arial" panose="020B0604020202020204" pitchFamily="34" charset="-120"/>
              </a:rPr>
              <a:t>1</a:t>
            </a:r>
            <a:endParaRPr lang="en-US" sz="1800" dirty="0"/>
          </a:p>
        </p:txBody>
      </p:sp>
      <p:sp>
        <p:nvSpPr>
          <p:cNvPr id="12" name="Text 10"/>
          <p:cNvSpPr/>
          <p:nvPr/>
        </p:nvSpPr>
        <p:spPr>
          <a:xfrm>
            <a:off x="978408" y="1536192"/>
            <a:ext cx="1920240" cy="310896"/>
          </a:xfrm>
          <a:prstGeom prst="rect">
            <a:avLst/>
          </a:prstGeom>
          <a:noFill/>
        </p:spPr>
        <p:txBody>
          <a:bodyPr wrap="square" lIns="0" tIns="0" rIns="0" bIns="0" rtlCol="0" anchor="ctr"/>
          <a:lstStyle/>
          <a:p>
            <a:pPr marL="0" indent="0">
              <a:buNone/>
            </a:pPr>
            <a:r>
              <a:rPr lang="en-US" sz="110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COLLECT</a:t>
            </a:r>
            <a:endParaRPr lang="en-US" sz="1100" dirty="0"/>
          </a:p>
        </p:txBody>
      </p:sp>
      <p:sp>
        <p:nvSpPr>
          <p:cNvPr id="13" name="Text 11"/>
          <p:cNvSpPr/>
          <p:nvPr/>
        </p:nvSpPr>
        <p:spPr>
          <a:xfrm>
            <a:off x="576072" y="1920240"/>
            <a:ext cx="2359152" cy="694944"/>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Gather approved sources: PDF, DOCX, TXT, transcripts, internal docs.</a:t>
            </a:r>
            <a:endParaRPr lang="en-US" sz="1000" dirty="0"/>
          </a:p>
        </p:txBody>
      </p:sp>
      <p:sp>
        <p:nvSpPr>
          <p:cNvPr id="14" name="Step card"/>
          <p:cNvSpPr/>
          <p:nvPr/>
        </p:nvSpPr>
        <p:spPr>
          <a:xfrm>
            <a:off x="3273552" y="1408176"/>
            <a:ext cx="2688336" cy="1298448"/>
          </a:xfrm>
          <a:prstGeom prst="rect">
            <a:avLst/>
          </a:prstGeom>
          <a:solidFill>
            <a:srgbClr val="2A2622"/>
          </a:solidFill>
          <a:ln w="12700">
            <a:solidFill>
              <a:srgbClr val="3A332C"/>
            </a:solidFill>
            <a:prstDash val="solid"/>
          </a:ln>
        </p:spPr>
        <p:txBody>
          <a:bodyPr/>
          <a:lstStyle/>
          <a:p>
            <a:endParaRPr lang="en-US"/>
          </a:p>
        </p:txBody>
      </p:sp>
      <p:sp>
        <p:nvSpPr>
          <p:cNvPr id="15" name="Step card accent"/>
          <p:cNvSpPr/>
          <p:nvPr/>
        </p:nvSpPr>
        <p:spPr>
          <a:xfrm>
            <a:off x="3273552" y="1408176"/>
            <a:ext cx="2688336" cy="45720"/>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3438144" y="1536192"/>
            <a:ext cx="365760" cy="310896"/>
          </a:xfrm>
          <a:prstGeom prst="rect">
            <a:avLst/>
          </a:prstGeom>
          <a:noFill/>
        </p:spPr>
        <p:txBody>
          <a:bodyPr wrap="square" lIns="0" tIns="0" rIns="0" bIns="0" rtlCol="0" anchor="ctr"/>
          <a:lstStyle/>
          <a:p>
            <a:pPr marL="0" indent="0">
              <a:buNone/>
            </a:pPr>
            <a:r>
              <a:rPr lang="en-US" sz="1800" b="1" dirty="0">
                <a:solidFill>
                  <a:srgbClr val="E2761F"/>
                </a:solidFill>
                <a:latin typeface="Arial" panose="020B0604020202020204" pitchFamily="34" charset="0"/>
                <a:ea typeface="Arial" panose="020B0604020202020204" pitchFamily="34" charset="-122"/>
                <a:cs typeface="Arial" panose="020B0604020202020204" pitchFamily="34" charset="-120"/>
              </a:rPr>
              <a:t>2</a:t>
            </a:r>
            <a:endParaRPr lang="en-US" sz="1800" dirty="0"/>
          </a:p>
        </p:txBody>
      </p:sp>
      <p:sp>
        <p:nvSpPr>
          <p:cNvPr id="17" name="Text 15"/>
          <p:cNvSpPr/>
          <p:nvPr/>
        </p:nvSpPr>
        <p:spPr>
          <a:xfrm>
            <a:off x="3840480" y="1536192"/>
            <a:ext cx="1920240" cy="310896"/>
          </a:xfrm>
          <a:prstGeom prst="rect">
            <a:avLst/>
          </a:prstGeom>
          <a:noFill/>
        </p:spPr>
        <p:txBody>
          <a:bodyPr wrap="square" lIns="0" tIns="0" rIns="0" bIns="0" rtlCol="0" anchor="ctr"/>
          <a:lstStyle/>
          <a:p>
            <a:pPr marL="0" indent="0">
              <a:buNone/>
            </a:pPr>
            <a:r>
              <a:rPr lang="en-US" sz="110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EXTRACT</a:t>
            </a:r>
            <a:endParaRPr lang="en-US" sz="1100" dirty="0"/>
          </a:p>
        </p:txBody>
      </p:sp>
      <p:sp>
        <p:nvSpPr>
          <p:cNvPr id="18" name="Text 16"/>
          <p:cNvSpPr/>
          <p:nvPr/>
        </p:nvSpPr>
        <p:spPr>
          <a:xfrm>
            <a:off x="3438144" y="1920240"/>
            <a:ext cx="2359152" cy="694944"/>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Pull out the raw text and clean away headers, footers and noise.</a:t>
            </a:r>
            <a:endParaRPr lang="en-US" sz="1000" dirty="0"/>
          </a:p>
        </p:txBody>
      </p:sp>
      <p:sp>
        <p:nvSpPr>
          <p:cNvPr id="19" name="Step card"/>
          <p:cNvSpPr/>
          <p:nvPr/>
        </p:nvSpPr>
        <p:spPr>
          <a:xfrm>
            <a:off x="6135624" y="1408176"/>
            <a:ext cx="2688336" cy="1298448"/>
          </a:xfrm>
          <a:prstGeom prst="rect">
            <a:avLst/>
          </a:prstGeom>
          <a:solidFill>
            <a:srgbClr val="2A2622"/>
          </a:solidFill>
          <a:ln w="12700">
            <a:solidFill>
              <a:srgbClr val="3A332C"/>
            </a:solidFill>
            <a:prstDash val="solid"/>
          </a:ln>
        </p:spPr>
        <p:txBody>
          <a:bodyPr/>
          <a:lstStyle/>
          <a:p>
            <a:endParaRPr lang="en-US"/>
          </a:p>
        </p:txBody>
      </p:sp>
      <p:sp>
        <p:nvSpPr>
          <p:cNvPr id="20" name="Step card accent"/>
          <p:cNvSpPr/>
          <p:nvPr/>
        </p:nvSpPr>
        <p:spPr>
          <a:xfrm>
            <a:off x="6135624" y="1408176"/>
            <a:ext cx="2688336" cy="45720"/>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6300216" y="1536192"/>
            <a:ext cx="365760" cy="310896"/>
          </a:xfrm>
          <a:prstGeom prst="rect">
            <a:avLst/>
          </a:prstGeom>
          <a:noFill/>
        </p:spPr>
        <p:txBody>
          <a:bodyPr wrap="square" lIns="0" tIns="0" rIns="0" bIns="0" rtlCol="0" anchor="ctr"/>
          <a:lstStyle/>
          <a:p>
            <a:pPr marL="0" indent="0">
              <a:buNone/>
            </a:pPr>
            <a:r>
              <a:rPr lang="en-US" sz="1800" b="1" dirty="0">
                <a:solidFill>
                  <a:srgbClr val="E2761F"/>
                </a:solidFill>
                <a:latin typeface="Arial" panose="020B0604020202020204" pitchFamily="34" charset="0"/>
                <a:ea typeface="Arial" panose="020B0604020202020204" pitchFamily="34" charset="-122"/>
                <a:cs typeface="Arial" panose="020B0604020202020204" pitchFamily="34" charset="-120"/>
              </a:rPr>
              <a:t>3</a:t>
            </a:r>
            <a:endParaRPr lang="en-US" sz="1800" dirty="0"/>
          </a:p>
        </p:txBody>
      </p:sp>
      <p:sp>
        <p:nvSpPr>
          <p:cNvPr id="22" name="Text 20"/>
          <p:cNvSpPr/>
          <p:nvPr/>
        </p:nvSpPr>
        <p:spPr>
          <a:xfrm>
            <a:off x="6702552" y="1536192"/>
            <a:ext cx="1920240" cy="310896"/>
          </a:xfrm>
          <a:prstGeom prst="rect">
            <a:avLst/>
          </a:prstGeom>
          <a:noFill/>
        </p:spPr>
        <p:txBody>
          <a:bodyPr wrap="square" lIns="0" tIns="0" rIns="0" bIns="0" rtlCol="0" anchor="ctr"/>
          <a:lstStyle/>
          <a:p>
            <a:pPr marL="0" indent="0">
              <a:buNone/>
            </a:pPr>
            <a:r>
              <a:rPr lang="en-US" sz="110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CHUNK</a:t>
            </a:r>
            <a:endParaRPr lang="en-US" sz="1100" dirty="0"/>
          </a:p>
        </p:txBody>
      </p:sp>
      <p:sp>
        <p:nvSpPr>
          <p:cNvPr id="23" name="Text 21"/>
          <p:cNvSpPr/>
          <p:nvPr/>
        </p:nvSpPr>
        <p:spPr>
          <a:xfrm>
            <a:off x="6300216" y="1920240"/>
            <a:ext cx="2359152" cy="694944"/>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Split into small overlapping passages so retrieval stays precise.</a:t>
            </a:r>
            <a:endParaRPr lang="en-US" sz="1000" dirty="0"/>
          </a:p>
        </p:txBody>
      </p:sp>
      <p:sp>
        <p:nvSpPr>
          <p:cNvPr id="24" name="Step card"/>
          <p:cNvSpPr/>
          <p:nvPr/>
        </p:nvSpPr>
        <p:spPr>
          <a:xfrm>
            <a:off x="411480" y="2816352"/>
            <a:ext cx="2688336" cy="1298448"/>
          </a:xfrm>
          <a:prstGeom prst="rect">
            <a:avLst/>
          </a:prstGeom>
          <a:solidFill>
            <a:srgbClr val="2A2622"/>
          </a:solidFill>
          <a:ln w="12700">
            <a:solidFill>
              <a:srgbClr val="3A332C"/>
            </a:solidFill>
            <a:prstDash val="solid"/>
          </a:ln>
        </p:spPr>
        <p:txBody>
          <a:bodyPr/>
          <a:lstStyle/>
          <a:p>
            <a:endParaRPr lang="en-US"/>
          </a:p>
        </p:txBody>
      </p:sp>
      <p:sp>
        <p:nvSpPr>
          <p:cNvPr id="25" name="Step card accent"/>
          <p:cNvSpPr/>
          <p:nvPr/>
        </p:nvSpPr>
        <p:spPr>
          <a:xfrm>
            <a:off x="411480" y="2816352"/>
            <a:ext cx="2688336"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576072" y="2944368"/>
            <a:ext cx="365760" cy="310896"/>
          </a:xfrm>
          <a:prstGeom prst="rect">
            <a:avLst/>
          </a:prstGeom>
          <a:noFill/>
        </p:spPr>
        <p:txBody>
          <a:bodyPr wrap="square" lIns="0" tIns="0" rIns="0" bIns="0" rtlCol="0" anchor="ctr"/>
          <a:lstStyle/>
          <a:p>
            <a:pPr marL="0" indent="0">
              <a:buNone/>
            </a:pPr>
            <a:r>
              <a:rPr lang="en-US" sz="1800" b="1" dirty="0">
                <a:solidFill>
                  <a:srgbClr val="E2761F"/>
                </a:solidFill>
                <a:latin typeface="Arial" panose="020B0604020202020204" pitchFamily="34" charset="0"/>
                <a:ea typeface="Arial" panose="020B0604020202020204" pitchFamily="34" charset="-122"/>
                <a:cs typeface="Arial" panose="020B0604020202020204" pitchFamily="34" charset="-120"/>
              </a:rPr>
              <a:t>4</a:t>
            </a:r>
            <a:endParaRPr lang="en-US" sz="1800" dirty="0"/>
          </a:p>
        </p:txBody>
      </p:sp>
      <p:sp>
        <p:nvSpPr>
          <p:cNvPr id="27" name="Text 25"/>
          <p:cNvSpPr/>
          <p:nvPr/>
        </p:nvSpPr>
        <p:spPr>
          <a:xfrm>
            <a:off x="978408" y="2944368"/>
            <a:ext cx="1920240" cy="310896"/>
          </a:xfrm>
          <a:prstGeom prst="rect">
            <a:avLst/>
          </a:prstGeom>
          <a:noFill/>
        </p:spPr>
        <p:txBody>
          <a:bodyPr wrap="square" lIns="0" tIns="0" rIns="0" bIns="0" rtlCol="0" anchor="ctr"/>
          <a:lstStyle/>
          <a:p>
            <a:pPr marL="0" indent="0">
              <a:buNone/>
            </a:pPr>
            <a:r>
              <a:rPr lang="en-US" sz="110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EMBED</a:t>
            </a:r>
            <a:endParaRPr lang="en-US" sz="1100" dirty="0"/>
          </a:p>
        </p:txBody>
      </p:sp>
      <p:sp>
        <p:nvSpPr>
          <p:cNvPr id="28" name="Text 26"/>
          <p:cNvSpPr/>
          <p:nvPr/>
        </p:nvSpPr>
        <p:spPr>
          <a:xfrm>
            <a:off x="576072" y="3328416"/>
            <a:ext cx="2359152" cy="694944"/>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Convert each chunk into a multilingual embedding vector.</a:t>
            </a:r>
            <a:endParaRPr lang="en-US" sz="1000" dirty="0"/>
          </a:p>
        </p:txBody>
      </p:sp>
      <p:sp>
        <p:nvSpPr>
          <p:cNvPr id="29" name="Step card"/>
          <p:cNvSpPr/>
          <p:nvPr/>
        </p:nvSpPr>
        <p:spPr>
          <a:xfrm>
            <a:off x="3273552" y="2816352"/>
            <a:ext cx="2688336" cy="1298448"/>
          </a:xfrm>
          <a:prstGeom prst="rect">
            <a:avLst/>
          </a:prstGeom>
          <a:solidFill>
            <a:srgbClr val="2A2622"/>
          </a:solidFill>
          <a:ln w="12700">
            <a:solidFill>
              <a:srgbClr val="3A332C"/>
            </a:solidFill>
            <a:prstDash val="solid"/>
          </a:ln>
        </p:spPr>
        <p:txBody>
          <a:bodyPr/>
          <a:lstStyle/>
          <a:p>
            <a:endParaRPr lang="en-US"/>
          </a:p>
        </p:txBody>
      </p:sp>
      <p:sp>
        <p:nvSpPr>
          <p:cNvPr id="30" name="Step card accent"/>
          <p:cNvSpPr/>
          <p:nvPr/>
        </p:nvSpPr>
        <p:spPr>
          <a:xfrm>
            <a:off x="3273552" y="2816352"/>
            <a:ext cx="2688336" cy="45720"/>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3438144" y="2944368"/>
            <a:ext cx="365760" cy="310896"/>
          </a:xfrm>
          <a:prstGeom prst="rect">
            <a:avLst/>
          </a:prstGeom>
          <a:noFill/>
        </p:spPr>
        <p:txBody>
          <a:bodyPr wrap="square" lIns="0" tIns="0" rIns="0" bIns="0" rtlCol="0" anchor="ctr"/>
          <a:lstStyle/>
          <a:p>
            <a:pPr marL="0" indent="0">
              <a:buNone/>
            </a:pPr>
            <a:r>
              <a:rPr lang="en-US" sz="1800" b="1" dirty="0">
                <a:solidFill>
                  <a:srgbClr val="E2761F"/>
                </a:solidFill>
                <a:latin typeface="Arial" panose="020B0604020202020204" pitchFamily="34" charset="0"/>
                <a:ea typeface="Arial" panose="020B0604020202020204" pitchFamily="34" charset="-122"/>
                <a:cs typeface="Arial" panose="020B0604020202020204" pitchFamily="34" charset="-120"/>
              </a:rPr>
              <a:t>5</a:t>
            </a:r>
            <a:endParaRPr lang="en-US" sz="1800" dirty="0"/>
          </a:p>
        </p:txBody>
      </p:sp>
      <p:sp>
        <p:nvSpPr>
          <p:cNvPr id="32" name="Text 30"/>
          <p:cNvSpPr/>
          <p:nvPr/>
        </p:nvSpPr>
        <p:spPr>
          <a:xfrm>
            <a:off x="3840480" y="2944368"/>
            <a:ext cx="1920240" cy="310896"/>
          </a:xfrm>
          <a:prstGeom prst="rect">
            <a:avLst/>
          </a:prstGeom>
          <a:noFill/>
        </p:spPr>
        <p:txBody>
          <a:bodyPr wrap="square" lIns="0" tIns="0" rIns="0" bIns="0" rtlCol="0" anchor="ctr"/>
          <a:lstStyle/>
          <a:p>
            <a:pPr marL="0" indent="0">
              <a:buNone/>
            </a:pPr>
            <a:r>
              <a:rPr lang="en-US" sz="110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STORE</a:t>
            </a:r>
            <a:endParaRPr lang="en-US" sz="1100" dirty="0"/>
          </a:p>
        </p:txBody>
      </p:sp>
      <p:sp>
        <p:nvSpPr>
          <p:cNvPr id="33" name="Text 31"/>
          <p:cNvSpPr/>
          <p:nvPr/>
        </p:nvSpPr>
        <p:spPr>
          <a:xfrm>
            <a:off x="3438144" y="3328416"/>
            <a:ext cx="2359152" cy="694944"/>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Write vectors plus metadata into Qdrant for fast similarity search.</a:t>
            </a:r>
            <a:endParaRPr lang="en-US" sz="1000" dirty="0"/>
          </a:p>
        </p:txBody>
      </p:sp>
      <p:sp>
        <p:nvSpPr>
          <p:cNvPr id="34" name="Step card"/>
          <p:cNvSpPr/>
          <p:nvPr/>
        </p:nvSpPr>
        <p:spPr>
          <a:xfrm>
            <a:off x="6135624" y="2816352"/>
            <a:ext cx="2688336" cy="1298448"/>
          </a:xfrm>
          <a:prstGeom prst="rect">
            <a:avLst/>
          </a:prstGeom>
          <a:solidFill>
            <a:srgbClr val="2A2622"/>
          </a:solidFill>
          <a:ln w="12700">
            <a:solidFill>
              <a:srgbClr val="3A332C"/>
            </a:solidFill>
            <a:prstDash val="solid"/>
          </a:ln>
        </p:spPr>
        <p:txBody>
          <a:bodyPr/>
          <a:lstStyle/>
          <a:p>
            <a:endParaRPr lang="en-US"/>
          </a:p>
        </p:txBody>
      </p:sp>
      <p:sp>
        <p:nvSpPr>
          <p:cNvPr id="35" name="Step card accent"/>
          <p:cNvSpPr/>
          <p:nvPr/>
        </p:nvSpPr>
        <p:spPr>
          <a:xfrm>
            <a:off x="6135624" y="2816352"/>
            <a:ext cx="2688336" cy="45720"/>
          </a:xfrm>
          <a:prstGeom prst="rect">
            <a:avLst/>
          </a:prstGeom>
          <a:solidFill>
            <a:srgbClr val="E2761F"/>
          </a:solidFill>
          <a:ln w="12700">
            <a:solidFill>
              <a:srgbClr val="E2761F"/>
            </a:solidFill>
            <a:prstDash val="solid"/>
          </a:ln>
        </p:spPr>
        <p:txBody>
          <a:bodyPr/>
          <a:lstStyle/>
          <a:p>
            <a:endParaRPr lang="en-US"/>
          </a:p>
        </p:txBody>
      </p:sp>
      <p:sp>
        <p:nvSpPr>
          <p:cNvPr id="36" name="Text 34"/>
          <p:cNvSpPr/>
          <p:nvPr/>
        </p:nvSpPr>
        <p:spPr>
          <a:xfrm>
            <a:off x="6300216" y="2944368"/>
            <a:ext cx="365760" cy="310896"/>
          </a:xfrm>
          <a:prstGeom prst="rect">
            <a:avLst/>
          </a:prstGeom>
          <a:noFill/>
        </p:spPr>
        <p:txBody>
          <a:bodyPr wrap="square" lIns="0" tIns="0" rIns="0" bIns="0" rtlCol="0" anchor="ctr"/>
          <a:lstStyle/>
          <a:p>
            <a:pPr marL="0" indent="0">
              <a:buNone/>
            </a:pPr>
            <a:r>
              <a:rPr lang="en-US" sz="1800" b="1" dirty="0">
                <a:solidFill>
                  <a:srgbClr val="E2761F"/>
                </a:solidFill>
                <a:latin typeface="Arial" panose="020B0604020202020204" pitchFamily="34" charset="0"/>
                <a:ea typeface="Arial" panose="020B0604020202020204" pitchFamily="34" charset="-122"/>
                <a:cs typeface="Arial" panose="020B0604020202020204" pitchFamily="34" charset="-120"/>
              </a:rPr>
              <a:t>6</a:t>
            </a:r>
            <a:endParaRPr lang="en-US" sz="1800" dirty="0"/>
          </a:p>
        </p:txBody>
      </p:sp>
      <p:sp>
        <p:nvSpPr>
          <p:cNvPr id="37" name="Text 35"/>
          <p:cNvSpPr/>
          <p:nvPr/>
        </p:nvSpPr>
        <p:spPr>
          <a:xfrm>
            <a:off x="6702552" y="2944368"/>
            <a:ext cx="1920240" cy="310896"/>
          </a:xfrm>
          <a:prstGeom prst="rect">
            <a:avLst/>
          </a:prstGeom>
          <a:noFill/>
        </p:spPr>
        <p:txBody>
          <a:bodyPr wrap="square" lIns="0" tIns="0" rIns="0" bIns="0" rtlCol="0" anchor="ctr"/>
          <a:lstStyle/>
          <a:p>
            <a:pPr marL="0" indent="0">
              <a:buNone/>
            </a:pPr>
            <a:r>
              <a:rPr lang="en-US" sz="110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RETRIEVE</a:t>
            </a:r>
            <a:endParaRPr lang="en-US" sz="1100" dirty="0"/>
          </a:p>
        </p:txBody>
      </p:sp>
      <p:sp>
        <p:nvSpPr>
          <p:cNvPr id="38" name="Text 36"/>
          <p:cNvSpPr/>
          <p:nvPr/>
        </p:nvSpPr>
        <p:spPr>
          <a:xfrm>
            <a:off x="6300216" y="3328416"/>
            <a:ext cx="2359152" cy="694944"/>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At query time, fetch the top matches and send them with the prompt.</a:t>
            </a:r>
            <a:endParaRPr lang="en-US" sz="1000" dirty="0"/>
          </a:p>
        </p:txBody>
      </p:sp>
      <p:sp>
        <p:nvSpPr>
          <p:cNvPr id="39" name="Text 37"/>
          <p:cNvSpPr/>
          <p:nvPr/>
        </p:nvSpPr>
        <p:spPr>
          <a:xfrm>
            <a:off x="411480" y="4187952"/>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Use a multilingual embedding model so English, Malay, Tamil and mixed-language content retrieve across languages.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5  ·  DOCUMENT PREPARATION AND CHUNKING</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Chunking Decides Retrieval Quality</a:t>
            </a:r>
            <a:endParaRPr lang="en-US" sz="2600" dirty="0"/>
          </a:p>
        </p:txBody>
      </p:sp>
      <p:sp>
        <p:nvSpPr>
          <p:cNvPr id="8" name="Text 6"/>
          <p:cNvSpPr/>
          <p:nvPr/>
        </p:nvSpPr>
        <p:spPr>
          <a:xfrm>
            <a:off x="411480" y="1078992"/>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Most disappointing RAG results are chunking problems, not model problems.</a:t>
            </a:r>
            <a:endParaRPr lang="en-US" sz="1200" dirty="0"/>
          </a:p>
        </p:txBody>
      </p:sp>
      <p:sp>
        <p:nvSpPr>
          <p:cNvPr id="9" name="Card"/>
          <p:cNvSpPr/>
          <p:nvPr/>
        </p:nvSpPr>
        <p:spPr>
          <a:xfrm>
            <a:off x="411480" y="1426464"/>
            <a:ext cx="2688336" cy="1298448"/>
          </a:xfrm>
          <a:prstGeom prst="rect">
            <a:avLst/>
          </a:prstGeom>
          <a:solidFill>
            <a:srgbClr val="2A2622"/>
          </a:solidFill>
          <a:ln w="12700">
            <a:solidFill>
              <a:srgbClr val="3A332C"/>
            </a:solidFill>
            <a:prstDash val="solid"/>
          </a:ln>
        </p:spPr>
        <p:txBody>
          <a:bodyPr/>
          <a:lstStyle/>
          <a:p>
            <a:endParaRPr lang="en-US"/>
          </a:p>
        </p:txBody>
      </p:sp>
      <p:sp>
        <p:nvSpPr>
          <p:cNvPr id="10" name="Card accent"/>
          <p:cNvSpPr/>
          <p:nvPr/>
        </p:nvSpPr>
        <p:spPr>
          <a:xfrm>
            <a:off x="411480" y="1426464"/>
            <a:ext cx="2688336" cy="45720"/>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612648" y="155448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CHUNK SIZE</a:t>
            </a:r>
            <a:endParaRPr lang="en-US" sz="1050" dirty="0"/>
          </a:p>
        </p:txBody>
      </p:sp>
      <p:sp>
        <p:nvSpPr>
          <p:cNvPr id="12" name="Text 10"/>
          <p:cNvSpPr/>
          <p:nvPr/>
        </p:nvSpPr>
        <p:spPr>
          <a:xfrm>
            <a:off x="612648" y="1828800"/>
            <a:ext cx="2286000" cy="78638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Roughly 300-800 tokens. Too small loses context; too large dilutes the match and wastes prompt space.</a:t>
            </a:r>
            <a:endParaRPr lang="en-US" sz="950" dirty="0"/>
          </a:p>
        </p:txBody>
      </p:sp>
      <p:sp>
        <p:nvSpPr>
          <p:cNvPr id="13" name="Card"/>
          <p:cNvSpPr/>
          <p:nvPr/>
        </p:nvSpPr>
        <p:spPr>
          <a:xfrm>
            <a:off x="3273552" y="1426464"/>
            <a:ext cx="2688336" cy="1298448"/>
          </a:xfrm>
          <a:prstGeom prst="rect">
            <a:avLst/>
          </a:prstGeom>
          <a:solidFill>
            <a:srgbClr val="2A2622"/>
          </a:solidFill>
          <a:ln w="12700">
            <a:solidFill>
              <a:srgbClr val="3A332C"/>
            </a:solidFill>
            <a:prstDash val="solid"/>
          </a:ln>
        </p:spPr>
        <p:txBody>
          <a:bodyPr/>
          <a:lstStyle/>
          <a:p>
            <a:endParaRPr lang="en-US"/>
          </a:p>
        </p:txBody>
      </p:sp>
      <p:sp>
        <p:nvSpPr>
          <p:cNvPr id="14" name="Card accent"/>
          <p:cNvSpPr/>
          <p:nvPr/>
        </p:nvSpPr>
        <p:spPr>
          <a:xfrm>
            <a:off x="3273552" y="1426464"/>
            <a:ext cx="2688336" cy="45720"/>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3474720" y="155448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OVERLAP</a:t>
            </a:r>
            <a:endParaRPr lang="en-US" sz="1050" dirty="0"/>
          </a:p>
        </p:txBody>
      </p:sp>
      <p:sp>
        <p:nvSpPr>
          <p:cNvPr id="16" name="Text 14"/>
          <p:cNvSpPr/>
          <p:nvPr/>
        </p:nvSpPr>
        <p:spPr>
          <a:xfrm>
            <a:off x="3474720" y="1828800"/>
            <a:ext cx="2286000" cy="78638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Overlap consecutive chunks by 10-15 percent so a sentence split across a boundary is still retrievable.</a:t>
            </a:r>
            <a:endParaRPr lang="en-US" sz="950" dirty="0"/>
          </a:p>
        </p:txBody>
      </p:sp>
      <p:sp>
        <p:nvSpPr>
          <p:cNvPr id="17" name="Card"/>
          <p:cNvSpPr/>
          <p:nvPr/>
        </p:nvSpPr>
        <p:spPr>
          <a:xfrm>
            <a:off x="6135624" y="1426464"/>
            <a:ext cx="2688336" cy="1298448"/>
          </a:xfrm>
          <a:prstGeom prst="rect">
            <a:avLst/>
          </a:prstGeom>
          <a:solidFill>
            <a:srgbClr val="2A2622"/>
          </a:solidFill>
          <a:ln w="12700">
            <a:solidFill>
              <a:srgbClr val="3A332C"/>
            </a:solidFill>
            <a:prstDash val="solid"/>
          </a:ln>
        </p:spPr>
        <p:txBody>
          <a:bodyPr/>
          <a:lstStyle/>
          <a:p>
            <a:endParaRPr lang="en-US"/>
          </a:p>
        </p:txBody>
      </p:sp>
      <p:sp>
        <p:nvSpPr>
          <p:cNvPr id="18" name="Card accent"/>
          <p:cNvSpPr/>
          <p:nvPr/>
        </p:nvSpPr>
        <p:spPr>
          <a:xfrm>
            <a:off x="6135624" y="1426464"/>
            <a:ext cx="2688336" cy="45720"/>
          </a:xfrm>
          <a:prstGeom prst="rect">
            <a:avLst/>
          </a:prstGeom>
          <a:solidFill>
            <a:srgbClr val="E2761F"/>
          </a:solidFill>
          <a:ln w="12700">
            <a:solidFill>
              <a:srgbClr val="E2761F"/>
            </a:solidFill>
            <a:prstDash val="solid"/>
          </a:ln>
        </p:spPr>
        <p:txBody>
          <a:bodyPr/>
          <a:lstStyle/>
          <a:p>
            <a:endParaRPr lang="en-US"/>
          </a:p>
        </p:txBody>
      </p:sp>
      <p:sp>
        <p:nvSpPr>
          <p:cNvPr id="19" name="Text 17"/>
          <p:cNvSpPr/>
          <p:nvPr/>
        </p:nvSpPr>
        <p:spPr>
          <a:xfrm>
            <a:off x="6336792" y="155448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RESPECT STRUCTURE</a:t>
            </a:r>
            <a:endParaRPr lang="en-US" sz="1050" dirty="0"/>
          </a:p>
        </p:txBody>
      </p:sp>
      <p:sp>
        <p:nvSpPr>
          <p:cNvPr id="20" name="Text 18"/>
          <p:cNvSpPr/>
          <p:nvPr/>
        </p:nvSpPr>
        <p:spPr>
          <a:xfrm>
            <a:off x="6336792" y="1828800"/>
            <a:ext cx="2286000" cy="78638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Split on headings, sections and paragraphs before falling back to a fixed character count.</a:t>
            </a:r>
            <a:endParaRPr lang="en-US" sz="950" dirty="0"/>
          </a:p>
        </p:txBody>
      </p:sp>
      <p:sp>
        <p:nvSpPr>
          <p:cNvPr id="21" name="Card"/>
          <p:cNvSpPr/>
          <p:nvPr/>
        </p:nvSpPr>
        <p:spPr>
          <a:xfrm>
            <a:off x="411480" y="2843784"/>
            <a:ext cx="2688336" cy="1298448"/>
          </a:xfrm>
          <a:prstGeom prst="rect">
            <a:avLst/>
          </a:prstGeom>
          <a:solidFill>
            <a:srgbClr val="2A2622"/>
          </a:solidFill>
          <a:ln w="12700">
            <a:solidFill>
              <a:srgbClr val="3A332C"/>
            </a:solidFill>
            <a:prstDash val="solid"/>
          </a:ln>
        </p:spPr>
        <p:txBody>
          <a:bodyPr/>
          <a:lstStyle/>
          <a:p>
            <a:endParaRPr lang="en-US"/>
          </a:p>
        </p:txBody>
      </p:sp>
      <p:sp>
        <p:nvSpPr>
          <p:cNvPr id="22" name="Card accent"/>
          <p:cNvSpPr/>
          <p:nvPr/>
        </p:nvSpPr>
        <p:spPr>
          <a:xfrm>
            <a:off x="411480" y="2843784"/>
            <a:ext cx="2688336" cy="45720"/>
          </a:xfrm>
          <a:prstGeom prst="rect">
            <a:avLst/>
          </a:prstGeom>
          <a:solidFill>
            <a:srgbClr val="E2761F"/>
          </a:solidFill>
          <a:ln w="12700">
            <a:solidFill>
              <a:srgbClr val="E2761F"/>
            </a:solidFill>
            <a:prstDash val="solid"/>
          </a:ln>
        </p:spPr>
        <p:txBody>
          <a:bodyPr/>
          <a:lstStyle/>
          <a:p>
            <a:endParaRPr lang="en-US"/>
          </a:p>
        </p:txBody>
      </p:sp>
      <p:sp>
        <p:nvSpPr>
          <p:cNvPr id="23" name="Text 21"/>
          <p:cNvSpPr/>
          <p:nvPr/>
        </p:nvSpPr>
        <p:spPr>
          <a:xfrm>
            <a:off x="612648" y="297180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CLEAN FIRST</a:t>
            </a:r>
            <a:endParaRPr lang="en-US" sz="1050" dirty="0"/>
          </a:p>
        </p:txBody>
      </p:sp>
      <p:sp>
        <p:nvSpPr>
          <p:cNvPr id="24" name="Text 22"/>
          <p:cNvSpPr/>
          <p:nvPr/>
        </p:nvSpPr>
        <p:spPr>
          <a:xfrm>
            <a:off x="612648" y="3246120"/>
            <a:ext cx="2286000" cy="78638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Strip repeated headers, footers, page numbers and navigation text — they pollute every embedding.</a:t>
            </a:r>
            <a:endParaRPr lang="en-US" sz="950" dirty="0"/>
          </a:p>
        </p:txBody>
      </p:sp>
      <p:sp>
        <p:nvSpPr>
          <p:cNvPr id="25" name="Card"/>
          <p:cNvSpPr/>
          <p:nvPr/>
        </p:nvSpPr>
        <p:spPr>
          <a:xfrm>
            <a:off x="3273552" y="2843784"/>
            <a:ext cx="2688336" cy="1298448"/>
          </a:xfrm>
          <a:prstGeom prst="rect">
            <a:avLst/>
          </a:prstGeom>
          <a:solidFill>
            <a:srgbClr val="2A2622"/>
          </a:solidFill>
          <a:ln w="12700">
            <a:solidFill>
              <a:srgbClr val="3A332C"/>
            </a:solidFill>
            <a:prstDash val="solid"/>
          </a:ln>
        </p:spPr>
        <p:txBody>
          <a:bodyPr/>
          <a:lstStyle/>
          <a:p>
            <a:endParaRPr lang="en-US"/>
          </a:p>
        </p:txBody>
      </p:sp>
      <p:sp>
        <p:nvSpPr>
          <p:cNvPr id="26" name="Card accent"/>
          <p:cNvSpPr/>
          <p:nvPr/>
        </p:nvSpPr>
        <p:spPr>
          <a:xfrm>
            <a:off x="3273552" y="2843784"/>
            <a:ext cx="2688336" cy="45720"/>
          </a:xfrm>
          <a:prstGeom prst="rect">
            <a:avLst/>
          </a:prstGeom>
          <a:solidFill>
            <a:srgbClr val="E2761F"/>
          </a:solidFill>
          <a:ln w="12700">
            <a:solidFill>
              <a:srgbClr val="E2761F"/>
            </a:solidFill>
            <a:prstDash val="solid"/>
          </a:ln>
        </p:spPr>
        <p:txBody>
          <a:bodyPr/>
          <a:lstStyle/>
          <a:p>
            <a:endParaRPr lang="en-US"/>
          </a:p>
        </p:txBody>
      </p:sp>
      <p:sp>
        <p:nvSpPr>
          <p:cNvPr id="27" name="Text 25"/>
          <p:cNvSpPr/>
          <p:nvPr/>
        </p:nvSpPr>
        <p:spPr>
          <a:xfrm>
            <a:off x="3474720" y="297180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KEEP METADATA</a:t>
            </a:r>
            <a:endParaRPr lang="en-US" sz="1050" dirty="0"/>
          </a:p>
        </p:txBody>
      </p:sp>
      <p:sp>
        <p:nvSpPr>
          <p:cNvPr id="28" name="Text 26"/>
          <p:cNvSpPr/>
          <p:nvPr/>
        </p:nvSpPr>
        <p:spPr>
          <a:xfrm>
            <a:off x="3474720" y="3246120"/>
            <a:ext cx="2286000" cy="78638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Store source file, page or section and date with each chunk so answers can be cited and stale data purged.</a:t>
            </a:r>
            <a:endParaRPr lang="en-US" sz="950" dirty="0"/>
          </a:p>
        </p:txBody>
      </p:sp>
      <p:sp>
        <p:nvSpPr>
          <p:cNvPr id="29" name="Card"/>
          <p:cNvSpPr/>
          <p:nvPr/>
        </p:nvSpPr>
        <p:spPr>
          <a:xfrm>
            <a:off x="6135624" y="2843784"/>
            <a:ext cx="2688336" cy="1298448"/>
          </a:xfrm>
          <a:prstGeom prst="rect">
            <a:avLst/>
          </a:prstGeom>
          <a:solidFill>
            <a:srgbClr val="2A2622"/>
          </a:solidFill>
          <a:ln w="12700">
            <a:solidFill>
              <a:srgbClr val="3A332C"/>
            </a:solidFill>
            <a:prstDash val="solid"/>
          </a:ln>
        </p:spPr>
        <p:txBody>
          <a:bodyPr/>
          <a:lstStyle/>
          <a:p>
            <a:endParaRPr lang="en-US"/>
          </a:p>
        </p:txBody>
      </p:sp>
      <p:sp>
        <p:nvSpPr>
          <p:cNvPr id="30" name="Card accent"/>
          <p:cNvSpPr/>
          <p:nvPr/>
        </p:nvSpPr>
        <p:spPr>
          <a:xfrm>
            <a:off x="6135624" y="2843784"/>
            <a:ext cx="2688336" cy="45720"/>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6336792" y="297180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TABLES AND SCANS</a:t>
            </a:r>
            <a:endParaRPr lang="en-US" sz="1050" dirty="0"/>
          </a:p>
        </p:txBody>
      </p:sp>
      <p:sp>
        <p:nvSpPr>
          <p:cNvPr id="32" name="Text 30"/>
          <p:cNvSpPr/>
          <p:nvPr/>
        </p:nvSpPr>
        <p:spPr>
          <a:xfrm>
            <a:off x="6336792" y="3246120"/>
            <a:ext cx="2286000" cy="78638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Tables need flattening into readable text; scanned PDFs need OCR before they can be embedded at all.</a:t>
            </a:r>
            <a:endParaRPr lang="en-US" sz="950" dirty="0"/>
          </a:p>
        </p:txBody>
      </p:sp>
      <p:sp>
        <p:nvSpPr>
          <p:cNvPr id="33" name="Text 31"/>
          <p:cNvSpPr/>
          <p:nvPr/>
        </p:nvSpPr>
        <p:spPr>
          <a:xfrm>
            <a:off x="411480" y="422452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Re-ingest from scratch whenever you change chunk size or embedding model — mixing schemes silently degrades results.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5  ·  EMBEDDINGS AND MULTILINGUAL RETRIEVAL</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Embeddings Across Languages</a:t>
            </a:r>
            <a:endParaRPr lang="en-US" sz="2600" dirty="0"/>
          </a:p>
        </p:txBody>
      </p:sp>
      <p:sp>
        <p:nvSpPr>
          <p:cNvPr id="8" name="List row"/>
          <p:cNvSpPr/>
          <p:nvPr/>
        </p:nvSpPr>
        <p:spPr>
          <a:xfrm>
            <a:off x="411480" y="1097280"/>
            <a:ext cx="8321040" cy="457200"/>
          </a:xfrm>
          <a:prstGeom prst="rect">
            <a:avLst/>
          </a:prstGeom>
          <a:solidFill>
            <a:srgbClr val="2A2622"/>
          </a:solidFill>
          <a:ln w="12700">
            <a:solidFill>
              <a:srgbClr val="3A332C"/>
            </a:solidFill>
            <a:prstDash val="solid"/>
          </a:ln>
        </p:spPr>
        <p:txBody>
          <a:bodyPr/>
          <a:lstStyle/>
          <a:p>
            <a:endParaRPr lang="en-US"/>
          </a:p>
        </p:txBody>
      </p:sp>
      <p:sp>
        <p:nvSpPr>
          <p:cNvPr id="9" name="List row accent"/>
          <p:cNvSpPr/>
          <p:nvPr/>
        </p:nvSpPr>
        <p:spPr>
          <a:xfrm>
            <a:off x="411480" y="1097280"/>
            <a:ext cx="45720" cy="45720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30936" y="1097280"/>
            <a:ext cx="173736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ONE MODEL ONLY</a:t>
            </a:r>
            <a:endParaRPr lang="en-US" sz="1000" dirty="0"/>
          </a:p>
        </p:txBody>
      </p:sp>
      <p:sp>
        <p:nvSpPr>
          <p:cNvPr id="11" name="Text 9"/>
          <p:cNvSpPr/>
          <p:nvPr/>
        </p:nvSpPr>
        <p:spPr>
          <a:xfrm>
            <a:off x="2423160" y="1097280"/>
            <a:ext cx="608990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Use a single multilingual embedding model for the whole corpus. Vectors from different models are not comparable.</a:t>
            </a:r>
            <a:endParaRPr lang="en-US" sz="1000" dirty="0"/>
          </a:p>
        </p:txBody>
      </p:sp>
      <p:sp>
        <p:nvSpPr>
          <p:cNvPr id="12" name="List row"/>
          <p:cNvSpPr/>
          <p:nvPr/>
        </p:nvSpPr>
        <p:spPr>
          <a:xfrm>
            <a:off x="411480" y="1609344"/>
            <a:ext cx="8321040" cy="457200"/>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411480" y="1609344"/>
            <a:ext cx="45720" cy="45720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30936" y="1609344"/>
            <a:ext cx="173736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CROSS-LANGUAGE</a:t>
            </a:r>
            <a:endParaRPr lang="en-US" sz="1000" dirty="0"/>
          </a:p>
        </p:txBody>
      </p:sp>
      <p:sp>
        <p:nvSpPr>
          <p:cNvPr id="15" name="Text 13"/>
          <p:cNvSpPr/>
          <p:nvPr/>
        </p:nvSpPr>
        <p:spPr>
          <a:xfrm>
            <a:off x="2423160" y="1609344"/>
            <a:ext cx="608990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 good multilingual model lets a Malay question retrieve the relevant English passage, and the reverse.</a:t>
            </a:r>
            <a:endParaRPr lang="en-US" sz="1000" dirty="0"/>
          </a:p>
        </p:txBody>
      </p:sp>
      <p:sp>
        <p:nvSpPr>
          <p:cNvPr id="16" name="List row"/>
          <p:cNvSpPr/>
          <p:nvPr/>
        </p:nvSpPr>
        <p:spPr>
          <a:xfrm>
            <a:off x="411480" y="2121408"/>
            <a:ext cx="8321040" cy="457200"/>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411480" y="2121408"/>
            <a:ext cx="45720" cy="45720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0936" y="2121408"/>
            <a:ext cx="173736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MIXED CONTENT</a:t>
            </a:r>
            <a:endParaRPr lang="en-US" sz="1000" dirty="0"/>
          </a:p>
        </p:txBody>
      </p:sp>
      <p:sp>
        <p:nvSpPr>
          <p:cNvPr id="19" name="Text 17"/>
          <p:cNvSpPr/>
          <p:nvPr/>
        </p:nvSpPr>
        <p:spPr>
          <a:xfrm>
            <a:off x="2423160" y="2121408"/>
            <a:ext cx="608990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Real internal documents mix languages within a paragraph — test with genuine samples, not clean text.</a:t>
            </a:r>
            <a:endParaRPr lang="en-US" sz="1000" dirty="0"/>
          </a:p>
        </p:txBody>
      </p:sp>
      <p:sp>
        <p:nvSpPr>
          <p:cNvPr id="20" name="List row"/>
          <p:cNvSpPr/>
          <p:nvPr/>
        </p:nvSpPr>
        <p:spPr>
          <a:xfrm>
            <a:off x="411480" y="2633472"/>
            <a:ext cx="8321040" cy="457200"/>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411480" y="2633472"/>
            <a:ext cx="45720" cy="45720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30936" y="2633472"/>
            <a:ext cx="173736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DIMENSION LOCK</a:t>
            </a:r>
            <a:endParaRPr lang="en-US" sz="1000" dirty="0"/>
          </a:p>
        </p:txBody>
      </p:sp>
      <p:sp>
        <p:nvSpPr>
          <p:cNvPr id="23" name="Text 21"/>
          <p:cNvSpPr/>
          <p:nvPr/>
        </p:nvSpPr>
        <p:spPr>
          <a:xfrm>
            <a:off x="2423160" y="2633472"/>
            <a:ext cx="608990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The vector dimension is fixed at collection creation. Changing models means creating a new collection.</a:t>
            </a:r>
            <a:endParaRPr lang="en-US" sz="1000" dirty="0"/>
          </a:p>
        </p:txBody>
      </p:sp>
      <p:sp>
        <p:nvSpPr>
          <p:cNvPr id="24" name="List row"/>
          <p:cNvSpPr/>
          <p:nvPr/>
        </p:nvSpPr>
        <p:spPr>
          <a:xfrm>
            <a:off x="411480" y="3145536"/>
            <a:ext cx="8321040" cy="457200"/>
          </a:xfrm>
          <a:prstGeom prst="rect">
            <a:avLst/>
          </a:prstGeom>
          <a:solidFill>
            <a:srgbClr val="2A2622"/>
          </a:solidFill>
          <a:ln w="12700">
            <a:solidFill>
              <a:srgbClr val="3A332C"/>
            </a:solidFill>
            <a:prstDash val="solid"/>
          </a:ln>
        </p:spPr>
        <p:txBody>
          <a:bodyPr/>
          <a:lstStyle/>
          <a:p>
            <a:endParaRPr lang="en-US"/>
          </a:p>
        </p:txBody>
      </p:sp>
      <p:sp>
        <p:nvSpPr>
          <p:cNvPr id="25" name="List row accent"/>
          <p:cNvSpPr/>
          <p:nvPr/>
        </p:nvSpPr>
        <p:spPr>
          <a:xfrm>
            <a:off x="411480" y="3145536"/>
            <a:ext cx="45720" cy="45720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30936" y="3145536"/>
            <a:ext cx="173736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BATCH INGESTION</a:t>
            </a:r>
            <a:endParaRPr lang="en-US" sz="1000" dirty="0"/>
          </a:p>
        </p:txBody>
      </p:sp>
      <p:sp>
        <p:nvSpPr>
          <p:cNvPr id="27" name="Text 25"/>
          <p:cNvSpPr/>
          <p:nvPr/>
        </p:nvSpPr>
        <p:spPr>
          <a:xfrm>
            <a:off x="2423160" y="3145536"/>
            <a:ext cx="608990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Embed in batches and store progress, so a large ingest can resume after an interruption.</a:t>
            </a:r>
            <a:endParaRPr lang="en-US" sz="1000" dirty="0"/>
          </a:p>
        </p:txBody>
      </p:sp>
      <p:sp>
        <p:nvSpPr>
          <p:cNvPr id="28" name="Panel background"/>
          <p:cNvSpPr/>
          <p:nvPr/>
        </p:nvSpPr>
        <p:spPr>
          <a:xfrm>
            <a:off x="411480" y="3685032"/>
            <a:ext cx="8321040" cy="694944"/>
          </a:xfrm>
          <a:prstGeom prst="rect">
            <a:avLst/>
          </a:prstGeom>
          <a:solidFill>
            <a:srgbClr val="2A2622"/>
          </a:solidFill>
          <a:ln w="12700">
            <a:solidFill>
              <a:srgbClr val="3A332C"/>
            </a:solidFill>
            <a:prstDash val="solid"/>
          </a:ln>
        </p:spPr>
        <p:txBody>
          <a:bodyPr/>
          <a:lstStyle/>
          <a:p>
            <a:endParaRPr lang="en-US"/>
          </a:p>
        </p:txBody>
      </p:sp>
      <p:sp>
        <p:nvSpPr>
          <p:cNvPr id="29" name="Panel accent"/>
          <p:cNvSpPr/>
          <p:nvPr/>
        </p:nvSpPr>
        <p:spPr>
          <a:xfrm>
            <a:off x="411480" y="3685032"/>
            <a:ext cx="45720" cy="694944"/>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30936" y="3776472"/>
            <a:ext cx="790041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VERSION YOUR PIPELINE</a:t>
            </a:r>
            <a:endParaRPr lang="en-US" sz="1000" dirty="0"/>
          </a:p>
        </p:txBody>
      </p:sp>
      <p:sp>
        <p:nvSpPr>
          <p:cNvPr id="31" name="Text 29"/>
          <p:cNvSpPr/>
          <p:nvPr/>
        </p:nvSpPr>
        <p:spPr>
          <a:xfrm>
            <a:off x="630936" y="4050792"/>
            <a:ext cx="7900416" cy="21945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Record the embedding model name and chunking parameters alongside the collection. Six months from now this is the only way to know whether a re-ingest is required.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5  ·  QDRANT COLLECTION SETUP</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Creating and Checking the Collection</a:t>
            </a:r>
            <a:endParaRPr lang="en-US" sz="2600" dirty="0"/>
          </a:p>
        </p:txBody>
      </p:sp>
      <p:sp>
        <p:nvSpPr>
          <p:cNvPr id="8" name="Command block background"/>
          <p:cNvSpPr/>
          <p:nvPr/>
        </p:nvSpPr>
        <p:spPr>
          <a:xfrm>
            <a:off x="411480" y="1097280"/>
            <a:ext cx="4937760" cy="1431036"/>
          </a:xfrm>
          <a:prstGeom prst="rect">
            <a:avLst/>
          </a:prstGeom>
          <a:solidFill>
            <a:srgbClr val="141210"/>
          </a:solidFill>
          <a:ln w="12700">
            <a:solidFill>
              <a:srgbClr val="3A332C"/>
            </a:solidFill>
            <a:prstDash val="solid"/>
          </a:ln>
        </p:spPr>
        <p:txBody>
          <a:bodyPr/>
          <a:lstStyle/>
          <a:p>
            <a:endParaRPr lang="en-US"/>
          </a:p>
        </p:txBody>
      </p:sp>
      <p:sp>
        <p:nvSpPr>
          <p:cNvPr id="9" name="Command block accent"/>
          <p:cNvSpPr/>
          <p:nvPr/>
        </p:nvSpPr>
        <p:spPr>
          <a:xfrm>
            <a:off x="411480" y="1097280"/>
            <a:ext cx="50292" cy="1431036"/>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94360" y="1225296"/>
            <a:ext cx="4626864" cy="1175004"/>
          </a:xfrm>
          <a:prstGeom prst="rect">
            <a:avLst/>
          </a:prstGeom>
          <a:noFill/>
        </p:spPr>
        <p:txBody>
          <a:bodyPr wrap="square" lIns="0" tIns="0" rIns="0" bIns="0" rtlCol="0" anchor="t"/>
          <a:lstStyle/>
          <a:p>
            <a:pPr marL="0" indent="0">
              <a:lnSpc>
                <a:spcPts val="1395"/>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-X PUT http://localhost:6333/collections/knowledge \</a:t>
            </a:r>
            <a:endParaRPr lang="en-US" sz="900" dirty="0"/>
          </a:p>
          <a:p>
            <a:pPr marL="0" indent="0">
              <a:lnSpc>
                <a:spcPts val="1395"/>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-H 'Content-Type: application/json' \</a:t>
            </a:r>
            <a:endParaRPr lang="en-US" sz="900" dirty="0"/>
          </a:p>
          <a:p>
            <a:pPr marL="0" indent="0">
              <a:lnSpc>
                <a:spcPts val="1395"/>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-d '{"vectors":{"size":768,"distance":"Cosine"}}'</a:t>
            </a:r>
            <a:endParaRPr lang="en-US" sz="900" dirty="0"/>
          </a:p>
          <a:p>
            <a:pPr marL="0" indent="0">
              <a:lnSpc>
                <a:spcPts val="1395"/>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endParaRPr lang="en-US" sz="900" dirty="0"/>
          </a:p>
          <a:p>
            <a:pPr marL="0" indent="0">
              <a:lnSpc>
                <a:spcPts val="1395"/>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http://localhost:6333/collections/knowledge</a:t>
            </a:r>
            <a:endParaRPr lang="en-US" sz="900" dirty="0"/>
          </a:p>
        </p:txBody>
      </p:sp>
      <p:sp>
        <p:nvSpPr>
          <p:cNvPr id="11" name="Panel background"/>
          <p:cNvSpPr/>
          <p:nvPr/>
        </p:nvSpPr>
        <p:spPr>
          <a:xfrm>
            <a:off x="5532120" y="1097280"/>
            <a:ext cx="3200400" cy="1280160"/>
          </a:xfrm>
          <a:prstGeom prst="rect">
            <a:avLst/>
          </a:prstGeom>
          <a:solidFill>
            <a:srgbClr val="2A2622"/>
          </a:solidFill>
          <a:ln w="12700">
            <a:solidFill>
              <a:srgbClr val="3A332C"/>
            </a:solidFill>
            <a:prstDash val="solid"/>
          </a:ln>
        </p:spPr>
        <p:txBody>
          <a:bodyPr/>
          <a:lstStyle/>
          <a:p>
            <a:endParaRPr lang="en-US"/>
          </a:p>
        </p:txBody>
      </p:sp>
      <p:sp>
        <p:nvSpPr>
          <p:cNvPr id="12" name="Panel accent"/>
          <p:cNvSpPr/>
          <p:nvPr/>
        </p:nvSpPr>
        <p:spPr>
          <a:xfrm>
            <a:off x="5532120" y="1097280"/>
            <a:ext cx="45720" cy="1280160"/>
          </a:xfrm>
          <a:prstGeom prst="rect">
            <a:avLst/>
          </a:prstGeom>
          <a:solidFill>
            <a:srgbClr val="E2761F"/>
          </a:solidFill>
          <a:ln w="12700">
            <a:solidFill>
              <a:srgbClr val="E2761F"/>
            </a:solidFill>
            <a:prstDash val="solid"/>
          </a:ln>
        </p:spPr>
        <p:txBody>
          <a:bodyPr/>
          <a:lstStyle/>
          <a:p>
            <a:endParaRPr lang="en-US"/>
          </a:p>
        </p:txBody>
      </p:sp>
      <p:sp>
        <p:nvSpPr>
          <p:cNvPr id="13" name="Text 11"/>
          <p:cNvSpPr/>
          <p:nvPr/>
        </p:nvSpPr>
        <p:spPr>
          <a:xfrm>
            <a:off x="5751576" y="1188720"/>
            <a:ext cx="277977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SIZE MUST MATCH</a:t>
            </a:r>
            <a:endParaRPr lang="en-US" sz="1000" dirty="0"/>
          </a:p>
        </p:txBody>
      </p:sp>
      <p:sp>
        <p:nvSpPr>
          <p:cNvPr id="14" name="Text 12"/>
          <p:cNvSpPr/>
          <p:nvPr/>
        </p:nvSpPr>
        <p:spPr>
          <a:xfrm>
            <a:off x="5751576" y="1463040"/>
            <a:ext cx="2779776" cy="80467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vectors size has to equal your embedding model's output dimension exactly, or every insert fails.</a:t>
            </a:r>
            <a:endParaRPr lang="en-US" sz="950" dirty="0"/>
          </a:p>
        </p:txBody>
      </p:sp>
      <p:sp>
        <p:nvSpPr>
          <p:cNvPr id="15" name="Panel background"/>
          <p:cNvSpPr/>
          <p:nvPr/>
        </p:nvSpPr>
        <p:spPr>
          <a:xfrm>
            <a:off x="5532120" y="2505456"/>
            <a:ext cx="3200400" cy="1280160"/>
          </a:xfrm>
          <a:prstGeom prst="rect">
            <a:avLst/>
          </a:prstGeom>
          <a:solidFill>
            <a:srgbClr val="2A2622"/>
          </a:solidFill>
          <a:ln w="12700">
            <a:solidFill>
              <a:srgbClr val="3A332C"/>
            </a:solidFill>
            <a:prstDash val="solid"/>
          </a:ln>
        </p:spPr>
        <p:txBody>
          <a:bodyPr/>
          <a:lstStyle/>
          <a:p>
            <a:endParaRPr lang="en-US"/>
          </a:p>
        </p:txBody>
      </p:sp>
      <p:sp>
        <p:nvSpPr>
          <p:cNvPr id="16" name="Panel accent"/>
          <p:cNvSpPr/>
          <p:nvPr/>
        </p:nvSpPr>
        <p:spPr>
          <a:xfrm>
            <a:off x="5532120" y="2505456"/>
            <a:ext cx="45720" cy="1280160"/>
          </a:xfrm>
          <a:prstGeom prst="rect">
            <a:avLst/>
          </a:prstGeom>
          <a:solidFill>
            <a:srgbClr val="E2761F"/>
          </a:solidFill>
          <a:ln w="12700">
            <a:solidFill>
              <a:srgbClr val="E2761F"/>
            </a:solidFill>
            <a:prstDash val="solid"/>
          </a:ln>
        </p:spPr>
        <p:txBody>
          <a:bodyPr/>
          <a:lstStyle/>
          <a:p>
            <a:endParaRPr lang="en-US"/>
          </a:p>
        </p:txBody>
      </p:sp>
      <p:sp>
        <p:nvSpPr>
          <p:cNvPr id="17" name="Text 15"/>
          <p:cNvSpPr/>
          <p:nvPr/>
        </p:nvSpPr>
        <p:spPr>
          <a:xfrm>
            <a:off x="5751576" y="2596896"/>
            <a:ext cx="277977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COSINE DISTANCE</a:t>
            </a:r>
            <a:endParaRPr lang="en-US" sz="1000" dirty="0"/>
          </a:p>
        </p:txBody>
      </p:sp>
      <p:sp>
        <p:nvSpPr>
          <p:cNvPr id="18" name="Text 16"/>
          <p:cNvSpPr/>
          <p:nvPr/>
        </p:nvSpPr>
        <p:spPr>
          <a:xfrm>
            <a:off x="5751576" y="2871216"/>
            <a:ext cx="2779776" cy="80467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Cosine similarity is the usual choice for text embeddings and works well for multilingual retrieval.</a:t>
            </a:r>
            <a:endParaRPr lang="en-US" sz="950" dirty="0"/>
          </a:p>
        </p:txBody>
      </p:sp>
      <p:sp>
        <p:nvSpPr>
          <p:cNvPr id="19" name="List row"/>
          <p:cNvSpPr/>
          <p:nvPr/>
        </p:nvSpPr>
        <p:spPr>
          <a:xfrm>
            <a:off x="411480" y="2852928"/>
            <a:ext cx="4937760" cy="502920"/>
          </a:xfrm>
          <a:prstGeom prst="rect">
            <a:avLst/>
          </a:prstGeom>
          <a:solidFill>
            <a:srgbClr val="2A2622"/>
          </a:solidFill>
          <a:ln w="12700">
            <a:solidFill>
              <a:srgbClr val="3A332C"/>
            </a:solidFill>
            <a:prstDash val="solid"/>
          </a:ln>
        </p:spPr>
        <p:txBody>
          <a:bodyPr/>
          <a:lstStyle/>
          <a:p>
            <a:endParaRPr lang="en-US"/>
          </a:p>
        </p:txBody>
      </p:sp>
      <p:sp>
        <p:nvSpPr>
          <p:cNvPr id="20" name="List row accent"/>
          <p:cNvSpPr/>
          <p:nvPr/>
        </p:nvSpPr>
        <p:spPr>
          <a:xfrm>
            <a:off x="411480" y="2852928"/>
            <a:ext cx="45720" cy="502920"/>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630936" y="2852928"/>
            <a:ext cx="960120" cy="502920"/>
          </a:xfrm>
          <a:prstGeom prst="rect">
            <a:avLst/>
          </a:prstGeom>
          <a:noFill/>
        </p:spPr>
        <p:txBody>
          <a:bodyPr wrap="square" lIns="0" tIns="0" rIns="0" bIns="0" rtlCol="0" anchor="ctr"/>
          <a:lstStyle/>
          <a:p>
            <a:pPr marL="0" indent="0">
              <a:buNone/>
            </a:pPr>
            <a:r>
              <a:rPr lang="en-US" sz="9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PAYLOAD</a:t>
            </a:r>
            <a:endParaRPr lang="en-US" sz="950" dirty="0"/>
          </a:p>
        </p:txBody>
      </p:sp>
      <p:sp>
        <p:nvSpPr>
          <p:cNvPr id="22" name="Text 20"/>
          <p:cNvSpPr/>
          <p:nvPr/>
        </p:nvSpPr>
        <p:spPr>
          <a:xfrm>
            <a:off x="1645920" y="2852928"/>
            <a:ext cx="3483864" cy="502920"/>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Store source, section and date with each vector</a:t>
            </a:r>
            <a:endParaRPr lang="en-US" sz="950" dirty="0"/>
          </a:p>
        </p:txBody>
      </p:sp>
      <p:sp>
        <p:nvSpPr>
          <p:cNvPr id="23" name="List row"/>
          <p:cNvSpPr/>
          <p:nvPr/>
        </p:nvSpPr>
        <p:spPr>
          <a:xfrm>
            <a:off x="411480" y="3429000"/>
            <a:ext cx="4937760" cy="502920"/>
          </a:xfrm>
          <a:prstGeom prst="rect">
            <a:avLst/>
          </a:prstGeom>
          <a:solidFill>
            <a:srgbClr val="2A2622"/>
          </a:solidFill>
          <a:ln w="12700">
            <a:solidFill>
              <a:srgbClr val="3A332C"/>
            </a:solidFill>
            <a:prstDash val="solid"/>
          </a:ln>
        </p:spPr>
        <p:txBody>
          <a:bodyPr/>
          <a:lstStyle/>
          <a:p>
            <a:endParaRPr lang="en-US"/>
          </a:p>
        </p:txBody>
      </p:sp>
      <p:sp>
        <p:nvSpPr>
          <p:cNvPr id="24" name="List row accent"/>
          <p:cNvSpPr/>
          <p:nvPr/>
        </p:nvSpPr>
        <p:spPr>
          <a:xfrm>
            <a:off x="411480" y="3429000"/>
            <a:ext cx="45720" cy="502920"/>
          </a:xfrm>
          <a:prstGeom prst="rect">
            <a:avLst/>
          </a:prstGeom>
          <a:solidFill>
            <a:srgbClr val="E2761F"/>
          </a:solidFill>
          <a:ln w="12700">
            <a:solidFill>
              <a:srgbClr val="E2761F"/>
            </a:solidFill>
            <a:prstDash val="solid"/>
          </a:ln>
        </p:spPr>
        <p:txBody>
          <a:bodyPr/>
          <a:lstStyle/>
          <a:p>
            <a:endParaRPr lang="en-US"/>
          </a:p>
        </p:txBody>
      </p:sp>
      <p:sp>
        <p:nvSpPr>
          <p:cNvPr id="25" name="Text 23"/>
          <p:cNvSpPr/>
          <p:nvPr/>
        </p:nvSpPr>
        <p:spPr>
          <a:xfrm>
            <a:off x="630936" y="3429000"/>
            <a:ext cx="960120" cy="502920"/>
          </a:xfrm>
          <a:prstGeom prst="rect">
            <a:avLst/>
          </a:prstGeom>
          <a:noFill/>
        </p:spPr>
        <p:txBody>
          <a:bodyPr wrap="square" lIns="0" tIns="0" rIns="0" bIns="0" rtlCol="0" anchor="ctr"/>
          <a:lstStyle/>
          <a:p>
            <a:pPr marL="0" indent="0">
              <a:buNone/>
            </a:pPr>
            <a:r>
              <a:rPr lang="en-US" sz="9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FILTERS</a:t>
            </a:r>
            <a:endParaRPr lang="en-US" sz="950" dirty="0"/>
          </a:p>
        </p:txBody>
      </p:sp>
      <p:sp>
        <p:nvSpPr>
          <p:cNvPr id="26" name="Text 24"/>
          <p:cNvSpPr/>
          <p:nvPr/>
        </p:nvSpPr>
        <p:spPr>
          <a:xfrm>
            <a:off x="1645920" y="3429000"/>
            <a:ext cx="3483864" cy="502920"/>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Filter by department or date before searching</a:t>
            </a:r>
            <a:endParaRPr lang="en-US" sz="950" dirty="0"/>
          </a:p>
        </p:txBody>
      </p:sp>
      <p:sp>
        <p:nvSpPr>
          <p:cNvPr id="27" name="Text 25"/>
          <p:cNvSpPr/>
          <p:nvPr/>
        </p:nvSpPr>
        <p:spPr>
          <a:xfrm>
            <a:off x="411480" y="3968496"/>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Check the collection's point count after every ingest run — a silent zero means the pipeline failed upstream.</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5  ·  QUERY FLOW AND PROMPT ASSEMBLY</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What Happens on Every Question</a:t>
            </a:r>
            <a:endParaRPr lang="en-US" sz="2600" dirty="0"/>
          </a:p>
        </p:txBody>
      </p:sp>
      <p:sp>
        <p:nvSpPr>
          <p:cNvPr id="8" name="Flow card"/>
          <p:cNvSpPr/>
          <p:nvPr/>
        </p:nvSpPr>
        <p:spPr>
          <a:xfrm>
            <a:off x="411480" y="1133856"/>
            <a:ext cx="2688336" cy="1261872"/>
          </a:xfrm>
          <a:prstGeom prst="rect">
            <a:avLst/>
          </a:prstGeom>
          <a:solidFill>
            <a:srgbClr val="2A2622"/>
          </a:solidFill>
          <a:ln w="12700">
            <a:solidFill>
              <a:srgbClr val="3A332C"/>
            </a:solidFill>
            <a:prstDash val="solid"/>
          </a:ln>
        </p:spPr>
        <p:txBody>
          <a:bodyPr/>
          <a:lstStyle/>
          <a:p>
            <a:endParaRPr lang="en-US"/>
          </a:p>
        </p:txBody>
      </p:sp>
      <p:sp>
        <p:nvSpPr>
          <p:cNvPr id="9" name="Flow card accent"/>
          <p:cNvSpPr/>
          <p:nvPr/>
        </p:nvSpPr>
        <p:spPr>
          <a:xfrm>
            <a:off x="411480" y="1133856"/>
            <a:ext cx="2688336"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76072" y="1261872"/>
            <a:ext cx="365760" cy="292608"/>
          </a:xfrm>
          <a:prstGeom prst="rect">
            <a:avLst/>
          </a:prstGeom>
          <a:noFill/>
        </p:spPr>
        <p:txBody>
          <a:bodyPr wrap="square" lIns="0" tIns="0" rIns="0" bIns="0" rtlCol="0" anchor="ctr"/>
          <a:lstStyle/>
          <a:p>
            <a:pPr marL="0" indent="0">
              <a:buNone/>
            </a:pPr>
            <a:r>
              <a:rPr lang="en-US" sz="1700" b="1" dirty="0">
                <a:solidFill>
                  <a:srgbClr val="E2761F"/>
                </a:solidFill>
                <a:latin typeface="Arial" panose="020B0604020202020204" pitchFamily="34" charset="0"/>
                <a:ea typeface="Arial" panose="020B0604020202020204" pitchFamily="34" charset="-122"/>
                <a:cs typeface="Arial" panose="020B0604020202020204" pitchFamily="34" charset="-120"/>
              </a:rPr>
              <a:t>1</a:t>
            </a:r>
            <a:endParaRPr lang="en-US" sz="1700" dirty="0"/>
          </a:p>
        </p:txBody>
      </p:sp>
      <p:sp>
        <p:nvSpPr>
          <p:cNvPr id="11" name="Text 9"/>
          <p:cNvSpPr/>
          <p:nvPr/>
        </p:nvSpPr>
        <p:spPr>
          <a:xfrm>
            <a:off x="960120" y="1261872"/>
            <a:ext cx="1920240" cy="292608"/>
          </a:xfrm>
          <a:prstGeom prst="rect">
            <a:avLst/>
          </a:prstGeom>
          <a:noFill/>
        </p:spPr>
        <p:txBody>
          <a:bodyPr wrap="square" lIns="0" tIns="0" rIns="0" bIns="0" rtlCol="0" anchor="ctr"/>
          <a:lstStyle/>
          <a:p>
            <a:pPr marL="0" indent="0">
              <a:buNone/>
            </a:pPr>
            <a:r>
              <a:rPr lang="en-US" sz="105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RECEIVE</a:t>
            </a:r>
            <a:endParaRPr lang="en-US" sz="1050" dirty="0"/>
          </a:p>
        </p:txBody>
      </p:sp>
      <p:sp>
        <p:nvSpPr>
          <p:cNvPr id="12" name="Text 10"/>
          <p:cNvSpPr/>
          <p:nvPr/>
        </p:nvSpPr>
        <p:spPr>
          <a:xfrm>
            <a:off x="576072" y="1627632"/>
            <a:ext cx="2359152" cy="6949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gateway takes the user question and the conversation identifier.</a:t>
            </a:r>
            <a:endParaRPr lang="en-US" sz="950" dirty="0"/>
          </a:p>
        </p:txBody>
      </p:sp>
      <p:sp>
        <p:nvSpPr>
          <p:cNvPr id="13" name="Flow card"/>
          <p:cNvSpPr/>
          <p:nvPr/>
        </p:nvSpPr>
        <p:spPr>
          <a:xfrm>
            <a:off x="3273552" y="1133856"/>
            <a:ext cx="2688336" cy="1261872"/>
          </a:xfrm>
          <a:prstGeom prst="rect">
            <a:avLst/>
          </a:prstGeom>
          <a:solidFill>
            <a:srgbClr val="2A2622"/>
          </a:solidFill>
          <a:ln w="12700">
            <a:solidFill>
              <a:srgbClr val="3A332C"/>
            </a:solidFill>
            <a:prstDash val="solid"/>
          </a:ln>
        </p:spPr>
        <p:txBody>
          <a:bodyPr/>
          <a:lstStyle/>
          <a:p>
            <a:endParaRPr lang="en-US"/>
          </a:p>
        </p:txBody>
      </p:sp>
      <p:sp>
        <p:nvSpPr>
          <p:cNvPr id="14" name="Flow card accent"/>
          <p:cNvSpPr/>
          <p:nvPr/>
        </p:nvSpPr>
        <p:spPr>
          <a:xfrm>
            <a:off x="3273552" y="1133856"/>
            <a:ext cx="2688336" cy="45720"/>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3438144" y="1261872"/>
            <a:ext cx="365760" cy="292608"/>
          </a:xfrm>
          <a:prstGeom prst="rect">
            <a:avLst/>
          </a:prstGeom>
          <a:noFill/>
        </p:spPr>
        <p:txBody>
          <a:bodyPr wrap="square" lIns="0" tIns="0" rIns="0" bIns="0" rtlCol="0" anchor="ctr"/>
          <a:lstStyle/>
          <a:p>
            <a:pPr marL="0" indent="0">
              <a:buNone/>
            </a:pPr>
            <a:r>
              <a:rPr lang="en-US" sz="1700" b="1" dirty="0">
                <a:solidFill>
                  <a:srgbClr val="E2761F"/>
                </a:solidFill>
                <a:latin typeface="Arial" panose="020B0604020202020204" pitchFamily="34" charset="0"/>
                <a:ea typeface="Arial" panose="020B0604020202020204" pitchFamily="34" charset="-122"/>
                <a:cs typeface="Arial" panose="020B0604020202020204" pitchFamily="34" charset="-120"/>
              </a:rPr>
              <a:t>2</a:t>
            </a:r>
            <a:endParaRPr lang="en-US" sz="1700" dirty="0"/>
          </a:p>
        </p:txBody>
      </p:sp>
      <p:sp>
        <p:nvSpPr>
          <p:cNvPr id="16" name="Text 14"/>
          <p:cNvSpPr/>
          <p:nvPr/>
        </p:nvSpPr>
        <p:spPr>
          <a:xfrm>
            <a:off x="3822192" y="1261872"/>
            <a:ext cx="1920240" cy="292608"/>
          </a:xfrm>
          <a:prstGeom prst="rect">
            <a:avLst/>
          </a:prstGeom>
          <a:noFill/>
        </p:spPr>
        <p:txBody>
          <a:bodyPr wrap="square" lIns="0" tIns="0" rIns="0" bIns="0" rtlCol="0" anchor="ctr"/>
          <a:lstStyle/>
          <a:p>
            <a:pPr marL="0" indent="0">
              <a:buNone/>
            </a:pPr>
            <a:r>
              <a:rPr lang="en-US" sz="105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EMBED</a:t>
            </a:r>
            <a:endParaRPr lang="en-US" sz="1050" dirty="0"/>
          </a:p>
        </p:txBody>
      </p:sp>
      <p:sp>
        <p:nvSpPr>
          <p:cNvPr id="17" name="Text 15"/>
          <p:cNvSpPr/>
          <p:nvPr/>
        </p:nvSpPr>
        <p:spPr>
          <a:xfrm>
            <a:off x="3438144" y="1627632"/>
            <a:ext cx="2359152" cy="6949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question is embedded with the same model used for ingestion.</a:t>
            </a:r>
            <a:endParaRPr lang="en-US" sz="950" dirty="0"/>
          </a:p>
        </p:txBody>
      </p:sp>
      <p:sp>
        <p:nvSpPr>
          <p:cNvPr id="18" name="Flow card"/>
          <p:cNvSpPr/>
          <p:nvPr/>
        </p:nvSpPr>
        <p:spPr>
          <a:xfrm>
            <a:off x="6135624" y="1133856"/>
            <a:ext cx="2688336" cy="1261872"/>
          </a:xfrm>
          <a:prstGeom prst="rect">
            <a:avLst/>
          </a:prstGeom>
          <a:solidFill>
            <a:srgbClr val="2A2622"/>
          </a:solidFill>
          <a:ln w="12700">
            <a:solidFill>
              <a:srgbClr val="3A332C"/>
            </a:solidFill>
            <a:prstDash val="solid"/>
          </a:ln>
        </p:spPr>
        <p:txBody>
          <a:bodyPr/>
          <a:lstStyle/>
          <a:p>
            <a:endParaRPr lang="en-US"/>
          </a:p>
        </p:txBody>
      </p:sp>
      <p:sp>
        <p:nvSpPr>
          <p:cNvPr id="19" name="Flow card accent"/>
          <p:cNvSpPr/>
          <p:nvPr/>
        </p:nvSpPr>
        <p:spPr>
          <a:xfrm>
            <a:off x="6135624" y="1133856"/>
            <a:ext cx="2688336" cy="45720"/>
          </a:xfrm>
          <a:prstGeom prst="rect">
            <a:avLst/>
          </a:prstGeom>
          <a:solidFill>
            <a:srgbClr val="E2761F"/>
          </a:solidFill>
          <a:ln w="12700">
            <a:solidFill>
              <a:srgbClr val="E2761F"/>
            </a:solidFill>
            <a:prstDash val="solid"/>
          </a:ln>
        </p:spPr>
        <p:txBody>
          <a:bodyPr/>
          <a:lstStyle/>
          <a:p>
            <a:endParaRPr lang="en-US"/>
          </a:p>
        </p:txBody>
      </p:sp>
      <p:sp>
        <p:nvSpPr>
          <p:cNvPr id="20" name="Text 18"/>
          <p:cNvSpPr/>
          <p:nvPr/>
        </p:nvSpPr>
        <p:spPr>
          <a:xfrm>
            <a:off x="6300216" y="1261872"/>
            <a:ext cx="365760" cy="292608"/>
          </a:xfrm>
          <a:prstGeom prst="rect">
            <a:avLst/>
          </a:prstGeom>
          <a:noFill/>
        </p:spPr>
        <p:txBody>
          <a:bodyPr wrap="square" lIns="0" tIns="0" rIns="0" bIns="0" rtlCol="0" anchor="ctr"/>
          <a:lstStyle/>
          <a:p>
            <a:pPr marL="0" indent="0">
              <a:buNone/>
            </a:pPr>
            <a:r>
              <a:rPr lang="en-US" sz="1700" b="1" dirty="0">
                <a:solidFill>
                  <a:srgbClr val="E2761F"/>
                </a:solidFill>
                <a:latin typeface="Arial" panose="020B0604020202020204" pitchFamily="34" charset="0"/>
                <a:ea typeface="Arial" panose="020B0604020202020204" pitchFamily="34" charset="-122"/>
                <a:cs typeface="Arial" panose="020B0604020202020204" pitchFamily="34" charset="-120"/>
              </a:rPr>
              <a:t>3</a:t>
            </a:r>
            <a:endParaRPr lang="en-US" sz="1700" dirty="0"/>
          </a:p>
        </p:txBody>
      </p:sp>
      <p:sp>
        <p:nvSpPr>
          <p:cNvPr id="21" name="Text 19"/>
          <p:cNvSpPr/>
          <p:nvPr/>
        </p:nvSpPr>
        <p:spPr>
          <a:xfrm>
            <a:off x="6684264" y="1261872"/>
            <a:ext cx="1920240" cy="292608"/>
          </a:xfrm>
          <a:prstGeom prst="rect">
            <a:avLst/>
          </a:prstGeom>
          <a:noFill/>
        </p:spPr>
        <p:txBody>
          <a:bodyPr wrap="square" lIns="0" tIns="0" rIns="0" bIns="0" rtlCol="0" anchor="ctr"/>
          <a:lstStyle/>
          <a:p>
            <a:pPr marL="0" indent="0">
              <a:buNone/>
            </a:pPr>
            <a:r>
              <a:rPr lang="en-US" sz="105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SEARCH</a:t>
            </a:r>
            <a:endParaRPr lang="en-US" sz="1050" dirty="0"/>
          </a:p>
        </p:txBody>
      </p:sp>
      <p:sp>
        <p:nvSpPr>
          <p:cNvPr id="22" name="Text 20"/>
          <p:cNvSpPr/>
          <p:nvPr/>
        </p:nvSpPr>
        <p:spPr>
          <a:xfrm>
            <a:off x="6300216" y="1627632"/>
            <a:ext cx="2359152" cy="6949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Qdrant returns the top matching chunks, optionally filtered by metadata.</a:t>
            </a:r>
            <a:endParaRPr lang="en-US" sz="950" dirty="0"/>
          </a:p>
        </p:txBody>
      </p:sp>
      <p:sp>
        <p:nvSpPr>
          <p:cNvPr id="23" name="Flow card"/>
          <p:cNvSpPr/>
          <p:nvPr/>
        </p:nvSpPr>
        <p:spPr>
          <a:xfrm>
            <a:off x="411480" y="2505456"/>
            <a:ext cx="2688336" cy="1261872"/>
          </a:xfrm>
          <a:prstGeom prst="rect">
            <a:avLst/>
          </a:prstGeom>
          <a:solidFill>
            <a:srgbClr val="2A2622"/>
          </a:solidFill>
          <a:ln w="12700">
            <a:solidFill>
              <a:srgbClr val="3A332C"/>
            </a:solidFill>
            <a:prstDash val="solid"/>
          </a:ln>
        </p:spPr>
        <p:txBody>
          <a:bodyPr/>
          <a:lstStyle/>
          <a:p>
            <a:endParaRPr lang="en-US"/>
          </a:p>
        </p:txBody>
      </p:sp>
      <p:sp>
        <p:nvSpPr>
          <p:cNvPr id="24" name="Flow card accent"/>
          <p:cNvSpPr/>
          <p:nvPr/>
        </p:nvSpPr>
        <p:spPr>
          <a:xfrm>
            <a:off x="411480" y="2505456"/>
            <a:ext cx="2688336" cy="45720"/>
          </a:xfrm>
          <a:prstGeom prst="rect">
            <a:avLst/>
          </a:prstGeom>
          <a:solidFill>
            <a:srgbClr val="E2761F"/>
          </a:solidFill>
          <a:ln w="12700">
            <a:solidFill>
              <a:srgbClr val="E2761F"/>
            </a:solidFill>
            <a:prstDash val="solid"/>
          </a:ln>
        </p:spPr>
        <p:txBody>
          <a:bodyPr/>
          <a:lstStyle/>
          <a:p>
            <a:endParaRPr lang="en-US"/>
          </a:p>
        </p:txBody>
      </p:sp>
      <p:sp>
        <p:nvSpPr>
          <p:cNvPr id="25" name="Text 23"/>
          <p:cNvSpPr/>
          <p:nvPr/>
        </p:nvSpPr>
        <p:spPr>
          <a:xfrm>
            <a:off x="576072" y="2633472"/>
            <a:ext cx="365760" cy="292608"/>
          </a:xfrm>
          <a:prstGeom prst="rect">
            <a:avLst/>
          </a:prstGeom>
          <a:noFill/>
        </p:spPr>
        <p:txBody>
          <a:bodyPr wrap="square" lIns="0" tIns="0" rIns="0" bIns="0" rtlCol="0" anchor="ctr"/>
          <a:lstStyle/>
          <a:p>
            <a:pPr marL="0" indent="0">
              <a:buNone/>
            </a:pPr>
            <a:r>
              <a:rPr lang="en-US" sz="1700" b="1" dirty="0">
                <a:solidFill>
                  <a:srgbClr val="E2761F"/>
                </a:solidFill>
                <a:latin typeface="Arial" panose="020B0604020202020204" pitchFamily="34" charset="0"/>
                <a:ea typeface="Arial" panose="020B0604020202020204" pitchFamily="34" charset="-122"/>
                <a:cs typeface="Arial" panose="020B0604020202020204" pitchFamily="34" charset="-120"/>
              </a:rPr>
              <a:t>4</a:t>
            </a:r>
            <a:endParaRPr lang="en-US" sz="1700" dirty="0"/>
          </a:p>
        </p:txBody>
      </p:sp>
      <p:sp>
        <p:nvSpPr>
          <p:cNvPr id="26" name="Text 24"/>
          <p:cNvSpPr/>
          <p:nvPr/>
        </p:nvSpPr>
        <p:spPr>
          <a:xfrm>
            <a:off x="960120" y="2633472"/>
            <a:ext cx="1920240" cy="292608"/>
          </a:xfrm>
          <a:prstGeom prst="rect">
            <a:avLst/>
          </a:prstGeom>
          <a:noFill/>
        </p:spPr>
        <p:txBody>
          <a:bodyPr wrap="square" lIns="0" tIns="0" rIns="0" bIns="0" rtlCol="0" anchor="ctr"/>
          <a:lstStyle/>
          <a:p>
            <a:pPr marL="0" indent="0">
              <a:buNone/>
            </a:pPr>
            <a:r>
              <a:rPr lang="en-US" sz="105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ASSEMBLE</a:t>
            </a:r>
            <a:endParaRPr lang="en-US" sz="1050" dirty="0"/>
          </a:p>
        </p:txBody>
      </p:sp>
      <p:sp>
        <p:nvSpPr>
          <p:cNvPr id="27" name="Text 25"/>
          <p:cNvSpPr/>
          <p:nvPr/>
        </p:nvSpPr>
        <p:spPr>
          <a:xfrm>
            <a:off x="576072" y="2999232"/>
            <a:ext cx="2359152" cy="6949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Chunks, a conversation summary and the system instructions form the prompt.</a:t>
            </a:r>
            <a:endParaRPr lang="en-US" sz="950" dirty="0"/>
          </a:p>
        </p:txBody>
      </p:sp>
      <p:sp>
        <p:nvSpPr>
          <p:cNvPr id="28" name="Flow card"/>
          <p:cNvSpPr/>
          <p:nvPr/>
        </p:nvSpPr>
        <p:spPr>
          <a:xfrm>
            <a:off x="3273552" y="2505456"/>
            <a:ext cx="2688336" cy="1261872"/>
          </a:xfrm>
          <a:prstGeom prst="rect">
            <a:avLst/>
          </a:prstGeom>
          <a:solidFill>
            <a:srgbClr val="2A2622"/>
          </a:solidFill>
          <a:ln w="12700">
            <a:solidFill>
              <a:srgbClr val="3A332C"/>
            </a:solidFill>
            <a:prstDash val="solid"/>
          </a:ln>
        </p:spPr>
        <p:txBody>
          <a:bodyPr/>
          <a:lstStyle/>
          <a:p>
            <a:endParaRPr lang="en-US"/>
          </a:p>
        </p:txBody>
      </p:sp>
      <p:sp>
        <p:nvSpPr>
          <p:cNvPr id="29" name="Flow card accent"/>
          <p:cNvSpPr/>
          <p:nvPr/>
        </p:nvSpPr>
        <p:spPr>
          <a:xfrm>
            <a:off x="3273552" y="2505456"/>
            <a:ext cx="2688336"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3438144" y="2633472"/>
            <a:ext cx="365760" cy="292608"/>
          </a:xfrm>
          <a:prstGeom prst="rect">
            <a:avLst/>
          </a:prstGeom>
          <a:noFill/>
        </p:spPr>
        <p:txBody>
          <a:bodyPr wrap="square" lIns="0" tIns="0" rIns="0" bIns="0" rtlCol="0" anchor="ctr"/>
          <a:lstStyle/>
          <a:p>
            <a:pPr marL="0" indent="0">
              <a:buNone/>
            </a:pPr>
            <a:r>
              <a:rPr lang="en-US" sz="1700" b="1" dirty="0">
                <a:solidFill>
                  <a:srgbClr val="E2761F"/>
                </a:solidFill>
                <a:latin typeface="Arial" panose="020B0604020202020204" pitchFamily="34" charset="0"/>
                <a:ea typeface="Arial" panose="020B0604020202020204" pitchFamily="34" charset="-122"/>
                <a:cs typeface="Arial" panose="020B0604020202020204" pitchFamily="34" charset="-120"/>
              </a:rPr>
              <a:t>5</a:t>
            </a:r>
            <a:endParaRPr lang="en-US" sz="1700" dirty="0"/>
          </a:p>
        </p:txBody>
      </p:sp>
      <p:sp>
        <p:nvSpPr>
          <p:cNvPr id="31" name="Text 29"/>
          <p:cNvSpPr/>
          <p:nvPr/>
        </p:nvSpPr>
        <p:spPr>
          <a:xfrm>
            <a:off x="3822192" y="2633472"/>
            <a:ext cx="1920240" cy="292608"/>
          </a:xfrm>
          <a:prstGeom prst="rect">
            <a:avLst/>
          </a:prstGeom>
          <a:noFill/>
        </p:spPr>
        <p:txBody>
          <a:bodyPr wrap="square" lIns="0" tIns="0" rIns="0" bIns="0" rtlCol="0" anchor="ctr"/>
          <a:lstStyle/>
          <a:p>
            <a:pPr marL="0" indent="0">
              <a:buNone/>
            </a:pPr>
            <a:r>
              <a:rPr lang="en-US" sz="105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GENERATE</a:t>
            </a:r>
            <a:endParaRPr lang="en-US" sz="1050" dirty="0"/>
          </a:p>
        </p:txBody>
      </p:sp>
      <p:sp>
        <p:nvSpPr>
          <p:cNvPr id="32" name="Text 30"/>
          <p:cNvSpPr/>
          <p:nvPr/>
        </p:nvSpPr>
        <p:spPr>
          <a:xfrm>
            <a:off x="3438144" y="2999232"/>
            <a:ext cx="2359152" cy="6949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Ollama produces the answer, streamed back to the interface.</a:t>
            </a:r>
            <a:endParaRPr lang="en-US" sz="950" dirty="0"/>
          </a:p>
        </p:txBody>
      </p:sp>
      <p:sp>
        <p:nvSpPr>
          <p:cNvPr id="33" name="Flow card"/>
          <p:cNvSpPr/>
          <p:nvPr/>
        </p:nvSpPr>
        <p:spPr>
          <a:xfrm>
            <a:off x="6135624" y="2505456"/>
            <a:ext cx="2688336" cy="1261872"/>
          </a:xfrm>
          <a:prstGeom prst="rect">
            <a:avLst/>
          </a:prstGeom>
          <a:solidFill>
            <a:srgbClr val="2A2622"/>
          </a:solidFill>
          <a:ln w="12700">
            <a:solidFill>
              <a:srgbClr val="3A332C"/>
            </a:solidFill>
            <a:prstDash val="solid"/>
          </a:ln>
        </p:spPr>
        <p:txBody>
          <a:bodyPr/>
          <a:lstStyle/>
          <a:p>
            <a:endParaRPr lang="en-US"/>
          </a:p>
        </p:txBody>
      </p:sp>
      <p:sp>
        <p:nvSpPr>
          <p:cNvPr id="34" name="Flow card accent"/>
          <p:cNvSpPr/>
          <p:nvPr/>
        </p:nvSpPr>
        <p:spPr>
          <a:xfrm>
            <a:off x="6135624" y="2505456"/>
            <a:ext cx="2688336" cy="45720"/>
          </a:xfrm>
          <a:prstGeom prst="rect">
            <a:avLst/>
          </a:prstGeom>
          <a:solidFill>
            <a:srgbClr val="E2761F"/>
          </a:solidFill>
          <a:ln w="12700">
            <a:solidFill>
              <a:srgbClr val="E2761F"/>
            </a:solidFill>
            <a:prstDash val="solid"/>
          </a:ln>
        </p:spPr>
        <p:txBody>
          <a:bodyPr/>
          <a:lstStyle/>
          <a:p>
            <a:endParaRPr lang="en-US"/>
          </a:p>
        </p:txBody>
      </p:sp>
      <p:sp>
        <p:nvSpPr>
          <p:cNvPr id="35" name="Text 33"/>
          <p:cNvSpPr/>
          <p:nvPr/>
        </p:nvSpPr>
        <p:spPr>
          <a:xfrm>
            <a:off x="6300216" y="2633472"/>
            <a:ext cx="365760" cy="292608"/>
          </a:xfrm>
          <a:prstGeom prst="rect">
            <a:avLst/>
          </a:prstGeom>
          <a:noFill/>
        </p:spPr>
        <p:txBody>
          <a:bodyPr wrap="square" lIns="0" tIns="0" rIns="0" bIns="0" rtlCol="0" anchor="ctr"/>
          <a:lstStyle/>
          <a:p>
            <a:pPr marL="0" indent="0">
              <a:buNone/>
            </a:pPr>
            <a:r>
              <a:rPr lang="en-US" sz="1700" b="1" dirty="0">
                <a:solidFill>
                  <a:srgbClr val="E2761F"/>
                </a:solidFill>
                <a:latin typeface="Arial" panose="020B0604020202020204" pitchFamily="34" charset="0"/>
                <a:ea typeface="Arial" panose="020B0604020202020204" pitchFamily="34" charset="-122"/>
                <a:cs typeface="Arial" panose="020B0604020202020204" pitchFamily="34" charset="-120"/>
              </a:rPr>
              <a:t>6</a:t>
            </a:r>
            <a:endParaRPr lang="en-US" sz="1700" dirty="0"/>
          </a:p>
        </p:txBody>
      </p:sp>
      <p:sp>
        <p:nvSpPr>
          <p:cNvPr id="36" name="Text 34"/>
          <p:cNvSpPr/>
          <p:nvPr/>
        </p:nvSpPr>
        <p:spPr>
          <a:xfrm>
            <a:off x="6684264" y="2633472"/>
            <a:ext cx="1920240" cy="292608"/>
          </a:xfrm>
          <a:prstGeom prst="rect">
            <a:avLst/>
          </a:prstGeom>
          <a:noFill/>
        </p:spPr>
        <p:txBody>
          <a:bodyPr wrap="square" lIns="0" tIns="0" rIns="0" bIns="0" rtlCol="0" anchor="ctr"/>
          <a:lstStyle/>
          <a:p>
            <a:pPr marL="0" indent="0">
              <a:buNone/>
            </a:pPr>
            <a:r>
              <a:rPr lang="en-US" sz="1050" b="1" kern="0" spc="100" dirty="0">
                <a:solidFill>
                  <a:srgbClr val="F5EDE2"/>
                </a:solidFill>
                <a:latin typeface="Arial" panose="020B0604020202020204" pitchFamily="34" charset="0"/>
                <a:ea typeface="Arial" panose="020B0604020202020204" pitchFamily="34" charset="-122"/>
                <a:cs typeface="Arial" panose="020B0604020202020204" pitchFamily="34" charset="-120"/>
              </a:rPr>
              <a:t>RECORD</a:t>
            </a:r>
            <a:endParaRPr lang="en-US" sz="1050" dirty="0"/>
          </a:p>
        </p:txBody>
      </p:sp>
      <p:sp>
        <p:nvSpPr>
          <p:cNvPr id="37" name="Text 35"/>
          <p:cNvSpPr/>
          <p:nvPr/>
        </p:nvSpPr>
        <p:spPr>
          <a:xfrm>
            <a:off x="6300216" y="2999232"/>
            <a:ext cx="2359152" cy="6949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exchange and its sources are written to PostgreSQL.</a:t>
            </a:r>
            <a:endParaRPr lang="en-US" sz="950" dirty="0"/>
          </a:p>
        </p:txBody>
      </p:sp>
      <p:sp>
        <p:nvSpPr>
          <p:cNvPr id="38" name="Text 36"/>
          <p:cNvSpPr/>
          <p:nvPr/>
        </p:nvSpPr>
        <p:spPr>
          <a:xfrm>
            <a:off x="411480" y="395020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Instruct the model to answer only from the supplied context and to say when it does not know — this is what suppresses invention.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5  ·  EVALUATING RETRIEVAL QUALITY</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Prove Retrieval Actually Works</a:t>
            </a:r>
            <a:endParaRPr lang="en-US" sz="2600" dirty="0"/>
          </a:p>
        </p:txBody>
      </p:sp>
      <p:sp>
        <p:nvSpPr>
          <p:cNvPr id="8" name="List row"/>
          <p:cNvSpPr/>
          <p:nvPr/>
        </p:nvSpPr>
        <p:spPr>
          <a:xfrm>
            <a:off x="411480" y="1097280"/>
            <a:ext cx="8321040" cy="457200"/>
          </a:xfrm>
          <a:prstGeom prst="rect">
            <a:avLst/>
          </a:prstGeom>
          <a:solidFill>
            <a:srgbClr val="2A2622"/>
          </a:solidFill>
          <a:ln w="12700">
            <a:solidFill>
              <a:srgbClr val="3A332C"/>
            </a:solidFill>
            <a:prstDash val="solid"/>
          </a:ln>
        </p:spPr>
        <p:txBody>
          <a:bodyPr/>
          <a:lstStyle/>
          <a:p>
            <a:endParaRPr lang="en-US"/>
          </a:p>
        </p:txBody>
      </p:sp>
      <p:sp>
        <p:nvSpPr>
          <p:cNvPr id="9" name="List row accent"/>
          <p:cNvSpPr/>
          <p:nvPr/>
        </p:nvSpPr>
        <p:spPr>
          <a:xfrm>
            <a:off x="411480" y="1097280"/>
            <a:ext cx="45720" cy="45720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30936" y="1097280"/>
            <a:ext cx="18745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BUILD A TEST SET</a:t>
            </a:r>
            <a:endParaRPr lang="en-US" sz="1000" dirty="0"/>
          </a:p>
        </p:txBody>
      </p:sp>
      <p:sp>
        <p:nvSpPr>
          <p:cNvPr id="11" name="Text 9"/>
          <p:cNvSpPr/>
          <p:nvPr/>
        </p:nvSpPr>
        <p:spPr>
          <a:xfrm>
            <a:off x="2560320" y="1097280"/>
            <a:ext cx="59527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Write 20-30 real questions with known correct source documents. Reuse it after every change.</a:t>
            </a:r>
            <a:endParaRPr lang="en-US" sz="1000" dirty="0"/>
          </a:p>
        </p:txBody>
      </p:sp>
      <p:sp>
        <p:nvSpPr>
          <p:cNvPr id="12" name="List row"/>
          <p:cNvSpPr/>
          <p:nvPr/>
        </p:nvSpPr>
        <p:spPr>
          <a:xfrm>
            <a:off x="411480" y="1609344"/>
            <a:ext cx="8321040" cy="457200"/>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411480" y="1609344"/>
            <a:ext cx="45720" cy="45720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30936" y="1609344"/>
            <a:ext cx="18745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CHECK THE CHUNKS</a:t>
            </a:r>
            <a:endParaRPr lang="en-US" sz="1000" dirty="0"/>
          </a:p>
        </p:txBody>
      </p:sp>
      <p:sp>
        <p:nvSpPr>
          <p:cNvPr id="15" name="Text 13"/>
          <p:cNvSpPr/>
          <p:nvPr/>
        </p:nvSpPr>
        <p:spPr>
          <a:xfrm>
            <a:off x="2560320" y="1609344"/>
            <a:ext cx="59527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Before judging the answer, inspect what was retrieved. Bad answers usually start as bad retrieval.</a:t>
            </a:r>
            <a:endParaRPr lang="en-US" sz="1000" dirty="0"/>
          </a:p>
        </p:txBody>
      </p:sp>
      <p:sp>
        <p:nvSpPr>
          <p:cNvPr id="16" name="List row"/>
          <p:cNvSpPr/>
          <p:nvPr/>
        </p:nvSpPr>
        <p:spPr>
          <a:xfrm>
            <a:off x="411480" y="2121408"/>
            <a:ext cx="8321040" cy="457200"/>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411480" y="2121408"/>
            <a:ext cx="45720" cy="45720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0936" y="2121408"/>
            <a:ext cx="18745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TEST EACH LANGUAGE</a:t>
            </a:r>
            <a:endParaRPr lang="en-US" sz="1000" dirty="0"/>
          </a:p>
        </p:txBody>
      </p:sp>
      <p:sp>
        <p:nvSpPr>
          <p:cNvPr id="19" name="Text 17"/>
          <p:cNvSpPr/>
          <p:nvPr/>
        </p:nvSpPr>
        <p:spPr>
          <a:xfrm>
            <a:off x="2560320" y="2121408"/>
            <a:ext cx="59527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Run the same question set in every language you support, including mixed-language phrasing.</a:t>
            </a:r>
            <a:endParaRPr lang="en-US" sz="1000" dirty="0"/>
          </a:p>
        </p:txBody>
      </p:sp>
      <p:sp>
        <p:nvSpPr>
          <p:cNvPr id="20" name="List row"/>
          <p:cNvSpPr/>
          <p:nvPr/>
        </p:nvSpPr>
        <p:spPr>
          <a:xfrm>
            <a:off x="411480" y="2633472"/>
            <a:ext cx="8321040" cy="457200"/>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411480" y="2633472"/>
            <a:ext cx="45720" cy="45720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30936" y="2633472"/>
            <a:ext cx="18745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WATCH FOR STALE DATA</a:t>
            </a:r>
            <a:endParaRPr lang="en-US" sz="1000" dirty="0"/>
          </a:p>
        </p:txBody>
      </p:sp>
      <p:sp>
        <p:nvSpPr>
          <p:cNvPr id="23" name="Text 21"/>
          <p:cNvSpPr/>
          <p:nvPr/>
        </p:nvSpPr>
        <p:spPr>
          <a:xfrm>
            <a:off x="2560320" y="2633472"/>
            <a:ext cx="59527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Retrieval will happily return superseded documents. Date-filter or remove them.</a:t>
            </a:r>
            <a:endParaRPr lang="en-US" sz="1000" dirty="0"/>
          </a:p>
        </p:txBody>
      </p:sp>
      <p:sp>
        <p:nvSpPr>
          <p:cNvPr id="24" name="List row"/>
          <p:cNvSpPr/>
          <p:nvPr/>
        </p:nvSpPr>
        <p:spPr>
          <a:xfrm>
            <a:off x="411480" y="3145536"/>
            <a:ext cx="8321040" cy="457200"/>
          </a:xfrm>
          <a:prstGeom prst="rect">
            <a:avLst/>
          </a:prstGeom>
          <a:solidFill>
            <a:srgbClr val="2A2622"/>
          </a:solidFill>
          <a:ln w="12700">
            <a:solidFill>
              <a:srgbClr val="3A332C"/>
            </a:solidFill>
            <a:prstDash val="solid"/>
          </a:ln>
        </p:spPr>
        <p:txBody>
          <a:bodyPr/>
          <a:lstStyle/>
          <a:p>
            <a:endParaRPr lang="en-US"/>
          </a:p>
        </p:txBody>
      </p:sp>
      <p:sp>
        <p:nvSpPr>
          <p:cNvPr id="25" name="List row accent"/>
          <p:cNvSpPr/>
          <p:nvPr/>
        </p:nvSpPr>
        <p:spPr>
          <a:xfrm>
            <a:off x="411480" y="3145536"/>
            <a:ext cx="45720" cy="45720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30936" y="3145536"/>
            <a:ext cx="1874520" cy="45720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TRACK REGRESSIONS</a:t>
            </a:r>
            <a:endParaRPr lang="en-US" sz="1000" dirty="0"/>
          </a:p>
        </p:txBody>
      </p:sp>
      <p:sp>
        <p:nvSpPr>
          <p:cNvPr id="27" name="Text 25"/>
          <p:cNvSpPr/>
          <p:nvPr/>
        </p:nvSpPr>
        <p:spPr>
          <a:xfrm>
            <a:off x="2560320" y="3145536"/>
            <a:ext cx="5952744" cy="45720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Record results per run so you can tell whether a change helped or quietly hurt.</a:t>
            </a:r>
            <a:endParaRPr lang="en-US" sz="1000" dirty="0"/>
          </a:p>
        </p:txBody>
      </p:sp>
      <p:sp>
        <p:nvSpPr>
          <p:cNvPr id="28" name="Panel background"/>
          <p:cNvSpPr/>
          <p:nvPr/>
        </p:nvSpPr>
        <p:spPr>
          <a:xfrm>
            <a:off x="411480" y="3685032"/>
            <a:ext cx="8321040" cy="694944"/>
          </a:xfrm>
          <a:prstGeom prst="rect">
            <a:avLst/>
          </a:prstGeom>
          <a:solidFill>
            <a:srgbClr val="2A2622"/>
          </a:solidFill>
          <a:ln w="12700">
            <a:solidFill>
              <a:srgbClr val="3A332C"/>
            </a:solidFill>
            <a:prstDash val="solid"/>
          </a:ln>
        </p:spPr>
        <p:txBody>
          <a:bodyPr/>
          <a:lstStyle/>
          <a:p>
            <a:endParaRPr lang="en-US"/>
          </a:p>
        </p:txBody>
      </p:sp>
      <p:sp>
        <p:nvSpPr>
          <p:cNvPr id="29" name="Panel accent"/>
          <p:cNvSpPr/>
          <p:nvPr/>
        </p:nvSpPr>
        <p:spPr>
          <a:xfrm>
            <a:off x="411480" y="3685032"/>
            <a:ext cx="45720" cy="694944"/>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30936" y="3776472"/>
            <a:ext cx="790041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THE TWO FAILURE MODES</a:t>
            </a:r>
            <a:endParaRPr lang="en-US" sz="1000" dirty="0"/>
          </a:p>
        </p:txBody>
      </p:sp>
      <p:sp>
        <p:nvSpPr>
          <p:cNvPr id="31" name="Text 29"/>
          <p:cNvSpPr/>
          <p:nvPr/>
        </p:nvSpPr>
        <p:spPr>
          <a:xfrm>
            <a:off x="630936" y="4050792"/>
            <a:ext cx="7900416" cy="21945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Nothing relevant is retrieved — usually chunking or embedding mismatch. Or the right chunk is retrieved and the model still answers poorly — that is a prompt or model-size problem.</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06</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6  ·  MEMORY LAYER</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Give the Platform a Memory</a:t>
            </a:r>
            <a:endParaRPr lang="en-US" sz="2600" dirty="0"/>
          </a:p>
        </p:txBody>
      </p:sp>
      <p:sp>
        <p:nvSpPr>
          <p:cNvPr id="8" name="Text 6"/>
          <p:cNvSpPr/>
          <p:nvPr/>
        </p:nvSpPr>
        <p:spPr>
          <a:xfrm>
            <a:off x="411480" y="1097280"/>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PostgreSQL holds what the model should remember — deliberately, not by replaying every message.</a:t>
            </a:r>
            <a:endParaRPr lang="en-US" sz="1200" dirty="0"/>
          </a:p>
        </p:txBody>
      </p:sp>
      <p:sp>
        <p:nvSpPr>
          <p:cNvPr id="9" name="Memory practice row"/>
          <p:cNvSpPr/>
          <p:nvPr/>
        </p:nvSpPr>
        <p:spPr>
          <a:xfrm>
            <a:off x="411480" y="1481328"/>
            <a:ext cx="8321040" cy="566928"/>
          </a:xfrm>
          <a:prstGeom prst="rect">
            <a:avLst/>
          </a:prstGeom>
          <a:solidFill>
            <a:srgbClr val="2A2622"/>
          </a:solidFill>
          <a:ln w="12700">
            <a:solidFill>
              <a:srgbClr val="3A332C"/>
            </a:solidFill>
            <a:prstDash val="solid"/>
          </a:ln>
        </p:spPr>
        <p:txBody>
          <a:bodyPr/>
          <a:lstStyle/>
          <a:p>
            <a:endParaRPr lang="en-US"/>
          </a:p>
        </p:txBody>
      </p:sp>
      <p:sp>
        <p:nvSpPr>
          <p:cNvPr id="10" name="Row accent"/>
          <p:cNvSpPr/>
          <p:nvPr/>
        </p:nvSpPr>
        <p:spPr>
          <a:xfrm>
            <a:off x="411480" y="1481328"/>
            <a:ext cx="45720" cy="566928"/>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640080" y="1481328"/>
            <a:ext cx="1965960" cy="566928"/>
          </a:xfrm>
          <a:prstGeom prst="rect">
            <a:avLst/>
          </a:prstGeom>
          <a:noFill/>
        </p:spPr>
        <p:txBody>
          <a:bodyPr wrap="square" lIns="0" tIns="0" rIns="0" bIns="0" rtlCol="0" anchor="ctr"/>
          <a:lstStyle/>
          <a:p>
            <a:pPr marL="0" indent="0">
              <a:buNone/>
            </a:pPr>
            <a:r>
              <a:rPr lang="en-US" sz="10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STORE RAW LOGS</a:t>
            </a:r>
            <a:endParaRPr lang="en-US" sz="1050" dirty="0"/>
          </a:p>
        </p:txBody>
      </p:sp>
      <p:sp>
        <p:nvSpPr>
          <p:cNvPr id="12" name="Text 10"/>
          <p:cNvSpPr/>
          <p:nvPr/>
        </p:nvSpPr>
        <p:spPr>
          <a:xfrm>
            <a:off x="2697480" y="1481328"/>
            <a:ext cx="5852160" cy="566928"/>
          </a:xfrm>
          <a:prstGeom prst="rect">
            <a:avLst/>
          </a:prstGeom>
          <a:noFill/>
        </p:spPr>
        <p:txBody>
          <a:bodyPr wrap="square" lIns="0" tIns="0" rIns="0" bIns="0" rtlCol="0" anchor="ct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Keep full chat transcripts in PostgreSQL as the system of record.</a:t>
            </a:r>
            <a:endParaRPr lang="en-US" sz="1100" dirty="0"/>
          </a:p>
        </p:txBody>
      </p:sp>
      <p:sp>
        <p:nvSpPr>
          <p:cNvPr id="13" name="Memory practice row"/>
          <p:cNvSpPr/>
          <p:nvPr/>
        </p:nvSpPr>
        <p:spPr>
          <a:xfrm>
            <a:off x="411480" y="2121408"/>
            <a:ext cx="8321040" cy="566928"/>
          </a:xfrm>
          <a:prstGeom prst="rect">
            <a:avLst/>
          </a:prstGeom>
          <a:solidFill>
            <a:srgbClr val="2A2622"/>
          </a:solidFill>
          <a:ln w="12700">
            <a:solidFill>
              <a:srgbClr val="3A332C"/>
            </a:solidFill>
            <a:prstDash val="solid"/>
          </a:ln>
        </p:spPr>
        <p:txBody>
          <a:bodyPr/>
          <a:lstStyle/>
          <a:p>
            <a:endParaRPr lang="en-US"/>
          </a:p>
        </p:txBody>
      </p:sp>
      <p:sp>
        <p:nvSpPr>
          <p:cNvPr id="14" name="Row accent"/>
          <p:cNvSpPr/>
          <p:nvPr/>
        </p:nvSpPr>
        <p:spPr>
          <a:xfrm>
            <a:off x="411480" y="2121408"/>
            <a:ext cx="45720" cy="566928"/>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640080" y="2121408"/>
            <a:ext cx="1965960" cy="566928"/>
          </a:xfrm>
          <a:prstGeom prst="rect">
            <a:avLst/>
          </a:prstGeom>
          <a:noFill/>
        </p:spPr>
        <p:txBody>
          <a:bodyPr wrap="square" lIns="0" tIns="0" rIns="0" bIns="0" rtlCol="0" anchor="ctr"/>
          <a:lstStyle/>
          <a:p>
            <a:pPr marL="0" indent="0">
              <a:buNone/>
            </a:pPr>
            <a:r>
              <a:rPr lang="en-US" sz="10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SUMMARISE</a:t>
            </a:r>
            <a:endParaRPr lang="en-US" sz="1050" dirty="0"/>
          </a:p>
        </p:txBody>
      </p:sp>
      <p:sp>
        <p:nvSpPr>
          <p:cNvPr id="16" name="Text 14"/>
          <p:cNvSpPr/>
          <p:nvPr/>
        </p:nvSpPr>
        <p:spPr>
          <a:xfrm>
            <a:off x="2697480" y="2121408"/>
            <a:ext cx="5852160" cy="566928"/>
          </a:xfrm>
          <a:prstGeom prst="rect">
            <a:avLst/>
          </a:prstGeom>
          <a:noFill/>
        </p:spPr>
        <p:txBody>
          <a:bodyPr wrap="square" lIns="0" tIns="0" rIns="0" bIns="0" rtlCol="0" anchor="ct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Send rolling conversation summaries to the model instead of the whole history — cheaper and faster.</a:t>
            </a:r>
            <a:endParaRPr lang="en-US" sz="1100" dirty="0"/>
          </a:p>
        </p:txBody>
      </p:sp>
      <p:sp>
        <p:nvSpPr>
          <p:cNvPr id="17" name="Memory practice row"/>
          <p:cNvSpPr/>
          <p:nvPr/>
        </p:nvSpPr>
        <p:spPr>
          <a:xfrm>
            <a:off x="411480" y="2761488"/>
            <a:ext cx="8321040" cy="566928"/>
          </a:xfrm>
          <a:prstGeom prst="rect">
            <a:avLst/>
          </a:prstGeom>
          <a:solidFill>
            <a:srgbClr val="2A2622"/>
          </a:solidFill>
          <a:ln w="12700">
            <a:solidFill>
              <a:srgbClr val="3A332C"/>
            </a:solidFill>
            <a:prstDash val="solid"/>
          </a:ln>
        </p:spPr>
        <p:txBody>
          <a:bodyPr/>
          <a:lstStyle/>
          <a:p>
            <a:endParaRPr lang="en-US"/>
          </a:p>
        </p:txBody>
      </p:sp>
      <p:sp>
        <p:nvSpPr>
          <p:cNvPr id="18" name="Row accent"/>
          <p:cNvSpPr/>
          <p:nvPr/>
        </p:nvSpPr>
        <p:spPr>
          <a:xfrm>
            <a:off x="411480" y="2761488"/>
            <a:ext cx="45720" cy="566928"/>
          </a:xfrm>
          <a:prstGeom prst="rect">
            <a:avLst/>
          </a:prstGeom>
          <a:solidFill>
            <a:srgbClr val="E2761F"/>
          </a:solidFill>
          <a:ln w="12700">
            <a:solidFill>
              <a:srgbClr val="E2761F"/>
            </a:solidFill>
            <a:prstDash val="solid"/>
          </a:ln>
        </p:spPr>
        <p:txBody>
          <a:bodyPr/>
          <a:lstStyle/>
          <a:p>
            <a:endParaRPr lang="en-US"/>
          </a:p>
        </p:txBody>
      </p:sp>
      <p:sp>
        <p:nvSpPr>
          <p:cNvPr id="19" name="Text 17"/>
          <p:cNvSpPr/>
          <p:nvPr/>
        </p:nvSpPr>
        <p:spPr>
          <a:xfrm>
            <a:off x="640080" y="2761488"/>
            <a:ext cx="1965960" cy="566928"/>
          </a:xfrm>
          <a:prstGeom prst="rect">
            <a:avLst/>
          </a:prstGeom>
          <a:noFill/>
        </p:spPr>
        <p:txBody>
          <a:bodyPr wrap="square" lIns="0" tIns="0" rIns="0" bIns="0" rtlCol="0" anchor="ctr"/>
          <a:lstStyle/>
          <a:p>
            <a:pPr marL="0" indent="0">
              <a:buNone/>
            </a:pPr>
            <a:r>
              <a:rPr lang="en-US" sz="10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SEPARATE SCOPES</a:t>
            </a:r>
            <a:endParaRPr lang="en-US" sz="1050" dirty="0"/>
          </a:p>
        </p:txBody>
      </p:sp>
      <p:sp>
        <p:nvSpPr>
          <p:cNvPr id="20" name="Text 18"/>
          <p:cNvSpPr/>
          <p:nvPr/>
        </p:nvSpPr>
        <p:spPr>
          <a:xfrm>
            <a:off x="2697480" y="2761488"/>
            <a:ext cx="5852160" cy="566928"/>
          </a:xfrm>
          <a:prstGeom prst="rect">
            <a:avLst/>
          </a:prstGeom>
          <a:noFill/>
        </p:spPr>
        <p:txBody>
          <a:bodyPr wrap="square" lIns="0" tIns="0" rIns="0" bIns="0" rtlCol="0" anchor="ct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Split permanent profile data from temporary session data so cleanup is safe.</a:t>
            </a:r>
            <a:endParaRPr lang="en-US" sz="1100" dirty="0"/>
          </a:p>
        </p:txBody>
      </p:sp>
      <p:sp>
        <p:nvSpPr>
          <p:cNvPr id="21" name="Memory practice row"/>
          <p:cNvSpPr/>
          <p:nvPr/>
        </p:nvSpPr>
        <p:spPr>
          <a:xfrm>
            <a:off x="411480" y="3401568"/>
            <a:ext cx="8321040" cy="566928"/>
          </a:xfrm>
          <a:prstGeom prst="rect">
            <a:avLst/>
          </a:prstGeom>
          <a:solidFill>
            <a:srgbClr val="2A2622"/>
          </a:solidFill>
          <a:ln w="12700">
            <a:solidFill>
              <a:srgbClr val="3A332C"/>
            </a:solidFill>
            <a:prstDash val="solid"/>
          </a:ln>
        </p:spPr>
        <p:txBody>
          <a:bodyPr/>
          <a:lstStyle/>
          <a:p>
            <a:endParaRPr lang="en-US"/>
          </a:p>
        </p:txBody>
      </p:sp>
      <p:sp>
        <p:nvSpPr>
          <p:cNvPr id="22" name="Row accent"/>
          <p:cNvSpPr/>
          <p:nvPr/>
        </p:nvSpPr>
        <p:spPr>
          <a:xfrm>
            <a:off x="411480" y="3401568"/>
            <a:ext cx="45720" cy="566928"/>
          </a:xfrm>
          <a:prstGeom prst="rect">
            <a:avLst/>
          </a:prstGeom>
          <a:solidFill>
            <a:srgbClr val="E2761F"/>
          </a:solidFill>
          <a:ln w="12700">
            <a:solidFill>
              <a:srgbClr val="E2761F"/>
            </a:solidFill>
            <a:prstDash val="solid"/>
          </a:ln>
        </p:spPr>
        <p:txBody>
          <a:bodyPr/>
          <a:lstStyle/>
          <a:p>
            <a:endParaRPr lang="en-US"/>
          </a:p>
        </p:txBody>
      </p:sp>
      <p:sp>
        <p:nvSpPr>
          <p:cNvPr id="23" name="Text 21"/>
          <p:cNvSpPr/>
          <p:nvPr/>
        </p:nvSpPr>
        <p:spPr>
          <a:xfrm>
            <a:off x="640080" y="3401568"/>
            <a:ext cx="1965960" cy="566928"/>
          </a:xfrm>
          <a:prstGeom prst="rect">
            <a:avLst/>
          </a:prstGeom>
          <a:noFill/>
        </p:spPr>
        <p:txBody>
          <a:bodyPr wrap="square" lIns="0" tIns="0" rIns="0" bIns="0" rtlCol="0" anchor="ctr"/>
          <a:lstStyle/>
          <a:p>
            <a:pPr marL="0" indent="0">
              <a:buNone/>
            </a:pPr>
            <a:r>
              <a:rPr lang="en-US" sz="10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STAY GOVERNABLE</a:t>
            </a:r>
            <a:endParaRPr lang="en-US" sz="1050" dirty="0"/>
          </a:p>
        </p:txBody>
      </p:sp>
      <p:sp>
        <p:nvSpPr>
          <p:cNvPr id="24" name="Text 22"/>
          <p:cNvSpPr/>
          <p:nvPr/>
        </p:nvSpPr>
        <p:spPr>
          <a:xfrm>
            <a:off x="2697480" y="3401568"/>
            <a:ext cx="5852160" cy="566928"/>
          </a:xfrm>
          <a:prstGeom prst="rect">
            <a:avLst/>
          </a:prstGeom>
          <a:noFill/>
        </p:spPr>
        <p:txBody>
          <a:bodyPr wrap="square" lIns="0" tIns="0" rIns="0" bIns="0" rtlCol="0" anchor="ct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Provide a way to review, edit and delete stored memories on request.</a:t>
            </a:r>
            <a:endParaRPr lang="en-US" sz="1100" dirty="0"/>
          </a:p>
        </p:txBody>
      </p:sp>
      <p:sp>
        <p:nvSpPr>
          <p:cNvPr id="25" name="Memory practice row"/>
          <p:cNvSpPr/>
          <p:nvPr/>
        </p:nvSpPr>
        <p:spPr>
          <a:xfrm>
            <a:off x="411480" y="4041648"/>
            <a:ext cx="8321040" cy="566928"/>
          </a:xfrm>
          <a:prstGeom prst="rect">
            <a:avLst/>
          </a:prstGeom>
          <a:solidFill>
            <a:srgbClr val="2A2622"/>
          </a:solidFill>
          <a:ln w="12700">
            <a:solidFill>
              <a:srgbClr val="3A332C"/>
            </a:solidFill>
            <a:prstDash val="solid"/>
          </a:ln>
        </p:spPr>
        <p:txBody>
          <a:bodyPr/>
          <a:lstStyle/>
          <a:p>
            <a:endParaRPr lang="en-US"/>
          </a:p>
        </p:txBody>
      </p:sp>
      <p:sp>
        <p:nvSpPr>
          <p:cNvPr id="26" name="Row accent"/>
          <p:cNvSpPr/>
          <p:nvPr/>
        </p:nvSpPr>
        <p:spPr>
          <a:xfrm>
            <a:off x="411480" y="4041648"/>
            <a:ext cx="45720" cy="566928"/>
          </a:xfrm>
          <a:prstGeom prst="rect">
            <a:avLst/>
          </a:prstGeom>
          <a:solidFill>
            <a:srgbClr val="E2761F"/>
          </a:solidFill>
          <a:ln w="12700">
            <a:solidFill>
              <a:srgbClr val="E2761F"/>
            </a:solidFill>
            <a:prstDash val="solid"/>
          </a:ln>
        </p:spPr>
        <p:txBody>
          <a:bodyPr/>
          <a:lstStyle/>
          <a:p>
            <a:endParaRPr lang="en-US"/>
          </a:p>
        </p:txBody>
      </p:sp>
      <p:sp>
        <p:nvSpPr>
          <p:cNvPr id="27" name="Text 25"/>
          <p:cNvSpPr/>
          <p:nvPr/>
        </p:nvSpPr>
        <p:spPr>
          <a:xfrm>
            <a:off x="640080" y="4041648"/>
            <a:ext cx="1965960" cy="566928"/>
          </a:xfrm>
          <a:prstGeom prst="rect">
            <a:avLst/>
          </a:prstGeom>
          <a:noFill/>
        </p:spPr>
        <p:txBody>
          <a:bodyPr wrap="square" lIns="0" tIns="0" rIns="0" bIns="0" rtlCol="0" anchor="ctr"/>
          <a:lstStyle/>
          <a:p>
            <a:pPr marL="0" indent="0">
              <a:buNone/>
            </a:pPr>
            <a:r>
              <a:rPr lang="en-US" sz="105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BACK UP</a:t>
            </a:r>
            <a:endParaRPr lang="en-US" sz="1050" dirty="0"/>
          </a:p>
        </p:txBody>
      </p:sp>
      <p:sp>
        <p:nvSpPr>
          <p:cNvPr id="28" name="Text 26"/>
          <p:cNvSpPr/>
          <p:nvPr/>
        </p:nvSpPr>
        <p:spPr>
          <a:xfrm>
            <a:off x="2697480" y="4041648"/>
            <a:ext cx="5852160" cy="566928"/>
          </a:xfrm>
          <a:prstGeom prst="rect">
            <a:avLst/>
          </a:prstGeom>
          <a:noFill/>
        </p:spPr>
        <p:txBody>
          <a:bodyPr wrap="square" lIns="0" tIns="0" rIns="0" bIns="0" rtlCol="0" anchor="ctr"/>
          <a:lstStyle/>
          <a:p>
            <a:pPr marL="0" indent="0">
              <a:buNone/>
            </a:pPr>
            <a:r>
              <a:rPr lang="en-US" sz="1100" dirty="0">
                <a:solidFill>
                  <a:srgbClr val="C9BFB2"/>
                </a:solidFill>
                <a:latin typeface="Arial" panose="020B0604020202020204" pitchFamily="34" charset="0"/>
                <a:ea typeface="Arial" panose="020B0604020202020204" pitchFamily="34" charset="-122"/>
                <a:cs typeface="Arial" panose="020B0604020202020204" pitchFamily="34" charset="-120"/>
              </a:rPr>
              <a:t>Schedule regular PostgreSQL dumps to storage outside the host.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06</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6  ·  A WORKABLE MEMORY SCHEMA</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How to Structure the Memory Tables</a:t>
            </a:r>
            <a:endParaRPr lang="en-US" sz="2600" dirty="0"/>
          </a:p>
        </p:txBody>
      </p:sp>
      <p:sp>
        <p:nvSpPr>
          <p:cNvPr id="8" name="Configuration block background"/>
          <p:cNvSpPr/>
          <p:nvPr/>
        </p:nvSpPr>
        <p:spPr>
          <a:xfrm>
            <a:off x="411480" y="1097280"/>
            <a:ext cx="4937760" cy="3017520"/>
          </a:xfrm>
          <a:prstGeom prst="rect">
            <a:avLst/>
          </a:prstGeom>
          <a:solidFill>
            <a:srgbClr val="141210"/>
          </a:solidFill>
          <a:ln w="12700">
            <a:solidFill>
              <a:srgbClr val="3A332C"/>
            </a:solidFill>
            <a:prstDash val="solid"/>
          </a:ln>
        </p:spPr>
        <p:txBody>
          <a:bodyPr/>
          <a:lstStyle/>
          <a:p>
            <a:endParaRPr lang="en-US"/>
          </a:p>
        </p:txBody>
      </p:sp>
      <p:sp>
        <p:nvSpPr>
          <p:cNvPr id="9" name="Configuration block accent"/>
          <p:cNvSpPr/>
          <p:nvPr/>
        </p:nvSpPr>
        <p:spPr>
          <a:xfrm>
            <a:off x="411480" y="1097280"/>
            <a:ext cx="50292" cy="30175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594360" y="1216152"/>
            <a:ext cx="4626864" cy="2779776"/>
          </a:xfrm>
          <a:prstGeom prst="rect">
            <a:avLst/>
          </a:prstGeom>
          <a:noFill/>
        </p:spPr>
        <p:txBody>
          <a:bodyPr wrap="square" lIns="0" tIns="0" rIns="0" bIns="0" rtlCol="0" anchor="t"/>
          <a:lstStyle/>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conversations</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id, user_id, started_at, title</a:t>
            </a:r>
            <a:endParaRPr lang="en-US" sz="900" dirty="0"/>
          </a:p>
          <a:p>
            <a:pPr marL="0" indent="0">
              <a:lnSpc>
                <a:spcPts val="1350"/>
              </a:lnSpc>
              <a:buNone/>
            </a:pP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messages</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id, conversation_id, role, content,</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created_at, token_count</a:t>
            </a:r>
            <a:endParaRPr lang="en-US" sz="900" dirty="0"/>
          </a:p>
          <a:p>
            <a:pPr marL="0" indent="0">
              <a:lnSpc>
                <a:spcPts val="1350"/>
              </a:lnSpc>
              <a:buNone/>
            </a:pP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summaries</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conversation_id, summary_text, updated_at</a:t>
            </a:r>
            <a:endParaRPr lang="en-US" sz="900" dirty="0"/>
          </a:p>
          <a:p>
            <a:pPr marL="0" indent="0">
              <a:lnSpc>
                <a:spcPts val="1350"/>
              </a:lnSpc>
              <a:buNone/>
            </a:pP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user_profile</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user_id, key, value, updated_at</a:t>
            </a:r>
            <a:endParaRPr lang="en-US" sz="900" dirty="0"/>
          </a:p>
          <a:p>
            <a:pPr marL="0" indent="0">
              <a:lnSpc>
                <a:spcPts val="1350"/>
              </a:lnSpc>
              <a:buNone/>
            </a:pP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sources_used</a:t>
            </a:r>
            <a:endParaRPr lang="en-US" sz="900" dirty="0"/>
          </a:p>
          <a:p>
            <a:pPr marL="0" indent="0">
              <a:lnSpc>
                <a:spcPts val="1350"/>
              </a:lnSpc>
              <a:buNone/>
            </a:pP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  message_id, document_id, chunk_id, score</a:t>
            </a:r>
            <a:endParaRPr lang="en-US" sz="900" dirty="0"/>
          </a:p>
        </p:txBody>
      </p:sp>
      <p:sp>
        <p:nvSpPr>
          <p:cNvPr id="11" name="Panel background"/>
          <p:cNvSpPr/>
          <p:nvPr/>
        </p:nvSpPr>
        <p:spPr>
          <a:xfrm>
            <a:off x="5532120" y="1097280"/>
            <a:ext cx="3200400" cy="1417320"/>
          </a:xfrm>
          <a:prstGeom prst="rect">
            <a:avLst/>
          </a:prstGeom>
          <a:solidFill>
            <a:srgbClr val="2A2622"/>
          </a:solidFill>
          <a:ln w="12700">
            <a:solidFill>
              <a:srgbClr val="3A332C"/>
            </a:solidFill>
            <a:prstDash val="solid"/>
          </a:ln>
        </p:spPr>
        <p:txBody>
          <a:bodyPr/>
          <a:lstStyle/>
          <a:p>
            <a:endParaRPr lang="en-US"/>
          </a:p>
        </p:txBody>
      </p:sp>
      <p:sp>
        <p:nvSpPr>
          <p:cNvPr id="12" name="Panel accent"/>
          <p:cNvSpPr/>
          <p:nvPr/>
        </p:nvSpPr>
        <p:spPr>
          <a:xfrm>
            <a:off x="5532120" y="1097280"/>
            <a:ext cx="45720" cy="1417320"/>
          </a:xfrm>
          <a:prstGeom prst="rect">
            <a:avLst/>
          </a:prstGeom>
          <a:solidFill>
            <a:srgbClr val="E2761F"/>
          </a:solidFill>
          <a:ln w="12700">
            <a:solidFill>
              <a:srgbClr val="E2761F"/>
            </a:solidFill>
            <a:prstDash val="solid"/>
          </a:ln>
        </p:spPr>
        <p:txBody>
          <a:bodyPr/>
          <a:lstStyle/>
          <a:p>
            <a:endParaRPr lang="en-US"/>
          </a:p>
        </p:txBody>
      </p:sp>
      <p:sp>
        <p:nvSpPr>
          <p:cNvPr id="13" name="Text 11"/>
          <p:cNvSpPr/>
          <p:nvPr/>
        </p:nvSpPr>
        <p:spPr>
          <a:xfrm>
            <a:off x="5751576" y="1188720"/>
            <a:ext cx="277977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WHY SEPARATE TABLES</a:t>
            </a:r>
            <a:endParaRPr lang="en-US" sz="1000" dirty="0"/>
          </a:p>
        </p:txBody>
      </p:sp>
      <p:sp>
        <p:nvSpPr>
          <p:cNvPr id="14" name="Text 12"/>
          <p:cNvSpPr/>
          <p:nvPr/>
        </p:nvSpPr>
        <p:spPr>
          <a:xfrm>
            <a:off x="5751576" y="1463040"/>
            <a:ext cx="2779776" cy="94183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Raw messages are the audit trail. Summaries are what the model sees. Profile data is durable and user-editable.</a:t>
            </a:r>
            <a:endParaRPr lang="en-US" sz="950" dirty="0"/>
          </a:p>
        </p:txBody>
      </p:sp>
      <p:sp>
        <p:nvSpPr>
          <p:cNvPr id="15" name="Panel background"/>
          <p:cNvSpPr/>
          <p:nvPr/>
        </p:nvSpPr>
        <p:spPr>
          <a:xfrm>
            <a:off x="5532120" y="2642616"/>
            <a:ext cx="3200400" cy="1417320"/>
          </a:xfrm>
          <a:prstGeom prst="rect">
            <a:avLst/>
          </a:prstGeom>
          <a:solidFill>
            <a:srgbClr val="2A2622"/>
          </a:solidFill>
          <a:ln w="12700">
            <a:solidFill>
              <a:srgbClr val="3A332C"/>
            </a:solidFill>
            <a:prstDash val="solid"/>
          </a:ln>
        </p:spPr>
        <p:txBody>
          <a:bodyPr/>
          <a:lstStyle/>
          <a:p>
            <a:endParaRPr lang="en-US"/>
          </a:p>
        </p:txBody>
      </p:sp>
      <p:sp>
        <p:nvSpPr>
          <p:cNvPr id="16" name="Panel accent"/>
          <p:cNvSpPr/>
          <p:nvPr/>
        </p:nvSpPr>
        <p:spPr>
          <a:xfrm>
            <a:off x="5532120" y="2642616"/>
            <a:ext cx="45720" cy="1417320"/>
          </a:xfrm>
          <a:prstGeom prst="rect">
            <a:avLst/>
          </a:prstGeom>
          <a:solidFill>
            <a:srgbClr val="E2761F"/>
          </a:solidFill>
          <a:ln w="12700">
            <a:solidFill>
              <a:srgbClr val="E2761F"/>
            </a:solidFill>
            <a:prstDash val="solid"/>
          </a:ln>
        </p:spPr>
        <p:txBody>
          <a:bodyPr/>
          <a:lstStyle/>
          <a:p>
            <a:endParaRPr lang="en-US"/>
          </a:p>
        </p:txBody>
      </p:sp>
      <p:sp>
        <p:nvSpPr>
          <p:cNvPr id="17" name="Text 15"/>
          <p:cNvSpPr/>
          <p:nvPr/>
        </p:nvSpPr>
        <p:spPr>
          <a:xfrm>
            <a:off x="5751576" y="2734056"/>
            <a:ext cx="277977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SOURCES_USED EARNS ITS KEEP</a:t>
            </a:r>
            <a:endParaRPr lang="en-US" sz="1000" dirty="0"/>
          </a:p>
        </p:txBody>
      </p:sp>
      <p:sp>
        <p:nvSpPr>
          <p:cNvPr id="18" name="Text 16"/>
          <p:cNvSpPr/>
          <p:nvPr/>
        </p:nvSpPr>
        <p:spPr>
          <a:xfrm>
            <a:off x="5751576" y="3008376"/>
            <a:ext cx="2779776" cy="94183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Recording which chunks produced an answer makes both citation and debugging possible after the fact.</a:t>
            </a:r>
            <a:endParaRPr lang="en-US" sz="950" dirty="0"/>
          </a:p>
        </p:txBody>
      </p:sp>
      <p:sp>
        <p:nvSpPr>
          <p:cNvPr id="19" name="Text 17"/>
          <p:cNvSpPr/>
          <p:nvPr/>
        </p:nvSpPr>
        <p:spPr>
          <a:xfrm>
            <a:off x="411480" y="4261104"/>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Index messages on conversation_id and created_at — without it, history queries slow noticeably as the log grows.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06</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6  ·  SUMMARISATION AND RETENTION</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Remember Meaning, Not Every Word</a:t>
            </a:r>
            <a:endParaRPr lang="en-US" sz="2600" dirty="0"/>
          </a:p>
        </p:txBody>
      </p:sp>
      <p:sp>
        <p:nvSpPr>
          <p:cNvPr id="8" name="Card"/>
          <p:cNvSpPr/>
          <p:nvPr/>
        </p:nvSpPr>
        <p:spPr>
          <a:xfrm>
            <a:off x="411480" y="1133856"/>
            <a:ext cx="2688336" cy="1517904"/>
          </a:xfrm>
          <a:prstGeom prst="rect">
            <a:avLst/>
          </a:prstGeom>
          <a:solidFill>
            <a:srgbClr val="2A2622"/>
          </a:solidFill>
          <a:ln w="12700">
            <a:solidFill>
              <a:srgbClr val="3A332C"/>
            </a:solidFill>
            <a:prstDash val="solid"/>
          </a:ln>
        </p:spPr>
        <p:txBody>
          <a:bodyPr/>
          <a:lstStyle/>
          <a:p>
            <a:endParaRPr lang="en-US"/>
          </a:p>
        </p:txBody>
      </p:sp>
      <p:sp>
        <p:nvSpPr>
          <p:cNvPr id="9" name="Card accent"/>
          <p:cNvSpPr/>
          <p:nvPr/>
        </p:nvSpPr>
        <p:spPr>
          <a:xfrm>
            <a:off x="411480" y="1133856"/>
            <a:ext cx="2688336"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12648" y="1261872"/>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ROLLING SUMMARY</a:t>
            </a:r>
            <a:endParaRPr lang="en-US" sz="1050" dirty="0"/>
          </a:p>
        </p:txBody>
      </p:sp>
      <p:sp>
        <p:nvSpPr>
          <p:cNvPr id="11" name="Text 9"/>
          <p:cNvSpPr/>
          <p:nvPr/>
        </p:nvSpPr>
        <p:spPr>
          <a:xfrm>
            <a:off x="612648" y="1536192"/>
            <a:ext cx="2286000" cy="100584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After every few exchanges, update a running summary of the conversation and store it.</a:t>
            </a:r>
            <a:endParaRPr lang="en-US" sz="950" dirty="0"/>
          </a:p>
        </p:txBody>
      </p:sp>
      <p:sp>
        <p:nvSpPr>
          <p:cNvPr id="12" name="Card"/>
          <p:cNvSpPr/>
          <p:nvPr/>
        </p:nvSpPr>
        <p:spPr>
          <a:xfrm>
            <a:off x="3273552" y="1133856"/>
            <a:ext cx="2688336" cy="1517904"/>
          </a:xfrm>
          <a:prstGeom prst="rect">
            <a:avLst/>
          </a:prstGeom>
          <a:solidFill>
            <a:srgbClr val="2A2622"/>
          </a:solidFill>
          <a:ln w="12700">
            <a:solidFill>
              <a:srgbClr val="3A332C"/>
            </a:solidFill>
            <a:prstDash val="solid"/>
          </a:ln>
        </p:spPr>
        <p:txBody>
          <a:bodyPr/>
          <a:lstStyle/>
          <a:p>
            <a:endParaRPr lang="en-US"/>
          </a:p>
        </p:txBody>
      </p:sp>
      <p:sp>
        <p:nvSpPr>
          <p:cNvPr id="13" name="Card accent"/>
          <p:cNvSpPr/>
          <p:nvPr/>
        </p:nvSpPr>
        <p:spPr>
          <a:xfrm>
            <a:off x="3273552" y="1133856"/>
            <a:ext cx="2688336"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3474720" y="1261872"/>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WHAT TO SEND</a:t>
            </a:r>
            <a:endParaRPr lang="en-US" sz="1050" dirty="0"/>
          </a:p>
        </p:txBody>
      </p:sp>
      <p:sp>
        <p:nvSpPr>
          <p:cNvPr id="15" name="Text 13"/>
          <p:cNvSpPr/>
          <p:nvPr/>
        </p:nvSpPr>
        <p:spPr>
          <a:xfrm>
            <a:off x="3474720" y="1536192"/>
            <a:ext cx="2286000" cy="100584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Send the summary plus the last two or three messages — not the entire transcript.</a:t>
            </a:r>
            <a:endParaRPr lang="en-US" sz="950" dirty="0"/>
          </a:p>
        </p:txBody>
      </p:sp>
      <p:sp>
        <p:nvSpPr>
          <p:cNvPr id="16" name="Card"/>
          <p:cNvSpPr/>
          <p:nvPr/>
        </p:nvSpPr>
        <p:spPr>
          <a:xfrm>
            <a:off x="6135624" y="1133856"/>
            <a:ext cx="2688336" cy="1517904"/>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6135624" y="1133856"/>
            <a:ext cx="2688336"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36792" y="1261872"/>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WHAT TO PROMOTE</a:t>
            </a:r>
            <a:endParaRPr lang="en-US" sz="1050" dirty="0"/>
          </a:p>
        </p:txBody>
      </p:sp>
      <p:sp>
        <p:nvSpPr>
          <p:cNvPr id="19" name="Text 17"/>
          <p:cNvSpPr/>
          <p:nvPr/>
        </p:nvSpPr>
        <p:spPr>
          <a:xfrm>
            <a:off x="6336792" y="1536192"/>
            <a:ext cx="2286000" cy="100584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Durable facts such as role, language preference or project belong in the profile table, not the summary.</a:t>
            </a:r>
            <a:endParaRPr lang="en-US" sz="950" dirty="0"/>
          </a:p>
        </p:txBody>
      </p:sp>
      <p:sp>
        <p:nvSpPr>
          <p:cNvPr id="20" name="Card"/>
          <p:cNvSpPr/>
          <p:nvPr/>
        </p:nvSpPr>
        <p:spPr>
          <a:xfrm>
            <a:off x="411480" y="2798064"/>
            <a:ext cx="2688336" cy="1517904"/>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11480" y="2798064"/>
            <a:ext cx="2688336"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12648" y="292608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RETENTION POLICY</a:t>
            </a:r>
            <a:endParaRPr lang="en-US" sz="1050" dirty="0"/>
          </a:p>
        </p:txBody>
      </p:sp>
      <p:sp>
        <p:nvSpPr>
          <p:cNvPr id="23" name="Text 21"/>
          <p:cNvSpPr/>
          <p:nvPr/>
        </p:nvSpPr>
        <p:spPr>
          <a:xfrm>
            <a:off x="612648" y="3200400"/>
            <a:ext cx="2286000" cy="100584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Decide how long raw transcripts are kept and enforce it with a scheduled job.</a:t>
            </a:r>
            <a:endParaRPr lang="en-US" sz="950" dirty="0"/>
          </a:p>
        </p:txBody>
      </p:sp>
      <p:sp>
        <p:nvSpPr>
          <p:cNvPr id="24" name="Card"/>
          <p:cNvSpPr/>
          <p:nvPr/>
        </p:nvSpPr>
        <p:spPr>
          <a:xfrm>
            <a:off x="3273552" y="2798064"/>
            <a:ext cx="2688336" cy="1517904"/>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3273552" y="2798064"/>
            <a:ext cx="2688336"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3474720" y="292608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USER CONTROL</a:t>
            </a:r>
            <a:endParaRPr lang="en-US" sz="1050" dirty="0"/>
          </a:p>
        </p:txBody>
      </p:sp>
      <p:sp>
        <p:nvSpPr>
          <p:cNvPr id="27" name="Text 25"/>
          <p:cNvSpPr/>
          <p:nvPr/>
        </p:nvSpPr>
        <p:spPr>
          <a:xfrm>
            <a:off x="3474720" y="3200400"/>
            <a:ext cx="2286000" cy="100584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Provide list, edit and delete for stored memories. Deletion must remove the raw rows too.</a:t>
            </a:r>
            <a:endParaRPr lang="en-US" sz="950" dirty="0"/>
          </a:p>
        </p:txBody>
      </p:sp>
      <p:sp>
        <p:nvSpPr>
          <p:cNvPr id="28" name="Card"/>
          <p:cNvSpPr/>
          <p:nvPr/>
        </p:nvSpPr>
        <p:spPr>
          <a:xfrm>
            <a:off x="6135624" y="2798064"/>
            <a:ext cx="2688336" cy="1517904"/>
          </a:xfrm>
          <a:prstGeom prst="rect">
            <a:avLst/>
          </a:prstGeom>
          <a:solidFill>
            <a:srgbClr val="2A2622"/>
          </a:solidFill>
          <a:ln w="12700">
            <a:solidFill>
              <a:srgbClr val="3A332C"/>
            </a:solidFill>
            <a:prstDash val="solid"/>
          </a:ln>
        </p:spPr>
        <p:txBody>
          <a:bodyPr/>
          <a:lstStyle/>
          <a:p>
            <a:endParaRPr lang="en-US"/>
          </a:p>
        </p:txBody>
      </p:sp>
      <p:sp>
        <p:nvSpPr>
          <p:cNvPr id="29" name="Card accent"/>
          <p:cNvSpPr/>
          <p:nvPr/>
        </p:nvSpPr>
        <p:spPr>
          <a:xfrm>
            <a:off x="6135624" y="2798064"/>
            <a:ext cx="2688336"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336792" y="2926080"/>
            <a:ext cx="2286000"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PRIVACY REVIEW</a:t>
            </a:r>
            <a:endParaRPr lang="en-US" sz="1050" dirty="0"/>
          </a:p>
        </p:txBody>
      </p:sp>
      <p:sp>
        <p:nvSpPr>
          <p:cNvPr id="31" name="Text 29"/>
          <p:cNvSpPr/>
          <p:nvPr/>
        </p:nvSpPr>
        <p:spPr>
          <a:xfrm>
            <a:off x="6336792" y="3200400"/>
            <a:ext cx="2286000" cy="1005840"/>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Chat logs accumulate sensitive content quickly. Treat the database as confidential from day one.</a:t>
            </a:r>
            <a:endParaRPr lang="en-US" sz="950" dirty="0"/>
          </a:p>
        </p:txBody>
      </p:sp>
      <p:sp>
        <p:nvSpPr>
          <p:cNvPr id="32" name="Text 30"/>
          <p:cNvSpPr/>
          <p:nvPr/>
        </p:nvSpPr>
        <p:spPr>
          <a:xfrm>
            <a:off x="411480" y="4389120"/>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Summaries cut prompt length dramatically, which on CPU translates directly into faster answers.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07</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7  ·  BROWSER ACCESS AND NETWORKING</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Reach the Platform From Your LAN</a:t>
            </a:r>
            <a:endParaRPr lang="en-US" sz="2600" dirty="0"/>
          </a:p>
        </p:txBody>
      </p:sp>
      <p:sp>
        <p:nvSpPr>
          <p:cNvPr id="8" name="Text 6"/>
          <p:cNvSpPr/>
          <p:nvPr/>
        </p:nvSpPr>
        <p:spPr>
          <a:xfrm>
            <a:off x="411480" y="1097280"/>
            <a:ext cx="4023360" cy="237744"/>
          </a:xfrm>
          <a:prstGeom prst="rect">
            <a:avLst/>
          </a:prstGeom>
          <a:noFill/>
        </p:spPr>
        <p:txBody>
          <a:bodyPr wrap="square" lIns="0" tIns="0" rIns="0" bIns="0" rtlCol="0" anchor="ctr"/>
          <a:lstStyle/>
          <a:p>
            <a:pPr marL="0" indent="0">
              <a:buNone/>
            </a:pPr>
            <a:r>
              <a:rPr lang="en-US" sz="1150" b="1" dirty="0">
                <a:solidFill>
                  <a:srgbClr val="E2761F"/>
                </a:solidFill>
                <a:latin typeface="Arial" panose="020B0604020202020204" pitchFamily="34" charset="0"/>
                <a:ea typeface="Arial" panose="020B0604020202020204" pitchFamily="34" charset="-122"/>
                <a:cs typeface="Arial" panose="020B0604020202020204" pitchFamily="34" charset="-120"/>
              </a:rPr>
              <a:t>1 — Find the VM address</a:t>
            </a:r>
            <a:endParaRPr lang="en-US" sz="1150" dirty="0"/>
          </a:p>
        </p:txBody>
      </p:sp>
      <p:sp>
        <p:nvSpPr>
          <p:cNvPr id="9" name="Command block background"/>
          <p:cNvSpPr/>
          <p:nvPr/>
        </p:nvSpPr>
        <p:spPr>
          <a:xfrm>
            <a:off x="411480" y="1371600"/>
            <a:ext cx="4023360" cy="534924"/>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371600"/>
            <a:ext cx="50292" cy="534924"/>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499616"/>
            <a:ext cx="3712464" cy="278892"/>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hostname -I</a:t>
            </a:r>
            <a:endParaRPr lang="en-US" sz="1000" dirty="0"/>
          </a:p>
        </p:txBody>
      </p:sp>
      <p:sp>
        <p:nvSpPr>
          <p:cNvPr id="12" name="Text 10"/>
          <p:cNvSpPr/>
          <p:nvPr/>
        </p:nvSpPr>
        <p:spPr>
          <a:xfrm>
            <a:off x="411480" y="1956816"/>
            <a:ext cx="402336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On Hyper-V, an External Virtual Switch is usually the simplest way to make the VM visible on the LAN.</a:t>
            </a:r>
            <a:endParaRPr lang="en-US" sz="1000" dirty="0"/>
          </a:p>
        </p:txBody>
      </p:sp>
      <p:sp>
        <p:nvSpPr>
          <p:cNvPr id="13" name="Text 11"/>
          <p:cNvSpPr/>
          <p:nvPr/>
        </p:nvSpPr>
        <p:spPr>
          <a:xfrm>
            <a:off x="4709160" y="1097280"/>
            <a:ext cx="4023360" cy="237744"/>
          </a:xfrm>
          <a:prstGeom prst="rect">
            <a:avLst/>
          </a:prstGeom>
          <a:noFill/>
        </p:spPr>
        <p:txBody>
          <a:bodyPr wrap="square" lIns="0" tIns="0" rIns="0" bIns="0" rtlCol="0" anchor="ctr"/>
          <a:lstStyle/>
          <a:p>
            <a:pPr marL="0" indent="0">
              <a:buNone/>
            </a:pPr>
            <a:r>
              <a:rPr lang="en-US" sz="1150" b="1" dirty="0">
                <a:solidFill>
                  <a:srgbClr val="E2761F"/>
                </a:solidFill>
                <a:latin typeface="Arial" panose="020B0604020202020204" pitchFamily="34" charset="0"/>
                <a:ea typeface="Arial" panose="020B0604020202020204" pitchFamily="34" charset="-122"/>
                <a:cs typeface="Arial" panose="020B0604020202020204" pitchFamily="34" charset="-120"/>
              </a:rPr>
              <a:t>2 — Check published ports</a:t>
            </a:r>
            <a:endParaRPr lang="en-US" sz="1150" dirty="0"/>
          </a:p>
        </p:txBody>
      </p:sp>
      <p:sp>
        <p:nvSpPr>
          <p:cNvPr id="14" name="Command block background"/>
          <p:cNvSpPr/>
          <p:nvPr/>
        </p:nvSpPr>
        <p:spPr>
          <a:xfrm>
            <a:off x="4709160" y="1371600"/>
            <a:ext cx="4023360" cy="758952"/>
          </a:xfrm>
          <a:prstGeom prst="rect">
            <a:avLst/>
          </a:prstGeom>
          <a:solidFill>
            <a:srgbClr val="141210"/>
          </a:solidFill>
          <a:ln w="12700">
            <a:solidFill>
              <a:srgbClr val="3A332C"/>
            </a:solidFill>
            <a:prstDash val="solid"/>
          </a:ln>
        </p:spPr>
        <p:txBody>
          <a:bodyPr/>
          <a:lstStyle/>
          <a:p>
            <a:endParaRPr lang="en-US"/>
          </a:p>
        </p:txBody>
      </p:sp>
      <p:sp>
        <p:nvSpPr>
          <p:cNvPr id="15" name="Command block accent"/>
          <p:cNvSpPr/>
          <p:nvPr/>
        </p:nvSpPr>
        <p:spPr>
          <a:xfrm>
            <a:off x="4709160" y="1371600"/>
            <a:ext cx="50292" cy="758952"/>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4892040" y="1499616"/>
            <a:ext cx="3712464" cy="502920"/>
          </a:xfrm>
          <a:prstGeom prst="rect">
            <a:avLst/>
          </a:prstGeom>
          <a:noFill/>
        </p:spPr>
        <p:txBody>
          <a:bodyPr wrap="square" lIns="0" tIns="0" rIns="0" bIns="0" rtlCol="0" anchor="t"/>
          <a:lstStyle/>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ps --format</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  'table {{.Names}}\t{{.Ports}}'</a:t>
            </a:r>
            <a:endParaRPr lang="en-US" sz="950" dirty="0"/>
          </a:p>
        </p:txBody>
      </p:sp>
      <p:sp>
        <p:nvSpPr>
          <p:cNvPr id="17" name="Text 15"/>
          <p:cNvSpPr/>
          <p:nvPr/>
        </p:nvSpPr>
        <p:spPr>
          <a:xfrm>
            <a:off x="4709160" y="2194560"/>
            <a:ext cx="402336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A LAN-facing service shows an address of 0.0.0.0 mapped to the container port.</a:t>
            </a:r>
            <a:endParaRPr lang="en-US" sz="1000" dirty="0"/>
          </a:p>
        </p:txBody>
      </p:sp>
      <p:sp>
        <p:nvSpPr>
          <p:cNvPr id="18" name="Text 16"/>
          <p:cNvSpPr/>
          <p:nvPr/>
        </p:nvSpPr>
        <p:spPr>
          <a:xfrm>
            <a:off x="411480" y="2688336"/>
            <a:ext cx="8321040" cy="237744"/>
          </a:xfrm>
          <a:prstGeom prst="rect">
            <a:avLst/>
          </a:prstGeom>
          <a:noFill/>
        </p:spPr>
        <p:txBody>
          <a:bodyPr wrap="square" lIns="0" tIns="0" rIns="0" bIns="0" rtlCol="0" anchor="ctr"/>
          <a:lstStyle/>
          <a:p>
            <a:pPr marL="0" indent="0">
              <a:buNone/>
            </a:pPr>
            <a:r>
              <a:rPr lang="en-US" sz="1150" b="1" dirty="0">
                <a:solidFill>
                  <a:srgbClr val="E2761F"/>
                </a:solidFill>
                <a:latin typeface="Arial" panose="020B0604020202020204" pitchFamily="34" charset="0"/>
                <a:ea typeface="Arial" panose="020B0604020202020204" pitchFamily="34" charset="-122"/>
                <a:cs typeface="Arial" panose="020B0604020202020204" pitchFamily="34" charset="-120"/>
              </a:rPr>
              <a:t>3 — Always test locally first</a:t>
            </a:r>
            <a:endParaRPr lang="en-US" sz="1150" dirty="0"/>
          </a:p>
        </p:txBody>
      </p:sp>
      <p:sp>
        <p:nvSpPr>
          <p:cNvPr id="19" name="Command block background"/>
          <p:cNvSpPr/>
          <p:nvPr/>
        </p:nvSpPr>
        <p:spPr>
          <a:xfrm>
            <a:off x="411480" y="2962656"/>
            <a:ext cx="8321040" cy="758952"/>
          </a:xfrm>
          <a:prstGeom prst="rect">
            <a:avLst/>
          </a:prstGeom>
          <a:solidFill>
            <a:srgbClr val="141210"/>
          </a:solidFill>
          <a:ln w="12700">
            <a:solidFill>
              <a:srgbClr val="3A332C"/>
            </a:solidFill>
            <a:prstDash val="solid"/>
          </a:ln>
        </p:spPr>
        <p:txBody>
          <a:bodyPr/>
          <a:lstStyle/>
          <a:p>
            <a:endParaRPr lang="en-US"/>
          </a:p>
        </p:txBody>
      </p:sp>
      <p:sp>
        <p:nvSpPr>
          <p:cNvPr id="20" name="Command block accent"/>
          <p:cNvSpPr/>
          <p:nvPr/>
        </p:nvSpPr>
        <p:spPr>
          <a:xfrm>
            <a:off x="411480" y="2962656"/>
            <a:ext cx="50292" cy="758952"/>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594360" y="3090672"/>
            <a:ext cx="8010144" cy="502920"/>
          </a:xfrm>
          <a:prstGeom prst="rect">
            <a:avLst/>
          </a:prstGeom>
          <a:noFill/>
        </p:spPr>
        <p:txBody>
          <a:bodyPr wrap="square" lIns="0" tIns="0" rIns="0" bIns="0" rtlCol="0" anchor="t"/>
          <a:lstStyle/>
          <a:p>
            <a:pPr marL="0" indent="0">
              <a:lnSpc>
                <a:spcPts val="1630"/>
              </a:lnSpc>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5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http://localhost:11434/api/tags</a:t>
            </a:r>
            <a:endParaRPr lang="en-US" sz="1050" dirty="0"/>
          </a:p>
          <a:p>
            <a:pPr marL="0" indent="0">
              <a:lnSpc>
                <a:spcPts val="1630"/>
              </a:lnSpc>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5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http://localhost:6333/</a:t>
            </a:r>
            <a:endParaRPr lang="en-US" sz="1050" dirty="0"/>
          </a:p>
        </p:txBody>
      </p:sp>
      <p:sp>
        <p:nvSpPr>
          <p:cNvPr id="22" name="Troubleshooting panel"/>
          <p:cNvSpPr/>
          <p:nvPr/>
        </p:nvSpPr>
        <p:spPr>
          <a:xfrm>
            <a:off x="411480" y="3877056"/>
            <a:ext cx="8321040" cy="713232"/>
          </a:xfrm>
          <a:prstGeom prst="rect">
            <a:avLst/>
          </a:prstGeom>
          <a:solidFill>
            <a:srgbClr val="2A2622"/>
          </a:solidFill>
          <a:ln w="12700">
            <a:solidFill>
              <a:srgbClr val="3A332C"/>
            </a:solidFill>
            <a:prstDash val="solid"/>
          </a:ln>
        </p:spPr>
        <p:txBody>
          <a:bodyPr/>
          <a:lstStyle/>
          <a:p>
            <a:endParaRPr lang="en-US"/>
          </a:p>
        </p:txBody>
      </p:sp>
      <p:sp>
        <p:nvSpPr>
          <p:cNvPr id="23" name="Text 21"/>
          <p:cNvSpPr/>
          <p:nvPr/>
        </p:nvSpPr>
        <p:spPr>
          <a:xfrm>
            <a:off x="621792" y="3877056"/>
            <a:ext cx="7900416" cy="713232"/>
          </a:xfrm>
          <a:prstGeom prst="rect">
            <a:avLst/>
          </a:prstGeom>
          <a:noFill/>
        </p:spPr>
        <p:txBody>
          <a:bodyPr wrap="square" lIns="0" tIns="0" rIns="0" bIns="0" rtlCol="0" anchor="ctr"/>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TROUBLESHOOTING RULE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If localhost fails, the container is the problem — fix it there first. If localhost works but another PC cannot connect, the fault is in Hyper-V networking or the Ubuntu firewall.</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07</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7  ·  FIREWALL AND REVERSE PROXY</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Publish One Door, Not Six</a:t>
            </a:r>
            <a:endParaRPr lang="en-US" sz="2600" dirty="0"/>
          </a:p>
        </p:txBody>
      </p:sp>
      <p:sp>
        <p:nvSpPr>
          <p:cNvPr id="8" name="Text 6"/>
          <p:cNvSpPr/>
          <p:nvPr/>
        </p:nvSpPr>
        <p:spPr>
          <a:xfrm>
            <a:off x="411480" y="1078992"/>
            <a:ext cx="8321040" cy="237744"/>
          </a:xfrm>
          <a:prstGeom prst="rect">
            <a:avLst/>
          </a:prstGeom>
          <a:noFill/>
        </p:spPr>
        <p:txBody>
          <a:bodyPr wrap="square" lIns="0" tIns="0" rIns="0" bIns="0" rtlCol="0" anchor="ctr"/>
          <a:lstStyle/>
          <a:p>
            <a:pPr marL="0" indent="0">
              <a:buNone/>
            </a:pPr>
            <a:r>
              <a:rPr lang="en-US" sz="1100" b="1" dirty="0">
                <a:solidFill>
                  <a:srgbClr val="E2761F"/>
                </a:solidFill>
                <a:latin typeface="Arial" panose="020B0604020202020204" pitchFamily="34" charset="0"/>
                <a:ea typeface="Arial" panose="020B0604020202020204" pitchFamily="34" charset="-122"/>
                <a:cs typeface="Arial" panose="020B0604020202020204" pitchFamily="34" charset="-120"/>
              </a:rPr>
              <a:t>Restrict the host firewall to what people actually need</a:t>
            </a:r>
            <a:endParaRPr lang="en-US" sz="1100" dirty="0"/>
          </a:p>
        </p:txBody>
      </p:sp>
      <p:sp>
        <p:nvSpPr>
          <p:cNvPr id="9" name="Command block background"/>
          <p:cNvSpPr/>
          <p:nvPr/>
        </p:nvSpPr>
        <p:spPr>
          <a:xfrm>
            <a:off x="411480" y="1353312"/>
            <a:ext cx="8321040" cy="1207008"/>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353312"/>
            <a:ext cx="50292" cy="1207008"/>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481328"/>
            <a:ext cx="8010144" cy="950976"/>
          </a:xfrm>
          <a:prstGeom prst="rect">
            <a:avLst/>
          </a:prstGeom>
          <a:noFill/>
        </p:spPr>
        <p:txBody>
          <a:bodyPr wrap="square" lIns="0" tIns="0" rIns="0" bIns="0" rtlCol="0" anchor="t"/>
          <a:lstStyle/>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ufw default deny incoming</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ufw allow from 192.168.0.0/16 to any port 22    # admin SSH</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ufw allow from 192.168.0.0/16 to any port 3000  # web interface</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sudo ufw enable &amp;&amp; sudo ufw status numbered</a:t>
            </a:r>
            <a:endParaRPr lang="en-US" sz="950" dirty="0"/>
          </a:p>
        </p:txBody>
      </p:sp>
      <p:sp>
        <p:nvSpPr>
          <p:cNvPr id="12" name="Card"/>
          <p:cNvSpPr/>
          <p:nvPr/>
        </p:nvSpPr>
        <p:spPr>
          <a:xfrm>
            <a:off x="411480" y="2615184"/>
            <a:ext cx="4069080" cy="859536"/>
          </a:xfrm>
          <a:prstGeom prst="rect">
            <a:avLst/>
          </a:prstGeom>
          <a:solidFill>
            <a:srgbClr val="2A2622"/>
          </a:solidFill>
          <a:ln w="12700">
            <a:solidFill>
              <a:srgbClr val="3A332C"/>
            </a:solidFill>
            <a:prstDash val="solid"/>
          </a:ln>
        </p:spPr>
        <p:txBody>
          <a:bodyPr/>
          <a:lstStyle/>
          <a:p>
            <a:endParaRPr lang="en-US"/>
          </a:p>
        </p:txBody>
      </p:sp>
      <p:sp>
        <p:nvSpPr>
          <p:cNvPr id="13" name="Card accent"/>
          <p:cNvSpPr/>
          <p:nvPr/>
        </p:nvSpPr>
        <p:spPr>
          <a:xfrm>
            <a:off x="411480" y="2615184"/>
            <a:ext cx="406908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12648" y="274320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BIND INTERNALLY</a:t>
            </a:r>
            <a:endParaRPr lang="en-US" sz="1050" dirty="0"/>
          </a:p>
        </p:txBody>
      </p:sp>
      <p:sp>
        <p:nvSpPr>
          <p:cNvPr id="15" name="Text 13"/>
          <p:cNvSpPr/>
          <p:nvPr/>
        </p:nvSpPr>
        <p:spPr>
          <a:xfrm>
            <a:off x="612648" y="3017520"/>
            <a:ext cx="3666744" cy="34747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Change published ports to 127.0.0.1:6333:6333 so databases are reachable only from the host itself.</a:t>
            </a:r>
            <a:endParaRPr lang="en-US" sz="950" dirty="0"/>
          </a:p>
        </p:txBody>
      </p:sp>
      <p:sp>
        <p:nvSpPr>
          <p:cNvPr id="16" name="Card"/>
          <p:cNvSpPr/>
          <p:nvPr/>
        </p:nvSpPr>
        <p:spPr>
          <a:xfrm>
            <a:off x="4663440" y="2615184"/>
            <a:ext cx="4069080" cy="859536"/>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4663440" y="2615184"/>
            <a:ext cx="406908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4864608" y="2743200"/>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ADD A REVERSE PROXY</a:t>
            </a:r>
            <a:endParaRPr lang="en-US" sz="1050" dirty="0"/>
          </a:p>
        </p:txBody>
      </p:sp>
      <p:sp>
        <p:nvSpPr>
          <p:cNvPr id="19" name="Text 17"/>
          <p:cNvSpPr/>
          <p:nvPr/>
        </p:nvSpPr>
        <p:spPr>
          <a:xfrm>
            <a:off x="4864608" y="3017520"/>
            <a:ext cx="3666744" cy="34747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Put Nginx or Caddy in front to terminate TLS, add authentication and serve one hostname.</a:t>
            </a:r>
            <a:endParaRPr lang="en-US" sz="950" dirty="0"/>
          </a:p>
        </p:txBody>
      </p:sp>
      <p:sp>
        <p:nvSpPr>
          <p:cNvPr id="20" name="Card"/>
          <p:cNvSpPr/>
          <p:nvPr/>
        </p:nvSpPr>
        <p:spPr>
          <a:xfrm>
            <a:off x="411480" y="3566160"/>
            <a:ext cx="4069080" cy="859536"/>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11480" y="3566160"/>
            <a:ext cx="406908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12648" y="369417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DOCKER BYPASSES UFW</a:t>
            </a:r>
            <a:endParaRPr lang="en-US" sz="1050" dirty="0"/>
          </a:p>
        </p:txBody>
      </p:sp>
      <p:sp>
        <p:nvSpPr>
          <p:cNvPr id="23" name="Text 21"/>
          <p:cNvSpPr/>
          <p:nvPr/>
        </p:nvSpPr>
        <p:spPr>
          <a:xfrm>
            <a:off x="612648" y="3968496"/>
            <a:ext cx="3666744" cy="34747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Published container ports can punch through the firewall — always verify from another machine.</a:t>
            </a:r>
            <a:endParaRPr lang="en-US" sz="950" dirty="0"/>
          </a:p>
        </p:txBody>
      </p:sp>
      <p:sp>
        <p:nvSpPr>
          <p:cNvPr id="24" name="Card"/>
          <p:cNvSpPr/>
          <p:nvPr/>
        </p:nvSpPr>
        <p:spPr>
          <a:xfrm>
            <a:off x="4663440" y="3566160"/>
            <a:ext cx="4069080" cy="859536"/>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4663440" y="3566160"/>
            <a:ext cx="406908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4864608" y="369417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ONE ENTRY POINT</a:t>
            </a:r>
            <a:endParaRPr lang="en-US" sz="1050" dirty="0"/>
          </a:p>
        </p:txBody>
      </p:sp>
      <p:sp>
        <p:nvSpPr>
          <p:cNvPr id="27" name="Text 25"/>
          <p:cNvSpPr/>
          <p:nvPr/>
        </p:nvSpPr>
        <p:spPr>
          <a:xfrm>
            <a:off x="4864608" y="3968496"/>
            <a:ext cx="3666744" cy="34747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Users reach the web interface. The web interface reaches everything else over the private network.</a:t>
            </a:r>
            <a:endParaRPr lang="en-US" sz="950" dirty="0"/>
          </a:p>
        </p:txBody>
      </p:sp>
      <p:sp>
        <p:nvSpPr>
          <p:cNvPr id="28" name="Text 26"/>
          <p:cNvSpPr/>
          <p:nvPr/>
        </p:nvSpPr>
        <p:spPr>
          <a:xfrm>
            <a:off x="411480" y="4462272"/>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Test from a second machine after every firewall change — not from the server itself.</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08</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8  ·  SECURITY NOTES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Non-Negotiable Security Practices</a:t>
            </a:r>
            <a:endParaRPr lang="en-US" sz="2600" dirty="0"/>
          </a:p>
        </p:txBody>
      </p:sp>
      <p:sp>
        <p:nvSpPr>
          <p:cNvPr id="8" name="Security card"/>
          <p:cNvSpPr/>
          <p:nvPr/>
        </p:nvSpPr>
        <p:spPr>
          <a:xfrm>
            <a:off x="411480" y="1097280"/>
            <a:ext cx="4069080" cy="914400"/>
          </a:xfrm>
          <a:prstGeom prst="rect">
            <a:avLst/>
          </a:prstGeom>
          <a:solidFill>
            <a:srgbClr val="2A2622"/>
          </a:solidFill>
          <a:ln w="12700">
            <a:solidFill>
              <a:srgbClr val="3A332C"/>
            </a:solidFill>
            <a:prstDash val="solid"/>
          </a:ln>
        </p:spPr>
        <p:txBody>
          <a:bodyPr/>
          <a:lstStyle/>
          <a:p>
            <a:endParaRPr lang="en-US"/>
          </a:p>
        </p:txBody>
      </p:sp>
      <p:sp>
        <p:nvSpPr>
          <p:cNvPr id="9" name="Security card accent"/>
          <p:cNvSpPr/>
          <p:nvPr/>
        </p:nvSpPr>
        <p:spPr>
          <a:xfrm>
            <a:off x="411480" y="1097280"/>
            <a:ext cx="45720" cy="91440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40080" y="1207008"/>
            <a:ext cx="3703320" cy="237744"/>
          </a:xfrm>
          <a:prstGeom prst="rect">
            <a:avLst/>
          </a:prstGeom>
          <a:noFill/>
        </p:spPr>
        <p:txBody>
          <a:bodyPr wrap="square" lIns="0" tIns="0" rIns="0" bIns="0" rtlCol="0" anchor="ctr"/>
          <a:lstStyle/>
          <a:p>
            <a:pPr marL="0" indent="0">
              <a:buNone/>
            </a:pPr>
            <a:r>
              <a:rPr lang="en-US" sz="1050" b="1" kern="0" spc="100" dirty="0">
                <a:solidFill>
                  <a:srgbClr val="F0A040"/>
                </a:solidFill>
                <a:latin typeface="Arial" panose="020B0604020202020204" pitchFamily="34" charset="0"/>
                <a:ea typeface="Arial" panose="020B0604020202020204" pitchFamily="34" charset="-122"/>
                <a:cs typeface="Arial" panose="020B0604020202020204" pitchFamily="34" charset="-120"/>
              </a:rPr>
              <a:t>EXPOSURE</a:t>
            </a:r>
            <a:endParaRPr lang="en-US" sz="1050" dirty="0"/>
          </a:p>
        </p:txBody>
      </p:sp>
      <p:sp>
        <p:nvSpPr>
          <p:cNvPr id="11" name="Text 9"/>
          <p:cNvSpPr/>
          <p:nvPr/>
        </p:nvSpPr>
        <p:spPr>
          <a:xfrm>
            <a:off x="640080" y="1463040"/>
            <a:ext cx="3703320"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Never put PostgreSQL, Qdrant or Ollama directly on the public Internet without a specific secured architecture.</a:t>
            </a:r>
            <a:endParaRPr lang="en-US" sz="1000" dirty="0"/>
          </a:p>
        </p:txBody>
      </p:sp>
      <p:sp>
        <p:nvSpPr>
          <p:cNvPr id="12" name="Security card"/>
          <p:cNvSpPr/>
          <p:nvPr/>
        </p:nvSpPr>
        <p:spPr>
          <a:xfrm>
            <a:off x="4663440" y="1097280"/>
            <a:ext cx="4069080" cy="914400"/>
          </a:xfrm>
          <a:prstGeom prst="rect">
            <a:avLst/>
          </a:prstGeom>
          <a:solidFill>
            <a:srgbClr val="2A2622"/>
          </a:solidFill>
          <a:ln w="12700">
            <a:solidFill>
              <a:srgbClr val="3A332C"/>
            </a:solidFill>
            <a:prstDash val="solid"/>
          </a:ln>
        </p:spPr>
        <p:txBody>
          <a:bodyPr/>
          <a:lstStyle/>
          <a:p>
            <a:endParaRPr lang="en-US"/>
          </a:p>
        </p:txBody>
      </p:sp>
      <p:sp>
        <p:nvSpPr>
          <p:cNvPr id="13" name="Security card accent"/>
          <p:cNvSpPr/>
          <p:nvPr/>
        </p:nvSpPr>
        <p:spPr>
          <a:xfrm>
            <a:off x="4663440" y="1097280"/>
            <a:ext cx="45720" cy="91440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4892040" y="1207008"/>
            <a:ext cx="3703320" cy="237744"/>
          </a:xfrm>
          <a:prstGeom prst="rect">
            <a:avLst/>
          </a:prstGeom>
          <a:noFill/>
        </p:spPr>
        <p:txBody>
          <a:bodyPr wrap="square" lIns="0" tIns="0" rIns="0" bIns="0" rtlCol="0" anchor="ctr"/>
          <a:lstStyle/>
          <a:p>
            <a:pPr marL="0" indent="0">
              <a:buNone/>
            </a:pPr>
            <a:r>
              <a:rPr lang="en-US" sz="1050" b="1" kern="0" spc="100" dirty="0">
                <a:solidFill>
                  <a:srgbClr val="F0A040"/>
                </a:solidFill>
                <a:latin typeface="Arial" panose="020B0604020202020204" pitchFamily="34" charset="0"/>
                <a:ea typeface="Arial" panose="020B0604020202020204" pitchFamily="34" charset="-122"/>
                <a:cs typeface="Arial" panose="020B0604020202020204" pitchFamily="34" charset="-120"/>
              </a:rPr>
              <a:t>CREDENTIALS</a:t>
            </a:r>
            <a:endParaRPr lang="en-US" sz="1050" dirty="0"/>
          </a:p>
        </p:txBody>
      </p:sp>
      <p:sp>
        <p:nvSpPr>
          <p:cNvPr id="15" name="Text 13"/>
          <p:cNvSpPr/>
          <p:nvPr/>
        </p:nvSpPr>
        <p:spPr>
          <a:xfrm>
            <a:off x="4892040" y="1463040"/>
            <a:ext cx="3703320"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Use strong passwords with environment variables or Docker secrets — never hard-code production credentials.</a:t>
            </a:r>
            <a:endParaRPr lang="en-US" sz="1000" dirty="0"/>
          </a:p>
        </p:txBody>
      </p:sp>
      <p:sp>
        <p:nvSpPr>
          <p:cNvPr id="16" name="Security card"/>
          <p:cNvSpPr/>
          <p:nvPr/>
        </p:nvSpPr>
        <p:spPr>
          <a:xfrm>
            <a:off x="411480" y="2130552"/>
            <a:ext cx="4069080" cy="914400"/>
          </a:xfrm>
          <a:prstGeom prst="rect">
            <a:avLst/>
          </a:prstGeom>
          <a:solidFill>
            <a:srgbClr val="2A2622"/>
          </a:solidFill>
          <a:ln w="12700">
            <a:solidFill>
              <a:srgbClr val="3A332C"/>
            </a:solidFill>
            <a:prstDash val="solid"/>
          </a:ln>
        </p:spPr>
        <p:txBody>
          <a:bodyPr/>
          <a:lstStyle/>
          <a:p>
            <a:endParaRPr lang="en-US"/>
          </a:p>
        </p:txBody>
      </p:sp>
      <p:sp>
        <p:nvSpPr>
          <p:cNvPr id="17" name="Security card accent"/>
          <p:cNvSpPr/>
          <p:nvPr/>
        </p:nvSpPr>
        <p:spPr>
          <a:xfrm>
            <a:off x="411480" y="2130552"/>
            <a:ext cx="45720" cy="91440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40080" y="2240280"/>
            <a:ext cx="3703320" cy="237744"/>
          </a:xfrm>
          <a:prstGeom prst="rect">
            <a:avLst/>
          </a:prstGeom>
          <a:noFill/>
        </p:spPr>
        <p:txBody>
          <a:bodyPr wrap="square" lIns="0" tIns="0" rIns="0" bIns="0" rtlCol="0" anchor="ctr"/>
          <a:lstStyle/>
          <a:p>
            <a:pPr marL="0" indent="0">
              <a:buNone/>
            </a:pPr>
            <a:r>
              <a:rPr lang="en-US" sz="1050" b="1" kern="0" spc="100" dirty="0">
                <a:solidFill>
                  <a:srgbClr val="F0A040"/>
                </a:solidFill>
                <a:latin typeface="Arial" panose="020B0604020202020204" pitchFamily="34" charset="0"/>
                <a:ea typeface="Arial" panose="020B0604020202020204" pitchFamily="34" charset="-122"/>
                <a:cs typeface="Arial" panose="020B0604020202020204" pitchFamily="34" charset="-120"/>
              </a:rPr>
              <a:t>REMOTE ACCESS</a:t>
            </a:r>
            <a:endParaRPr lang="en-US" sz="1050" dirty="0"/>
          </a:p>
        </p:txBody>
      </p:sp>
      <p:sp>
        <p:nvSpPr>
          <p:cNvPr id="19" name="Text 17"/>
          <p:cNvSpPr/>
          <p:nvPr/>
        </p:nvSpPr>
        <p:spPr>
          <a:xfrm>
            <a:off x="640080" y="2496312"/>
            <a:ext cx="3703320"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Use a VPN such as WireGuard or Tailscale instead of router port forwarding.</a:t>
            </a:r>
            <a:endParaRPr lang="en-US" sz="1000" dirty="0"/>
          </a:p>
        </p:txBody>
      </p:sp>
      <p:sp>
        <p:nvSpPr>
          <p:cNvPr id="20" name="Security card"/>
          <p:cNvSpPr/>
          <p:nvPr/>
        </p:nvSpPr>
        <p:spPr>
          <a:xfrm>
            <a:off x="4663440" y="2130552"/>
            <a:ext cx="4069080" cy="914400"/>
          </a:xfrm>
          <a:prstGeom prst="rect">
            <a:avLst/>
          </a:prstGeom>
          <a:solidFill>
            <a:srgbClr val="2A2622"/>
          </a:solidFill>
          <a:ln w="12700">
            <a:solidFill>
              <a:srgbClr val="3A332C"/>
            </a:solidFill>
            <a:prstDash val="solid"/>
          </a:ln>
        </p:spPr>
        <p:txBody>
          <a:bodyPr/>
          <a:lstStyle/>
          <a:p>
            <a:endParaRPr lang="en-US"/>
          </a:p>
        </p:txBody>
      </p:sp>
      <p:sp>
        <p:nvSpPr>
          <p:cNvPr id="21" name="Security card accent"/>
          <p:cNvSpPr/>
          <p:nvPr/>
        </p:nvSpPr>
        <p:spPr>
          <a:xfrm>
            <a:off x="4663440" y="2130552"/>
            <a:ext cx="45720" cy="91440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92040" y="2240280"/>
            <a:ext cx="3703320" cy="237744"/>
          </a:xfrm>
          <a:prstGeom prst="rect">
            <a:avLst/>
          </a:prstGeom>
          <a:noFill/>
        </p:spPr>
        <p:txBody>
          <a:bodyPr wrap="square" lIns="0" tIns="0" rIns="0" bIns="0" rtlCol="0" anchor="ctr"/>
          <a:lstStyle/>
          <a:p>
            <a:pPr marL="0" indent="0">
              <a:buNone/>
            </a:pPr>
            <a:r>
              <a:rPr lang="en-US" sz="1050" b="1" kern="0" spc="100" dirty="0">
                <a:solidFill>
                  <a:srgbClr val="F0A040"/>
                </a:solidFill>
                <a:latin typeface="Arial" panose="020B0604020202020204" pitchFamily="34" charset="0"/>
                <a:ea typeface="Arial" panose="020B0604020202020204" pitchFamily="34" charset="-122"/>
                <a:cs typeface="Arial" panose="020B0604020202020204" pitchFamily="34" charset="-120"/>
              </a:rPr>
              <a:t>PATCHING</a:t>
            </a:r>
            <a:endParaRPr lang="en-US" sz="1050" dirty="0"/>
          </a:p>
        </p:txBody>
      </p:sp>
      <p:sp>
        <p:nvSpPr>
          <p:cNvPr id="23" name="Text 21"/>
          <p:cNvSpPr/>
          <p:nvPr/>
        </p:nvSpPr>
        <p:spPr>
          <a:xfrm>
            <a:off x="4892040" y="2496312"/>
            <a:ext cx="3703320"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Keep Ubuntu, Docker images and application dependencies updated on a schedule.</a:t>
            </a:r>
            <a:endParaRPr lang="en-US" sz="1000" dirty="0"/>
          </a:p>
        </p:txBody>
      </p:sp>
      <p:sp>
        <p:nvSpPr>
          <p:cNvPr id="24" name="Security card"/>
          <p:cNvSpPr/>
          <p:nvPr/>
        </p:nvSpPr>
        <p:spPr>
          <a:xfrm>
            <a:off x="411480" y="3163824"/>
            <a:ext cx="4069080" cy="914400"/>
          </a:xfrm>
          <a:prstGeom prst="rect">
            <a:avLst/>
          </a:prstGeom>
          <a:solidFill>
            <a:srgbClr val="2A2622"/>
          </a:solidFill>
          <a:ln w="12700">
            <a:solidFill>
              <a:srgbClr val="3A332C"/>
            </a:solidFill>
            <a:prstDash val="solid"/>
          </a:ln>
        </p:spPr>
        <p:txBody>
          <a:bodyPr/>
          <a:lstStyle/>
          <a:p>
            <a:endParaRPr lang="en-US"/>
          </a:p>
        </p:txBody>
      </p:sp>
      <p:sp>
        <p:nvSpPr>
          <p:cNvPr id="25" name="Security card accent"/>
          <p:cNvSpPr/>
          <p:nvPr/>
        </p:nvSpPr>
        <p:spPr>
          <a:xfrm>
            <a:off x="411480" y="3163824"/>
            <a:ext cx="45720" cy="91440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40080" y="3273552"/>
            <a:ext cx="3703320" cy="237744"/>
          </a:xfrm>
          <a:prstGeom prst="rect">
            <a:avLst/>
          </a:prstGeom>
          <a:noFill/>
        </p:spPr>
        <p:txBody>
          <a:bodyPr wrap="square" lIns="0" tIns="0" rIns="0" bIns="0" rtlCol="0" anchor="ctr"/>
          <a:lstStyle/>
          <a:p>
            <a:pPr marL="0" indent="0">
              <a:buNone/>
            </a:pPr>
            <a:r>
              <a:rPr lang="en-US" sz="1050" b="1" kern="0" spc="100" dirty="0">
                <a:solidFill>
                  <a:srgbClr val="F0A040"/>
                </a:solidFill>
                <a:latin typeface="Arial" panose="020B0604020202020204" pitchFamily="34" charset="0"/>
                <a:ea typeface="Arial" panose="020B0604020202020204" pitchFamily="34" charset="-122"/>
                <a:cs typeface="Arial" panose="020B0604020202020204" pitchFamily="34" charset="-120"/>
              </a:rPr>
              <a:t>BACKUPS</a:t>
            </a:r>
            <a:endParaRPr lang="en-US" sz="1050" dirty="0"/>
          </a:p>
        </p:txBody>
      </p:sp>
      <p:sp>
        <p:nvSpPr>
          <p:cNvPr id="27" name="Text 25"/>
          <p:cNvSpPr/>
          <p:nvPr/>
        </p:nvSpPr>
        <p:spPr>
          <a:xfrm>
            <a:off x="640080" y="3529584"/>
            <a:ext cx="3703320"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Back up /srv/ai-platform and the database volumes to separate storage.</a:t>
            </a:r>
            <a:endParaRPr lang="en-US" sz="1000" dirty="0"/>
          </a:p>
        </p:txBody>
      </p:sp>
      <p:sp>
        <p:nvSpPr>
          <p:cNvPr id="28" name="Security card"/>
          <p:cNvSpPr/>
          <p:nvPr/>
        </p:nvSpPr>
        <p:spPr>
          <a:xfrm>
            <a:off x="4663440" y="3163824"/>
            <a:ext cx="4069080" cy="914400"/>
          </a:xfrm>
          <a:prstGeom prst="rect">
            <a:avLst/>
          </a:prstGeom>
          <a:solidFill>
            <a:srgbClr val="2A2622"/>
          </a:solidFill>
          <a:ln w="12700">
            <a:solidFill>
              <a:srgbClr val="3A332C"/>
            </a:solidFill>
            <a:prstDash val="solid"/>
          </a:ln>
        </p:spPr>
        <p:txBody>
          <a:bodyPr/>
          <a:lstStyle/>
          <a:p>
            <a:endParaRPr lang="en-US"/>
          </a:p>
        </p:txBody>
      </p:sp>
      <p:sp>
        <p:nvSpPr>
          <p:cNvPr id="29" name="Security card accent"/>
          <p:cNvSpPr/>
          <p:nvPr/>
        </p:nvSpPr>
        <p:spPr>
          <a:xfrm>
            <a:off x="4663440" y="3163824"/>
            <a:ext cx="45720" cy="91440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92040" y="3273552"/>
            <a:ext cx="3703320" cy="237744"/>
          </a:xfrm>
          <a:prstGeom prst="rect">
            <a:avLst/>
          </a:prstGeom>
          <a:noFill/>
        </p:spPr>
        <p:txBody>
          <a:bodyPr wrap="square" lIns="0" tIns="0" rIns="0" bIns="0" rtlCol="0" anchor="ctr"/>
          <a:lstStyle/>
          <a:p>
            <a:pPr marL="0" indent="0">
              <a:buNone/>
            </a:pPr>
            <a:r>
              <a:rPr lang="en-US" sz="1050" b="1" kern="0" spc="100" dirty="0">
                <a:solidFill>
                  <a:srgbClr val="F0A040"/>
                </a:solidFill>
                <a:latin typeface="Arial" panose="020B0604020202020204" pitchFamily="34" charset="0"/>
                <a:ea typeface="Arial" panose="020B0604020202020204" pitchFamily="34" charset="-122"/>
                <a:cs typeface="Arial" panose="020B0604020202020204" pitchFamily="34" charset="-120"/>
              </a:rPr>
              <a:t>AUDIT</a:t>
            </a:r>
            <a:endParaRPr lang="en-US" sz="1050" dirty="0"/>
          </a:p>
        </p:txBody>
      </p:sp>
      <p:sp>
        <p:nvSpPr>
          <p:cNvPr id="31" name="Text 29"/>
          <p:cNvSpPr/>
          <p:nvPr/>
        </p:nvSpPr>
        <p:spPr>
          <a:xfrm>
            <a:off x="4892040" y="3529584"/>
            <a:ext cx="3703320" cy="493776"/>
          </a:xfrm>
          <a:prstGeom prst="rect">
            <a:avLst/>
          </a:prstGeom>
          <a:noFill/>
        </p:spPr>
        <p:txBody>
          <a:bodyPr wrap="square" lIns="0" tIns="0" rIns="0" bIns="0" rtlCol="0" anchor="t"/>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Keep an audit log of administrative actions and model configuration changes.</a:t>
            </a:r>
            <a:endParaRPr lang="en-US" sz="1000" dirty="0"/>
          </a:p>
        </p:txBody>
      </p:sp>
      <p:sp>
        <p:nvSpPr>
          <p:cNvPr id="32" name="Text 30"/>
          <p:cNvSpPr/>
          <p:nvPr/>
        </p:nvSpPr>
        <p:spPr>
          <a:xfrm>
            <a:off x="411480" y="4224528"/>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Treat the gateway as the only front door — everything else stays on the internal Docker network.</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08</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8  ·  BACKUP AND RESTORE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A Backup You Have Not Restored Is a Rumour</a:t>
            </a:r>
            <a:endParaRPr lang="en-US" sz="2600" dirty="0"/>
          </a:p>
        </p:txBody>
      </p:sp>
      <p:sp>
        <p:nvSpPr>
          <p:cNvPr id="8" name="Text 6"/>
          <p:cNvSpPr/>
          <p:nvPr/>
        </p:nvSpPr>
        <p:spPr>
          <a:xfrm>
            <a:off x="411480" y="1042416"/>
            <a:ext cx="8321040" cy="237744"/>
          </a:xfrm>
          <a:prstGeom prst="rect">
            <a:avLst/>
          </a:prstGeom>
          <a:noFill/>
        </p:spPr>
        <p:txBody>
          <a:bodyPr wrap="square" lIns="0" tIns="0" rIns="0" bIns="0" rtlCol="0" anchor="ctr"/>
          <a:lstStyle/>
          <a:p>
            <a:pPr marL="0" indent="0">
              <a:buNone/>
            </a:pPr>
            <a:r>
              <a:rPr lang="en-US" sz="1100" b="1" dirty="0">
                <a:solidFill>
                  <a:srgbClr val="E2761F"/>
                </a:solidFill>
                <a:latin typeface="Arial" panose="020B0604020202020204" pitchFamily="34" charset="0"/>
                <a:ea typeface="Arial" panose="020B0604020202020204" pitchFamily="34" charset="-122"/>
                <a:cs typeface="Arial" panose="020B0604020202020204" pitchFamily="34" charset="-120"/>
              </a:rPr>
              <a:t>Back up the database and the platform directory</a:t>
            </a:r>
            <a:endParaRPr lang="en-US" sz="1100" dirty="0"/>
          </a:p>
        </p:txBody>
      </p:sp>
      <p:sp>
        <p:nvSpPr>
          <p:cNvPr id="9" name="Command block background"/>
          <p:cNvSpPr/>
          <p:nvPr/>
        </p:nvSpPr>
        <p:spPr>
          <a:xfrm>
            <a:off x="411480" y="1298448"/>
            <a:ext cx="8321040" cy="758952"/>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298448"/>
            <a:ext cx="50292" cy="758952"/>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426464"/>
            <a:ext cx="8010144" cy="502920"/>
          </a:xfrm>
          <a:prstGeom prst="rect">
            <a:avLst/>
          </a:prstGeom>
          <a:noFill/>
        </p:spPr>
        <p:txBody>
          <a:bodyPr wrap="square" lIns="0" tIns="0" rIns="0" bIns="0" rtlCol="0" anchor="t"/>
          <a:lstStyle/>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exec postgres pg_dump -U $POSTGRES_USER $POSTGRES_DB &gt; backup.sql</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tar czf ai-platform-$(date +%F).tar.gz /srv/ai-platform --exclude=models</a:t>
            </a:r>
            <a:endParaRPr lang="en-US" sz="950" dirty="0"/>
          </a:p>
        </p:txBody>
      </p:sp>
      <p:sp>
        <p:nvSpPr>
          <p:cNvPr id="12" name="Text 10"/>
          <p:cNvSpPr/>
          <p:nvPr/>
        </p:nvSpPr>
        <p:spPr>
          <a:xfrm>
            <a:off x="411480" y="2157984"/>
            <a:ext cx="8321040" cy="237744"/>
          </a:xfrm>
          <a:prstGeom prst="rect">
            <a:avLst/>
          </a:prstGeom>
          <a:noFill/>
        </p:spPr>
        <p:txBody>
          <a:bodyPr wrap="square" lIns="0" tIns="0" rIns="0" bIns="0" rtlCol="0" anchor="ctr"/>
          <a:lstStyle/>
          <a:p>
            <a:pPr marL="0" indent="0">
              <a:buNone/>
            </a:pPr>
            <a:r>
              <a:rPr lang="en-US" sz="1100" b="1" dirty="0">
                <a:solidFill>
                  <a:srgbClr val="E2761F"/>
                </a:solidFill>
                <a:latin typeface="Arial" panose="020B0604020202020204" pitchFamily="34" charset="0"/>
                <a:ea typeface="Arial" panose="020B0604020202020204" pitchFamily="34" charset="-122"/>
                <a:cs typeface="Arial" panose="020B0604020202020204" pitchFamily="34" charset="-120"/>
              </a:rPr>
              <a:t>Restore path — rehearse this before you need it</a:t>
            </a:r>
            <a:endParaRPr lang="en-US" sz="1100" dirty="0"/>
          </a:p>
        </p:txBody>
      </p:sp>
      <p:sp>
        <p:nvSpPr>
          <p:cNvPr id="13" name="Command block background"/>
          <p:cNvSpPr/>
          <p:nvPr/>
        </p:nvSpPr>
        <p:spPr>
          <a:xfrm>
            <a:off x="411480" y="2395728"/>
            <a:ext cx="8321040" cy="534924"/>
          </a:xfrm>
          <a:prstGeom prst="rect">
            <a:avLst/>
          </a:prstGeom>
          <a:solidFill>
            <a:srgbClr val="141210"/>
          </a:solidFill>
          <a:ln w="12700">
            <a:solidFill>
              <a:srgbClr val="3A332C"/>
            </a:solidFill>
            <a:prstDash val="solid"/>
          </a:ln>
        </p:spPr>
        <p:txBody>
          <a:bodyPr/>
          <a:lstStyle/>
          <a:p>
            <a:endParaRPr lang="en-US"/>
          </a:p>
        </p:txBody>
      </p:sp>
      <p:sp>
        <p:nvSpPr>
          <p:cNvPr id="14" name="Command block accent"/>
          <p:cNvSpPr/>
          <p:nvPr/>
        </p:nvSpPr>
        <p:spPr>
          <a:xfrm>
            <a:off x="411480" y="2395728"/>
            <a:ext cx="50292" cy="534924"/>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594360" y="2523744"/>
            <a:ext cx="8010144" cy="278892"/>
          </a:xfrm>
          <a:prstGeom prst="rect">
            <a:avLst/>
          </a:prstGeom>
          <a:noFill/>
        </p:spPr>
        <p:txBody>
          <a:bodyPr wrap="square" lIns="0" tIns="0" rIns="0" bIns="0" rtlCol="0" anchor="t"/>
          <a:lstStyle/>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cat backup.sql | docker exec -i postgres psql -U $POSTGRES_USER $POSTGRES_DB</a:t>
            </a:r>
            <a:endParaRPr lang="en-US" sz="950" dirty="0"/>
          </a:p>
        </p:txBody>
      </p:sp>
      <p:sp>
        <p:nvSpPr>
          <p:cNvPr id="16" name="Card"/>
          <p:cNvSpPr/>
          <p:nvPr/>
        </p:nvSpPr>
        <p:spPr>
          <a:xfrm>
            <a:off x="411480" y="3017520"/>
            <a:ext cx="4069080" cy="749808"/>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411480" y="3017520"/>
            <a:ext cx="406908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12648" y="314553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WHAT TO BACK UP</a:t>
            </a:r>
            <a:endParaRPr lang="en-US" sz="1050" dirty="0"/>
          </a:p>
        </p:txBody>
      </p:sp>
      <p:sp>
        <p:nvSpPr>
          <p:cNvPr id="19" name="Text 17"/>
          <p:cNvSpPr/>
          <p:nvPr/>
        </p:nvSpPr>
        <p:spPr>
          <a:xfrm>
            <a:off x="612648" y="3419856"/>
            <a:ext cx="3666744" cy="2377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The database dump, the Compose file and .env, the Qdrant storage directory and your ingestion source list.</a:t>
            </a:r>
            <a:endParaRPr lang="en-US" sz="950" dirty="0"/>
          </a:p>
        </p:txBody>
      </p:sp>
      <p:sp>
        <p:nvSpPr>
          <p:cNvPr id="20" name="Card"/>
          <p:cNvSpPr/>
          <p:nvPr/>
        </p:nvSpPr>
        <p:spPr>
          <a:xfrm>
            <a:off x="4663440" y="3017520"/>
            <a:ext cx="4069080" cy="749808"/>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663440" y="3017520"/>
            <a:ext cx="406908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64608" y="314553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WHAT TO SKIP</a:t>
            </a:r>
            <a:endParaRPr lang="en-US" sz="1050" dirty="0"/>
          </a:p>
        </p:txBody>
      </p:sp>
      <p:sp>
        <p:nvSpPr>
          <p:cNvPr id="23" name="Text 21"/>
          <p:cNvSpPr/>
          <p:nvPr/>
        </p:nvSpPr>
        <p:spPr>
          <a:xfrm>
            <a:off x="4864608" y="3419856"/>
            <a:ext cx="3666744" cy="2377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Model weights — they are large and can simply be pulled again from the registry.</a:t>
            </a:r>
            <a:endParaRPr lang="en-US" sz="950" dirty="0"/>
          </a:p>
        </p:txBody>
      </p:sp>
      <p:sp>
        <p:nvSpPr>
          <p:cNvPr id="24" name="Card"/>
          <p:cNvSpPr/>
          <p:nvPr/>
        </p:nvSpPr>
        <p:spPr>
          <a:xfrm>
            <a:off x="411480" y="3840480"/>
            <a:ext cx="4069080" cy="749808"/>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411480" y="3840480"/>
            <a:ext cx="406908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12648" y="396849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WHERE TO PUT IT</a:t>
            </a:r>
            <a:endParaRPr lang="en-US" sz="1050" dirty="0"/>
          </a:p>
        </p:txBody>
      </p:sp>
      <p:sp>
        <p:nvSpPr>
          <p:cNvPr id="27" name="Text 25"/>
          <p:cNvSpPr/>
          <p:nvPr/>
        </p:nvSpPr>
        <p:spPr>
          <a:xfrm>
            <a:off x="612648" y="4242816"/>
            <a:ext cx="3666744" cy="2377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Separate storage, ideally another machine. A backup on the same disk protects against nothing.</a:t>
            </a:r>
            <a:endParaRPr lang="en-US" sz="950" dirty="0"/>
          </a:p>
        </p:txBody>
      </p:sp>
      <p:sp>
        <p:nvSpPr>
          <p:cNvPr id="28" name="Card"/>
          <p:cNvSpPr/>
          <p:nvPr/>
        </p:nvSpPr>
        <p:spPr>
          <a:xfrm>
            <a:off x="4663440" y="3840480"/>
            <a:ext cx="4069080" cy="749808"/>
          </a:xfrm>
          <a:prstGeom prst="rect">
            <a:avLst/>
          </a:prstGeom>
          <a:solidFill>
            <a:srgbClr val="2A2622"/>
          </a:solidFill>
          <a:ln w="12700">
            <a:solidFill>
              <a:srgbClr val="3A332C"/>
            </a:solidFill>
            <a:prstDash val="solid"/>
          </a:ln>
        </p:spPr>
        <p:txBody>
          <a:bodyPr/>
          <a:lstStyle/>
          <a:p>
            <a:endParaRPr lang="en-US"/>
          </a:p>
        </p:txBody>
      </p:sp>
      <p:sp>
        <p:nvSpPr>
          <p:cNvPr id="29" name="Card accent"/>
          <p:cNvSpPr/>
          <p:nvPr/>
        </p:nvSpPr>
        <p:spPr>
          <a:xfrm>
            <a:off x="4663440" y="3840480"/>
            <a:ext cx="4069080"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64608" y="396849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HOW OFTEN TO TEST</a:t>
            </a:r>
            <a:endParaRPr lang="en-US" sz="1050" dirty="0"/>
          </a:p>
        </p:txBody>
      </p:sp>
      <p:sp>
        <p:nvSpPr>
          <p:cNvPr id="31" name="Text 29"/>
          <p:cNvSpPr/>
          <p:nvPr/>
        </p:nvSpPr>
        <p:spPr>
          <a:xfrm>
            <a:off x="4864608" y="4242816"/>
            <a:ext cx="3666744" cy="23774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Restore into a scratch environment at least quarterly and confirm the data is actually usable.</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09</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9  ·  FUTURE GPU UPGRADE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From CPU-Only to GPU Acceleration</a:t>
            </a:r>
            <a:endParaRPr lang="en-US" sz="2600" dirty="0"/>
          </a:p>
        </p:txBody>
      </p:sp>
      <p:sp>
        <p:nvSpPr>
          <p:cNvPr id="8" name="Text 6"/>
          <p:cNvSpPr/>
          <p:nvPr/>
        </p:nvSpPr>
        <p:spPr>
          <a:xfrm>
            <a:off x="411480" y="1097280"/>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The same deployment starts CPU-only and later adopts an NVIDIA GPU — no rebuild of the stack required.</a:t>
            </a:r>
            <a:endParaRPr lang="en-US" sz="1200" dirty="0"/>
          </a:p>
        </p:txBody>
      </p:sp>
      <p:sp>
        <p:nvSpPr>
          <p:cNvPr id="9" name="GPU step card"/>
          <p:cNvSpPr/>
          <p:nvPr/>
        </p:nvSpPr>
        <p:spPr>
          <a:xfrm>
            <a:off x="411480" y="1481328"/>
            <a:ext cx="4069080" cy="859536"/>
          </a:xfrm>
          <a:prstGeom prst="rect">
            <a:avLst/>
          </a:prstGeom>
          <a:solidFill>
            <a:srgbClr val="2A2622"/>
          </a:solidFill>
          <a:ln w="12700">
            <a:solidFill>
              <a:srgbClr val="3A332C"/>
            </a:solidFill>
            <a:prstDash val="solid"/>
          </a:ln>
        </p:spPr>
        <p:txBody>
          <a:bodyPr/>
          <a:lstStyle/>
          <a:p>
            <a:endParaRPr lang="en-US"/>
          </a:p>
        </p:txBody>
      </p:sp>
      <p:sp>
        <p:nvSpPr>
          <p:cNvPr id="10" name="GPU step number block"/>
          <p:cNvSpPr/>
          <p:nvPr/>
        </p:nvSpPr>
        <p:spPr>
          <a:xfrm>
            <a:off x="411480" y="1481328"/>
            <a:ext cx="475488" cy="859536"/>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411480" y="1481328"/>
            <a:ext cx="475488" cy="859536"/>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1</a:t>
            </a:r>
            <a:endParaRPr lang="en-US" sz="2000" dirty="0"/>
          </a:p>
        </p:txBody>
      </p:sp>
      <p:sp>
        <p:nvSpPr>
          <p:cNvPr id="12" name="Text 10"/>
          <p:cNvSpPr/>
          <p:nvPr/>
        </p:nvSpPr>
        <p:spPr>
          <a:xfrm>
            <a:off x="1033272" y="1591056"/>
            <a:ext cx="3310128" cy="256032"/>
          </a:xfrm>
          <a:prstGeom prst="rect">
            <a:avLst/>
          </a:prstGeom>
          <a:noFill/>
        </p:spPr>
        <p:txBody>
          <a:bodyPr wrap="square" lIns="0" tIns="0" rIns="0" bIns="0" rtlCol="0" anchor="ct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Install the physical GPU</a:t>
            </a:r>
            <a:endParaRPr lang="en-US" sz="1100" dirty="0"/>
          </a:p>
        </p:txBody>
      </p:sp>
      <p:sp>
        <p:nvSpPr>
          <p:cNvPr id="13" name="Text 11"/>
          <p:cNvSpPr/>
          <p:nvPr/>
        </p:nvSpPr>
        <p:spPr>
          <a:xfrm>
            <a:off x="1033272" y="1865376"/>
            <a:ext cx="3310128"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Verify power headroom, slot clearance and cooling first.</a:t>
            </a:r>
            <a:endParaRPr lang="en-US" sz="950" dirty="0"/>
          </a:p>
        </p:txBody>
      </p:sp>
      <p:sp>
        <p:nvSpPr>
          <p:cNvPr id="14" name="GPU step card"/>
          <p:cNvSpPr/>
          <p:nvPr/>
        </p:nvSpPr>
        <p:spPr>
          <a:xfrm>
            <a:off x="4663440" y="1481328"/>
            <a:ext cx="4069080" cy="859536"/>
          </a:xfrm>
          <a:prstGeom prst="rect">
            <a:avLst/>
          </a:prstGeom>
          <a:solidFill>
            <a:srgbClr val="2A2622"/>
          </a:solidFill>
          <a:ln w="12700">
            <a:solidFill>
              <a:srgbClr val="3A332C"/>
            </a:solidFill>
            <a:prstDash val="solid"/>
          </a:ln>
        </p:spPr>
        <p:txBody>
          <a:bodyPr/>
          <a:lstStyle/>
          <a:p>
            <a:endParaRPr lang="en-US"/>
          </a:p>
        </p:txBody>
      </p:sp>
      <p:sp>
        <p:nvSpPr>
          <p:cNvPr id="15" name="GPU step number block"/>
          <p:cNvSpPr/>
          <p:nvPr/>
        </p:nvSpPr>
        <p:spPr>
          <a:xfrm>
            <a:off x="4663440" y="1481328"/>
            <a:ext cx="475488" cy="859536"/>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4663440" y="1481328"/>
            <a:ext cx="475488" cy="859536"/>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2</a:t>
            </a:r>
            <a:endParaRPr lang="en-US" sz="2000" dirty="0"/>
          </a:p>
        </p:txBody>
      </p:sp>
      <p:sp>
        <p:nvSpPr>
          <p:cNvPr id="17" name="Text 15"/>
          <p:cNvSpPr/>
          <p:nvPr/>
        </p:nvSpPr>
        <p:spPr>
          <a:xfrm>
            <a:off x="5285232" y="1591056"/>
            <a:ext cx="3310128" cy="256032"/>
          </a:xfrm>
          <a:prstGeom prst="rect">
            <a:avLst/>
          </a:prstGeom>
          <a:noFill/>
        </p:spPr>
        <p:txBody>
          <a:bodyPr wrap="square" lIns="0" tIns="0" rIns="0" bIns="0" rtlCol="0" anchor="ct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Configure passthrough</a:t>
            </a:r>
            <a:endParaRPr lang="en-US" sz="1100" dirty="0"/>
          </a:p>
        </p:txBody>
      </p:sp>
      <p:sp>
        <p:nvSpPr>
          <p:cNvPr id="18" name="Text 16"/>
          <p:cNvSpPr/>
          <p:nvPr/>
        </p:nvSpPr>
        <p:spPr>
          <a:xfrm>
            <a:off x="5285232" y="1865376"/>
            <a:ext cx="3310128"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Required when the server runs inside Hyper-V.</a:t>
            </a:r>
            <a:endParaRPr lang="en-US" sz="950" dirty="0"/>
          </a:p>
        </p:txBody>
      </p:sp>
      <p:sp>
        <p:nvSpPr>
          <p:cNvPr id="19" name="GPU step card"/>
          <p:cNvSpPr/>
          <p:nvPr/>
        </p:nvSpPr>
        <p:spPr>
          <a:xfrm>
            <a:off x="411480" y="2450592"/>
            <a:ext cx="4069080" cy="859536"/>
          </a:xfrm>
          <a:prstGeom prst="rect">
            <a:avLst/>
          </a:prstGeom>
          <a:solidFill>
            <a:srgbClr val="2A2622"/>
          </a:solidFill>
          <a:ln w="12700">
            <a:solidFill>
              <a:srgbClr val="3A332C"/>
            </a:solidFill>
            <a:prstDash val="solid"/>
          </a:ln>
        </p:spPr>
        <p:txBody>
          <a:bodyPr/>
          <a:lstStyle/>
          <a:p>
            <a:endParaRPr lang="en-US"/>
          </a:p>
        </p:txBody>
      </p:sp>
      <p:sp>
        <p:nvSpPr>
          <p:cNvPr id="20" name="GPU step number block"/>
          <p:cNvSpPr/>
          <p:nvPr/>
        </p:nvSpPr>
        <p:spPr>
          <a:xfrm>
            <a:off x="411480" y="2450592"/>
            <a:ext cx="475488" cy="859536"/>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411480" y="2450592"/>
            <a:ext cx="475488" cy="859536"/>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3</a:t>
            </a:r>
            <a:endParaRPr lang="en-US" sz="2000" dirty="0"/>
          </a:p>
        </p:txBody>
      </p:sp>
      <p:sp>
        <p:nvSpPr>
          <p:cNvPr id="22" name="Text 20"/>
          <p:cNvSpPr/>
          <p:nvPr/>
        </p:nvSpPr>
        <p:spPr>
          <a:xfrm>
            <a:off x="1033272" y="2560320"/>
            <a:ext cx="3310128" cy="256032"/>
          </a:xfrm>
          <a:prstGeom prst="rect">
            <a:avLst/>
          </a:prstGeom>
          <a:noFill/>
        </p:spPr>
        <p:txBody>
          <a:bodyPr wrap="square" lIns="0" tIns="0" rIns="0" bIns="0" rtlCol="0" anchor="ct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Install the NVIDIA driver</a:t>
            </a:r>
            <a:endParaRPr lang="en-US" sz="1100" dirty="0"/>
          </a:p>
        </p:txBody>
      </p:sp>
      <p:sp>
        <p:nvSpPr>
          <p:cNvPr id="23" name="Text 21"/>
          <p:cNvSpPr/>
          <p:nvPr/>
        </p:nvSpPr>
        <p:spPr>
          <a:xfrm>
            <a:off x="1033272" y="2834640"/>
            <a:ext cx="3310128"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Inside the Ubuntu VM, matched to the card.</a:t>
            </a:r>
            <a:endParaRPr lang="en-US" sz="950" dirty="0"/>
          </a:p>
        </p:txBody>
      </p:sp>
      <p:sp>
        <p:nvSpPr>
          <p:cNvPr id="24" name="GPU step card"/>
          <p:cNvSpPr/>
          <p:nvPr/>
        </p:nvSpPr>
        <p:spPr>
          <a:xfrm>
            <a:off x="4663440" y="2450592"/>
            <a:ext cx="4069080" cy="859536"/>
          </a:xfrm>
          <a:prstGeom prst="rect">
            <a:avLst/>
          </a:prstGeom>
          <a:solidFill>
            <a:srgbClr val="2A2622"/>
          </a:solidFill>
          <a:ln w="12700">
            <a:solidFill>
              <a:srgbClr val="3A332C"/>
            </a:solidFill>
            <a:prstDash val="solid"/>
          </a:ln>
        </p:spPr>
        <p:txBody>
          <a:bodyPr/>
          <a:lstStyle/>
          <a:p>
            <a:endParaRPr lang="en-US"/>
          </a:p>
        </p:txBody>
      </p:sp>
      <p:sp>
        <p:nvSpPr>
          <p:cNvPr id="25" name="GPU step number block"/>
          <p:cNvSpPr/>
          <p:nvPr/>
        </p:nvSpPr>
        <p:spPr>
          <a:xfrm>
            <a:off x="4663440" y="2450592"/>
            <a:ext cx="475488" cy="859536"/>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4663440" y="2450592"/>
            <a:ext cx="475488" cy="859536"/>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4</a:t>
            </a:r>
            <a:endParaRPr lang="en-US" sz="2000" dirty="0"/>
          </a:p>
        </p:txBody>
      </p:sp>
      <p:sp>
        <p:nvSpPr>
          <p:cNvPr id="27" name="Text 25"/>
          <p:cNvSpPr/>
          <p:nvPr/>
        </p:nvSpPr>
        <p:spPr>
          <a:xfrm>
            <a:off x="5285232" y="2560320"/>
            <a:ext cx="3310128" cy="256032"/>
          </a:xfrm>
          <a:prstGeom prst="rect">
            <a:avLst/>
          </a:prstGeom>
          <a:noFill/>
        </p:spPr>
        <p:txBody>
          <a:bodyPr wrap="square" lIns="0" tIns="0" rIns="0" bIns="0" rtlCol="0" anchor="ct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Add Container Toolkit</a:t>
            </a:r>
            <a:endParaRPr lang="en-US" sz="1100" dirty="0"/>
          </a:p>
        </p:txBody>
      </p:sp>
      <p:sp>
        <p:nvSpPr>
          <p:cNvPr id="28" name="Text 26"/>
          <p:cNvSpPr/>
          <p:nvPr/>
        </p:nvSpPr>
        <p:spPr>
          <a:xfrm>
            <a:off x="5285232" y="2834640"/>
            <a:ext cx="3310128"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NVIDIA Container Toolkit gives Docker GPU access.</a:t>
            </a:r>
            <a:endParaRPr lang="en-US" sz="950" dirty="0"/>
          </a:p>
        </p:txBody>
      </p:sp>
      <p:sp>
        <p:nvSpPr>
          <p:cNvPr id="29" name="GPU step card"/>
          <p:cNvSpPr/>
          <p:nvPr/>
        </p:nvSpPr>
        <p:spPr>
          <a:xfrm>
            <a:off x="411480" y="3419856"/>
            <a:ext cx="4069080" cy="859536"/>
          </a:xfrm>
          <a:prstGeom prst="rect">
            <a:avLst/>
          </a:prstGeom>
          <a:solidFill>
            <a:srgbClr val="2A2622"/>
          </a:solidFill>
          <a:ln w="12700">
            <a:solidFill>
              <a:srgbClr val="3A332C"/>
            </a:solidFill>
            <a:prstDash val="solid"/>
          </a:ln>
        </p:spPr>
        <p:txBody>
          <a:bodyPr/>
          <a:lstStyle/>
          <a:p>
            <a:endParaRPr lang="en-US"/>
          </a:p>
        </p:txBody>
      </p:sp>
      <p:sp>
        <p:nvSpPr>
          <p:cNvPr id="30" name="GPU step number block"/>
          <p:cNvSpPr/>
          <p:nvPr/>
        </p:nvSpPr>
        <p:spPr>
          <a:xfrm>
            <a:off x="411480" y="3419856"/>
            <a:ext cx="475488" cy="859536"/>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411480" y="3419856"/>
            <a:ext cx="475488" cy="859536"/>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5</a:t>
            </a:r>
            <a:endParaRPr lang="en-US" sz="2000" dirty="0"/>
          </a:p>
        </p:txBody>
      </p:sp>
      <p:sp>
        <p:nvSpPr>
          <p:cNvPr id="32" name="Text 30"/>
          <p:cNvSpPr/>
          <p:nvPr/>
        </p:nvSpPr>
        <p:spPr>
          <a:xfrm>
            <a:off x="1033272" y="3529584"/>
            <a:ext cx="3310128" cy="256032"/>
          </a:xfrm>
          <a:prstGeom prst="rect">
            <a:avLst/>
          </a:prstGeom>
          <a:noFill/>
        </p:spPr>
        <p:txBody>
          <a:bodyPr wrap="square" lIns="0" tIns="0" rIns="0" bIns="0" rtlCol="0" anchor="ct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Verify with nvidia-smi</a:t>
            </a:r>
            <a:endParaRPr lang="en-US" sz="1100" dirty="0"/>
          </a:p>
        </p:txBody>
      </p:sp>
      <p:sp>
        <p:nvSpPr>
          <p:cNvPr id="33" name="Text 31"/>
          <p:cNvSpPr/>
          <p:nvPr/>
        </p:nvSpPr>
        <p:spPr>
          <a:xfrm>
            <a:off x="1033272" y="3803904"/>
            <a:ext cx="3310128"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Confirms the driver and card are visible to the OS.</a:t>
            </a:r>
            <a:endParaRPr lang="en-US" sz="950" dirty="0"/>
          </a:p>
        </p:txBody>
      </p:sp>
      <p:sp>
        <p:nvSpPr>
          <p:cNvPr id="34" name="GPU step card"/>
          <p:cNvSpPr/>
          <p:nvPr/>
        </p:nvSpPr>
        <p:spPr>
          <a:xfrm>
            <a:off x="4663440" y="3419856"/>
            <a:ext cx="4069080" cy="859536"/>
          </a:xfrm>
          <a:prstGeom prst="rect">
            <a:avLst/>
          </a:prstGeom>
          <a:solidFill>
            <a:srgbClr val="2A2622"/>
          </a:solidFill>
          <a:ln w="12700">
            <a:solidFill>
              <a:srgbClr val="3A332C"/>
            </a:solidFill>
            <a:prstDash val="solid"/>
          </a:ln>
        </p:spPr>
        <p:txBody>
          <a:bodyPr/>
          <a:lstStyle/>
          <a:p>
            <a:endParaRPr lang="en-US"/>
          </a:p>
        </p:txBody>
      </p:sp>
      <p:sp>
        <p:nvSpPr>
          <p:cNvPr id="35" name="GPU step number block"/>
          <p:cNvSpPr/>
          <p:nvPr/>
        </p:nvSpPr>
        <p:spPr>
          <a:xfrm>
            <a:off x="4663440" y="3419856"/>
            <a:ext cx="475488" cy="859536"/>
          </a:xfrm>
          <a:prstGeom prst="rect">
            <a:avLst/>
          </a:prstGeom>
          <a:solidFill>
            <a:srgbClr val="E2761F"/>
          </a:solidFill>
          <a:ln w="12700">
            <a:solidFill>
              <a:srgbClr val="E2761F"/>
            </a:solidFill>
            <a:prstDash val="solid"/>
          </a:ln>
        </p:spPr>
        <p:txBody>
          <a:bodyPr/>
          <a:lstStyle/>
          <a:p>
            <a:endParaRPr lang="en-US"/>
          </a:p>
        </p:txBody>
      </p:sp>
      <p:sp>
        <p:nvSpPr>
          <p:cNvPr id="36" name="Text 34"/>
          <p:cNvSpPr/>
          <p:nvPr/>
        </p:nvSpPr>
        <p:spPr>
          <a:xfrm>
            <a:off x="4663440" y="3419856"/>
            <a:ext cx="475488" cy="859536"/>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6</a:t>
            </a:r>
            <a:endParaRPr lang="en-US" sz="2000" dirty="0"/>
          </a:p>
        </p:txBody>
      </p:sp>
      <p:sp>
        <p:nvSpPr>
          <p:cNvPr id="37" name="Text 35"/>
          <p:cNvSpPr/>
          <p:nvPr/>
        </p:nvSpPr>
        <p:spPr>
          <a:xfrm>
            <a:off x="5285232" y="3529584"/>
            <a:ext cx="3310128" cy="256032"/>
          </a:xfrm>
          <a:prstGeom prst="rect">
            <a:avLst/>
          </a:prstGeom>
          <a:noFill/>
        </p:spPr>
        <p:txBody>
          <a:bodyPr wrap="square" lIns="0" tIns="0" rIns="0" bIns="0" rtlCol="0" anchor="ctr"/>
          <a:lstStyle/>
          <a:p>
            <a:pPr marL="0" indent="0">
              <a:buNone/>
            </a:pPr>
            <a:r>
              <a:rPr lang="en-US" sz="1100" b="1" dirty="0">
                <a:solidFill>
                  <a:srgbClr val="F5EDE2"/>
                </a:solidFill>
                <a:latin typeface="Arial" panose="020B0604020202020204" pitchFamily="34" charset="0"/>
                <a:ea typeface="Arial" panose="020B0604020202020204" pitchFamily="34" charset="-122"/>
                <a:cs typeface="Arial" panose="020B0604020202020204" pitchFamily="34" charset="-120"/>
              </a:rPr>
              <a:t>Restart Ollama</a:t>
            </a:r>
            <a:endParaRPr lang="en-US" sz="1100" dirty="0"/>
          </a:p>
        </p:txBody>
      </p:sp>
      <p:sp>
        <p:nvSpPr>
          <p:cNvPr id="38" name="Text 36"/>
          <p:cNvSpPr/>
          <p:nvPr/>
        </p:nvSpPr>
        <p:spPr>
          <a:xfrm>
            <a:off x="5285232" y="3803904"/>
            <a:ext cx="3310128" cy="384048"/>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Confirm inference now runs on the GPU, not the CPU.</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09</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9  ·  GPU SIZING AND VERIFICATION</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How Much VRAM Do You Actually Need</a:t>
            </a:r>
            <a:endParaRPr lang="en-US" sz="2600" dirty="0"/>
          </a:p>
        </p:txBody>
      </p:sp>
      <p:graphicFrame>
        <p:nvGraphicFramePr>
          <p:cNvPr id="36" name="Table 0"/>
          <p:cNvGraphicFramePr>
            <a:graphicFrameLocks noGrp="1"/>
          </p:cNvGraphicFramePr>
          <p:nvPr/>
        </p:nvGraphicFramePr>
        <p:xfrm>
          <a:off x="411480" y="1133856"/>
          <a:ext cx="8321040" cy="2103120"/>
        </p:xfrm>
        <a:graphic>
          <a:graphicData uri="http://schemas.openxmlformats.org/drawingml/2006/table">
            <a:tbl>
              <a:tblPr/>
              <a:tblGrid>
                <a:gridCol w="1280160"/>
                <a:gridCol w="2834640"/>
                <a:gridCol w="4206240"/>
              </a:tblGrid>
              <a:tr h="420624">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VRAM</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COMFORTABLY RUNS</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100" b="1" dirty="0">
                          <a:solidFill>
                            <a:srgbClr val="1E1B18"/>
                          </a:solidFill>
                          <a:latin typeface="Arial" panose="020B0604020202020204" pitchFamily="34" charset="0"/>
                          <a:ea typeface="Arial" panose="020B0604020202020204" pitchFamily="34" charset="-122"/>
                          <a:cs typeface="Arial" panose="020B0604020202020204" pitchFamily="34" charset="-120"/>
                        </a:rPr>
                        <a:t>NOTES</a:t>
                      </a:r>
                      <a:endParaRPr lang="en-US" sz="11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8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3B and 7B models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 solid entry point; large contexts still constrained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12-16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7B comfortably, 13B usable</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The sweet spot for most self-hosted deployments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24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13-14B comfortably, 30B quantised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Headroom for longer contexts and concurrent users</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20624">
                <a:tc>
                  <a:txBody>
                    <a:bodyPr/>
                    <a:lstStyle/>
                    <a:p>
                      <a:pPr marL="0" indent="0">
                        <a:buNone/>
                      </a:pPr>
                      <a:r>
                        <a:rPr lang="en-US" sz="1000" b="1" dirty="0">
                          <a:solidFill>
                            <a:srgbClr val="F5EDE2"/>
                          </a:solidFill>
                          <a:latin typeface="Arial" panose="020B0604020202020204" pitchFamily="34" charset="0"/>
                          <a:ea typeface="Arial" panose="020B0604020202020204" pitchFamily="34" charset="-122"/>
                          <a:cs typeface="Arial" panose="020B0604020202020204" pitchFamily="34" charset="-120"/>
                        </a:rPr>
                        <a:t>48 GB+</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Large models, multiple loaded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Only worthwhile with real sustained demand</a:t>
                      </a:r>
                      <a:endParaRPr lang="en-US" sz="10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
        <p:nvSpPr>
          <p:cNvPr id="9" name="Text 6"/>
          <p:cNvSpPr/>
          <p:nvPr/>
        </p:nvSpPr>
        <p:spPr>
          <a:xfrm>
            <a:off x="411480" y="3346704"/>
            <a:ext cx="8321040" cy="237744"/>
          </a:xfrm>
          <a:prstGeom prst="rect">
            <a:avLst/>
          </a:prstGeom>
          <a:noFill/>
        </p:spPr>
        <p:txBody>
          <a:bodyPr wrap="square" lIns="0" tIns="0" rIns="0" bIns="0" rtlCol="0" anchor="ctr"/>
          <a:lstStyle/>
          <a:p>
            <a:pPr marL="0" indent="0">
              <a:buNone/>
            </a:pPr>
            <a:r>
              <a:rPr lang="en-US" sz="1100" b="1" dirty="0">
                <a:solidFill>
                  <a:srgbClr val="E2761F"/>
                </a:solidFill>
                <a:latin typeface="Arial" panose="020B0604020202020204" pitchFamily="34" charset="0"/>
                <a:ea typeface="Arial" panose="020B0604020202020204" pitchFamily="34" charset="-122"/>
                <a:cs typeface="Arial" panose="020B0604020202020204" pitchFamily="34" charset="-120"/>
              </a:rPr>
              <a:t>Confirm the GPU is really being used</a:t>
            </a:r>
            <a:endParaRPr lang="en-US" sz="1100" dirty="0"/>
          </a:p>
        </p:txBody>
      </p:sp>
      <p:sp>
        <p:nvSpPr>
          <p:cNvPr id="10" name="Command block background"/>
          <p:cNvSpPr/>
          <p:nvPr/>
        </p:nvSpPr>
        <p:spPr>
          <a:xfrm>
            <a:off x="411480" y="3602736"/>
            <a:ext cx="8321040" cy="982980"/>
          </a:xfrm>
          <a:prstGeom prst="rect">
            <a:avLst/>
          </a:prstGeom>
          <a:solidFill>
            <a:srgbClr val="141210"/>
          </a:solidFill>
          <a:ln w="12700">
            <a:solidFill>
              <a:srgbClr val="3A332C"/>
            </a:solidFill>
            <a:prstDash val="solid"/>
          </a:ln>
        </p:spPr>
        <p:txBody>
          <a:bodyPr/>
          <a:lstStyle/>
          <a:p>
            <a:endParaRPr lang="en-US"/>
          </a:p>
        </p:txBody>
      </p:sp>
      <p:sp>
        <p:nvSpPr>
          <p:cNvPr id="11" name="Command block accent"/>
          <p:cNvSpPr/>
          <p:nvPr/>
        </p:nvSpPr>
        <p:spPr>
          <a:xfrm>
            <a:off x="411480" y="3602736"/>
            <a:ext cx="50292" cy="982980"/>
          </a:xfrm>
          <a:prstGeom prst="rect">
            <a:avLst/>
          </a:prstGeom>
          <a:solidFill>
            <a:srgbClr val="E2761F"/>
          </a:solidFill>
          <a:ln w="12700">
            <a:solidFill>
              <a:srgbClr val="E2761F"/>
            </a:solidFill>
            <a:prstDash val="solid"/>
          </a:ln>
        </p:spPr>
        <p:txBody>
          <a:bodyPr/>
          <a:lstStyle/>
          <a:p>
            <a:endParaRPr lang="en-US"/>
          </a:p>
        </p:txBody>
      </p:sp>
      <p:sp>
        <p:nvSpPr>
          <p:cNvPr id="12" name="Text 9"/>
          <p:cNvSpPr/>
          <p:nvPr/>
        </p:nvSpPr>
        <p:spPr>
          <a:xfrm>
            <a:off x="594360" y="3730752"/>
            <a:ext cx="8010144" cy="726948"/>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nvidia-smi</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exec -it ollama nvidia-smi</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logs ollama | grep -i gpu</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10</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10  ·  MONITORING AND ROUTINE MAINTENANCE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Keeping It Healthy After Go-Live</a:t>
            </a:r>
            <a:endParaRPr lang="en-US" sz="2600" dirty="0"/>
          </a:p>
        </p:txBody>
      </p:sp>
      <p:sp>
        <p:nvSpPr>
          <p:cNvPr id="8" name="List row"/>
          <p:cNvSpPr/>
          <p:nvPr/>
        </p:nvSpPr>
        <p:spPr>
          <a:xfrm>
            <a:off x="411480" y="1097280"/>
            <a:ext cx="8321040" cy="502920"/>
          </a:xfrm>
          <a:prstGeom prst="rect">
            <a:avLst/>
          </a:prstGeom>
          <a:solidFill>
            <a:srgbClr val="2A2622"/>
          </a:solidFill>
          <a:ln w="12700">
            <a:solidFill>
              <a:srgbClr val="3A332C"/>
            </a:solidFill>
            <a:prstDash val="solid"/>
          </a:ln>
        </p:spPr>
        <p:txBody>
          <a:bodyPr/>
          <a:lstStyle/>
          <a:p>
            <a:endParaRPr lang="en-US"/>
          </a:p>
        </p:txBody>
      </p:sp>
      <p:sp>
        <p:nvSpPr>
          <p:cNvPr id="9" name="List row accent"/>
          <p:cNvSpPr/>
          <p:nvPr/>
        </p:nvSpPr>
        <p:spPr>
          <a:xfrm>
            <a:off x="411480" y="1097280"/>
            <a:ext cx="45720" cy="5029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30936" y="1097280"/>
            <a:ext cx="1463040" cy="50292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DAILY</a:t>
            </a:r>
            <a:endParaRPr lang="en-US" sz="1000" dirty="0"/>
          </a:p>
        </p:txBody>
      </p:sp>
      <p:sp>
        <p:nvSpPr>
          <p:cNvPr id="11" name="Text 9"/>
          <p:cNvSpPr/>
          <p:nvPr/>
        </p:nvSpPr>
        <p:spPr>
          <a:xfrm>
            <a:off x="2148840" y="1097280"/>
            <a:ext cx="6364224" cy="50292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Glance at container status and the gateway error log. Anything restarting deserves attention.</a:t>
            </a:r>
            <a:endParaRPr lang="en-US" sz="1000" dirty="0"/>
          </a:p>
        </p:txBody>
      </p:sp>
      <p:sp>
        <p:nvSpPr>
          <p:cNvPr id="12" name="List row"/>
          <p:cNvSpPr/>
          <p:nvPr/>
        </p:nvSpPr>
        <p:spPr>
          <a:xfrm>
            <a:off x="411480" y="1655064"/>
            <a:ext cx="8321040" cy="502920"/>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411480" y="1655064"/>
            <a:ext cx="45720" cy="5029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30936" y="1655064"/>
            <a:ext cx="1463040" cy="50292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WEEKLY</a:t>
            </a:r>
            <a:endParaRPr lang="en-US" sz="1000" dirty="0"/>
          </a:p>
        </p:txBody>
      </p:sp>
      <p:sp>
        <p:nvSpPr>
          <p:cNvPr id="15" name="Text 13"/>
          <p:cNvSpPr/>
          <p:nvPr/>
        </p:nvSpPr>
        <p:spPr>
          <a:xfrm>
            <a:off x="2148840" y="1655064"/>
            <a:ext cx="6364224" cy="50292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Check free disk space and database growth. Model pulls and chat logs both grow quietly.</a:t>
            </a:r>
            <a:endParaRPr lang="en-US" sz="1000" dirty="0"/>
          </a:p>
        </p:txBody>
      </p:sp>
      <p:sp>
        <p:nvSpPr>
          <p:cNvPr id="16" name="List row"/>
          <p:cNvSpPr/>
          <p:nvPr/>
        </p:nvSpPr>
        <p:spPr>
          <a:xfrm>
            <a:off x="411480" y="2212848"/>
            <a:ext cx="8321040" cy="502920"/>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411480" y="2212848"/>
            <a:ext cx="45720" cy="5029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0936" y="2212848"/>
            <a:ext cx="1463040" cy="50292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MONTHLY</a:t>
            </a:r>
            <a:endParaRPr lang="en-US" sz="1000" dirty="0"/>
          </a:p>
        </p:txBody>
      </p:sp>
      <p:sp>
        <p:nvSpPr>
          <p:cNvPr id="19" name="Text 17"/>
          <p:cNvSpPr/>
          <p:nvPr/>
        </p:nvSpPr>
        <p:spPr>
          <a:xfrm>
            <a:off x="2148840" y="2212848"/>
            <a:ext cx="6364224" cy="50292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Apply Ubuntu updates, pull refreshed images and restart the stack during a quiet window.</a:t>
            </a:r>
            <a:endParaRPr lang="en-US" sz="1000" dirty="0"/>
          </a:p>
        </p:txBody>
      </p:sp>
      <p:sp>
        <p:nvSpPr>
          <p:cNvPr id="20" name="List row"/>
          <p:cNvSpPr/>
          <p:nvPr/>
        </p:nvSpPr>
        <p:spPr>
          <a:xfrm>
            <a:off x="411480" y="2770632"/>
            <a:ext cx="8321040" cy="502920"/>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411480" y="2770632"/>
            <a:ext cx="45720" cy="5029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30936" y="2770632"/>
            <a:ext cx="1463040" cy="50292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QUARTERLY</a:t>
            </a:r>
            <a:endParaRPr lang="en-US" sz="1000" dirty="0"/>
          </a:p>
        </p:txBody>
      </p:sp>
      <p:sp>
        <p:nvSpPr>
          <p:cNvPr id="23" name="Text 21"/>
          <p:cNvSpPr/>
          <p:nvPr/>
        </p:nvSpPr>
        <p:spPr>
          <a:xfrm>
            <a:off x="2148840" y="2770632"/>
            <a:ext cx="6364224" cy="50292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Run a restore drill, review who has access and re-run your retrieval test set.</a:t>
            </a:r>
            <a:endParaRPr lang="en-US" sz="1000" dirty="0"/>
          </a:p>
        </p:txBody>
      </p:sp>
      <p:sp>
        <p:nvSpPr>
          <p:cNvPr id="24" name="List row"/>
          <p:cNvSpPr/>
          <p:nvPr/>
        </p:nvSpPr>
        <p:spPr>
          <a:xfrm>
            <a:off x="411480" y="3328416"/>
            <a:ext cx="8321040" cy="502920"/>
          </a:xfrm>
          <a:prstGeom prst="rect">
            <a:avLst/>
          </a:prstGeom>
          <a:solidFill>
            <a:srgbClr val="2A2622"/>
          </a:solidFill>
          <a:ln w="12700">
            <a:solidFill>
              <a:srgbClr val="3A332C"/>
            </a:solidFill>
            <a:prstDash val="solid"/>
          </a:ln>
        </p:spPr>
        <p:txBody>
          <a:bodyPr/>
          <a:lstStyle/>
          <a:p>
            <a:endParaRPr lang="en-US"/>
          </a:p>
        </p:txBody>
      </p:sp>
      <p:sp>
        <p:nvSpPr>
          <p:cNvPr id="25" name="List row accent"/>
          <p:cNvSpPr/>
          <p:nvPr/>
        </p:nvSpPr>
        <p:spPr>
          <a:xfrm>
            <a:off x="411480" y="3328416"/>
            <a:ext cx="45720" cy="5029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30936" y="3328416"/>
            <a:ext cx="1463040" cy="502920"/>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ALWAYS</a:t>
            </a:r>
            <a:endParaRPr lang="en-US" sz="1000" dirty="0"/>
          </a:p>
        </p:txBody>
      </p:sp>
      <p:sp>
        <p:nvSpPr>
          <p:cNvPr id="27" name="Text 25"/>
          <p:cNvSpPr/>
          <p:nvPr/>
        </p:nvSpPr>
        <p:spPr>
          <a:xfrm>
            <a:off x="2148840" y="3328416"/>
            <a:ext cx="6364224" cy="502920"/>
          </a:xfrm>
          <a:prstGeom prst="rect">
            <a:avLst/>
          </a:prstGeom>
          <a:noFill/>
        </p:spPr>
        <p:txBody>
          <a:bodyPr wrap="square" lIns="0" tIns="0" rIns="0" bIns="0" rtlCol="0" anchor="ctr"/>
          <a:lstStyle/>
          <a:p>
            <a:pPr marL="0" indent="0">
              <a:buNone/>
            </a:pPr>
            <a:r>
              <a:rPr lang="en-US" sz="1000" dirty="0">
                <a:solidFill>
                  <a:srgbClr val="C9BFB2"/>
                </a:solidFill>
                <a:latin typeface="Arial" panose="020B0604020202020204" pitchFamily="34" charset="0"/>
                <a:ea typeface="Arial" panose="020B0604020202020204" pitchFamily="34" charset="-122"/>
                <a:cs typeface="Arial" panose="020B0604020202020204" pitchFamily="34" charset="-120"/>
              </a:rPr>
              <a:t>Set up log rotation for containers — unbounded JSON logs are a classic cause of a full disk.</a:t>
            </a:r>
            <a:endParaRPr lang="en-US" sz="1000" dirty="0"/>
          </a:p>
        </p:txBody>
      </p:sp>
      <p:sp>
        <p:nvSpPr>
          <p:cNvPr id="28" name="Command block background"/>
          <p:cNvSpPr/>
          <p:nvPr/>
        </p:nvSpPr>
        <p:spPr>
          <a:xfrm>
            <a:off x="411480" y="3913632"/>
            <a:ext cx="8321040" cy="758952"/>
          </a:xfrm>
          <a:prstGeom prst="rect">
            <a:avLst/>
          </a:prstGeom>
          <a:solidFill>
            <a:srgbClr val="141210"/>
          </a:solidFill>
          <a:ln w="12700">
            <a:solidFill>
              <a:srgbClr val="3A332C"/>
            </a:solidFill>
            <a:prstDash val="solid"/>
          </a:ln>
        </p:spPr>
        <p:txBody>
          <a:bodyPr/>
          <a:lstStyle/>
          <a:p>
            <a:endParaRPr lang="en-US"/>
          </a:p>
        </p:txBody>
      </p:sp>
      <p:sp>
        <p:nvSpPr>
          <p:cNvPr id="29" name="Command block accent"/>
          <p:cNvSpPr/>
          <p:nvPr/>
        </p:nvSpPr>
        <p:spPr>
          <a:xfrm>
            <a:off x="411480" y="3913632"/>
            <a:ext cx="50292" cy="758952"/>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594360" y="4041648"/>
            <a:ext cx="8010144" cy="502920"/>
          </a:xfrm>
          <a:prstGeom prst="rect">
            <a:avLst/>
          </a:prstGeom>
          <a:noFill/>
        </p:spPr>
        <p:txBody>
          <a:bodyPr wrap="square" lIns="0" tIns="0" rIns="0" bIns="0" rtlCol="0" anchor="t"/>
          <a:lstStyle/>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df -h &amp;&amp; docker system df</a:t>
            </a:r>
            <a:endParaRPr lang="en-US" sz="1000" dirty="0"/>
          </a:p>
          <a:p>
            <a:pPr marL="0" indent="0">
              <a:lnSpc>
                <a:spcPts val="1550"/>
              </a:lnSpc>
              <a:buNone/>
            </a:pPr>
            <a:r>
              <a:rPr lang="en-US" sz="10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system prune -f          # reclaim unused images and layers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10</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10  ·  QUICK ADMINISTRATION COMMANDS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Day-to-Day Command Reference</a:t>
            </a:r>
            <a:endParaRPr lang="en-US" sz="2600" dirty="0"/>
          </a:p>
        </p:txBody>
      </p:sp>
      <p:sp>
        <p:nvSpPr>
          <p:cNvPr id="8" name="Command row"/>
          <p:cNvSpPr/>
          <p:nvPr/>
        </p:nvSpPr>
        <p:spPr>
          <a:xfrm>
            <a:off x="411480" y="1152144"/>
            <a:ext cx="4069080" cy="566928"/>
          </a:xfrm>
          <a:prstGeom prst="rect">
            <a:avLst/>
          </a:prstGeom>
          <a:solidFill>
            <a:srgbClr val="2A2622"/>
          </a:solidFill>
          <a:ln w="12700">
            <a:solidFill>
              <a:srgbClr val="3A332C"/>
            </a:solidFill>
            <a:prstDash val="solid"/>
          </a:ln>
        </p:spPr>
        <p:txBody>
          <a:bodyPr/>
          <a:lstStyle/>
          <a:p>
            <a:endParaRPr lang="en-US"/>
          </a:p>
        </p:txBody>
      </p:sp>
      <p:sp>
        <p:nvSpPr>
          <p:cNvPr id="9" name="Command row accent"/>
          <p:cNvSpPr/>
          <p:nvPr/>
        </p:nvSpPr>
        <p:spPr>
          <a:xfrm>
            <a:off x="411480" y="1152144"/>
            <a:ext cx="45720" cy="566928"/>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12648" y="1207008"/>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Check running containers</a:t>
            </a:r>
            <a:endParaRPr lang="en-US" sz="950" dirty="0"/>
          </a:p>
        </p:txBody>
      </p:sp>
      <p:sp>
        <p:nvSpPr>
          <p:cNvPr id="11" name="Text 9"/>
          <p:cNvSpPr/>
          <p:nvPr/>
        </p:nvSpPr>
        <p:spPr>
          <a:xfrm>
            <a:off x="612648" y="1426464"/>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ps</a:t>
            </a:r>
            <a:endParaRPr lang="en-US" sz="1050" dirty="0"/>
          </a:p>
        </p:txBody>
      </p:sp>
      <p:sp>
        <p:nvSpPr>
          <p:cNvPr id="12" name="Command row"/>
          <p:cNvSpPr/>
          <p:nvPr/>
        </p:nvSpPr>
        <p:spPr>
          <a:xfrm>
            <a:off x="4663440" y="1152144"/>
            <a:ext cx="4069080" cy="566928"/>
          </a:xfrm>
          <a:prstGeom prst="rect">
            <a:avLst/>
          </a:prstGeom>
          <a:solidFill>
            <a:srgbClr val="2A2622"/>
          </a:solidFill>
          <a:ln w="12700">
            <a:solidFill>
              <a:srgbClr val="3A332C"/>
            </a:solidFill>
            <a:prstDash val="solid"/>
          </a:ln>
        </p:spPr>
        <p:txBody>
          <a:bodyPr/>
          <a:lstStyle/>
          <a:p>
            <a:endParaRPr lang="en-US"/>
          </a:p>
        </p:txBody>
      </p:sp>
      <p:sp>
        <p:nvSpPr>
          <p:cNvPr id="13" name="Command row accent"/>
          <p:cNvSpPr/>
          <p:nvPr/>
        </p:nvSpPr>
        <p:spPr>
          <a:xfrm>
            <a:off x="4663440" y="1152144"/>
            <a:ext cx="45720" cy="566928"/>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4864608" y="1207008"/>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Start services</a:t>
            </a:r>
            <a:endParaRPr lang="en-US" sz="950" dirty="0"/>
          </a:p>
        </p:txBody>
      </p:sp>
      <p:sp>
        <p:nvSpPr>
          <p:cNvPr id="15" name="Text 13"/>
          <p:cNvSpPr/>
          <p:nvPr/>
        </p:nvSpPr>
        <p:spPr>
          <a:xfrm>
            <a:off x="4864608" y="1426464"/>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up -d</a:t>
            </a:r>
            <a:endParaRPr lang="en-US" sz="1050" dirty="0"/>
          </a:p>
        </p:txBody>
      </p:sp>
      <p:sp>
        <p:nvSpPr>
          <p:cNvPr id="16" name="Command row"/>
          <p:cNvSpPr/>
          <p:nvPr/>
        </p:nvSpPr>
        <p:spPr>
          <a:xfrm>
            <a:off x="411480" y="1810512"/>
            <a:ext cx="4069080" cy="566928"/>
          </a:xfrm>
          <a:prstGeom prst="rect">
            <a:avLst/>
          </a:prstGeom>
          <a:solidFill>
            <a:srgbClr val="2A2622"/>
          </a:solidFill>
          <a:ln w="12700">
            <a:solidFill>
              <a:srgbClr val="3A332C"/>
            </a:solidFill>
            <a:prstDash val="solid"/>
          </a:ln>
        </p:spPr>
        <p:txBody>
          <a:bodyPr/>
          <a:lstStyle/>
          <a:p>
            <a:endParaRPr lang="en-US"/>
          </a:p>
        </p:txBody>
      </p:sp>
      <p:sp>
        <p:nvSpPr>
          <p:cNvPr id="17" name="Command row accent"/>
          <p:cNvSpPr/>
          <p:nvPr/>
        </p:nvSpPr>
        <p:spPr>
          <a:xfrm>
            <a:off x="411480" y="1810512"/>
            <a:ext cx="45720" cy="566928"/>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12648" y="1865376"/>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Stop services</a:t>
            </a:r>
            <a:endParaRPr lang="en-US" sz="950" dirty="0"/>
          </a:p>
        </p:txBody>
      </p:sp>
      <p:sp>
        <p:nvSpPr>
          <p:cNvPr id="19" name="Text 17"/>
          <p:cNvSpPr/>
          <p:nvPr/>
        </p:nvSpPr>
        <p:spPr>
          <a:xfrm>
            <a:off x="612648" y="2084832"/>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compose down</a:t>
            </a:r>
            <a:endParaRPr lang="en-US" sz="1050" dirty="0"/>
          </a:p>
        </p:txBody>
      </p:sp>
      <p:sp>
        <p:nvSpPr>
          <p:cNvPr id="20" name="Command row"/>
          <p:cNvSpPr/>
          <p:nvPr/>
        </p:nvSpPr>
        <p:spPr>
          <a:xfrm>
            <a:off x="4663440" y="1810512"/>
            <a:ext cx="4069080" cy="566928"/>
          </a:xfrm>
          <a:prstGeom prst="rect">
            <a:avLst/>
          </a:prstGeom>
          <a:solidFill>
            <a:srgbClr val="2A2622"/>
          </a:solidFill>
          <a:ln w="12700">
            <a:solidFill>
              <a:srgbClr val="3A332C"/>
            </a:solidFill>
            <a:prstDash val="solid"/>
          </a:ln>
        </p:spPr>
        <p:txBody>
          <a:bodyPr/>
          <a:lstStyle/>
          <a:p>
            <a:endParaRPr lang="en-US"/>
          </a:p>
        </p:txBody>
      </p:sp>
      <p:sp>
        <p:nvSpPr>
          <p:cNvPr id="21" name="Command row accent"/>
          <p:cNvSpPr/>
          <p:nvPr/>
        </p:nvSpPr>
        <p:spPr>
          <a:xfrm>
            <a:off x="4663440" y="1810512"/>
            <a:ext cx="45720" cy="566928"/>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64608" y="1865376"/>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Restart one container</a:t>
            </a:r>
            <a:endParaRPr lang="en-US" sz="950" dirty="0"/>
          </a:p>
        </p:txBody>
      </p:sp>
      <p:sp>
        <p:nvSpPr>
          <p:cNvPr id="23" name="Text 21"/>
          <p:cNvSpPr/>
          <p:nvPr/>
        </p:nvSpPr>
        <p:spPr>
          <a:xfrm>
            <a:off x="4864608" y="2084832"/>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restart &lt;name&gt;</a:t>
            </a:r>
            <a:endParaRPr lang="en-US" sz="1050" dirty="0"/>
          </a:p>
        </p:txBody>
      </p:sp>
      <p:sp>
        <p:nvSpPr>
          <p:cNvPr id="24" name="Command row"/>
          <p:cNvSpPr/>
          <p:nvPr/>
        </p:nvSpPr>
        <p:spPr>
          <a:xfrm>
            <a:off x="411480" y="2468880"/>
            <a:ext cx="4069080" cy="566928"/>
          </a:xfrm>
          <a:prstGeom prst="rect">
            <a:avLst/>
          </a:prstGeom>
          <a:solidFill>
            <a:srgbClr val="2A2622"/>
          </a:solidFill>
          <a:ln w="12700">
            <a:solidFill>
              <a:srgbClr val="3A332C"/>
            </a:solidFill>
            <a:prstDash val="solid"/>
          </a:ln>
        </p:spPr>
        <p:txBody>
          <a:bodyPr/>
          <a:lstStyle/>
          <a:p>
            <a:endParaRPr lang="en-US"/>
          </a:p>
        </p:txBody>
      </p:sp>
      <p:sp>
        <p:nvSpPr>
          <p:cNvPr id="25" name="Command row accent"/>
          <p:cNvSpPr/>
          <p:nvPr/>
        </p:nvSpPr>
        <p:spPr>
          <a:xfrm>
            <a:off x="411480" y="2468880"/>
            <a:ext cx="45720" cy="566928"/>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12648" y="2523744"/>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View logs</a:t>
            </a:r>
            <a:endParaRPr lang="en-US" sz="950" dirty="0"/>
          </a:p>
        </p:txBody>
      </p:sp>
      <p:sp>
        <p:nvSpPr>
          <p:cNvPr id="27" name="Text 25"/>
          <p:cNvSpPr/>
          <p:nvPr/>
        </p:nvSpPr>
        <p:spPr>
          <a:xfrm>
            <a:off x="612648" y="2743200"/>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logs -f &lt;name&gt;</a:t>
            </a:r>
            <a:endParaRPr lang="en-US" sz="1050" dirty="0"/>
          </a:p>
        </p:txBody>
      </p:sp>
      <p:sp>
        <p:nvSpPr>
          <p:cNvPr id="28" name="Command row"/>
          <p:cNvSpPr/>
          <p:nvPr/>
        </p:nvSpPr>
        <p:spPr>
          <a:xfrm>
            <a:off x="4663440" y="2468880"/>
            <a:ext cx="4069080" cy="566928"/>
          </a:xfrm>
          <a:prstGeom prst="rect">
            <a:avLst/>
          </a:prstGeom>
          <a:solidFill>
            <a:srgbClr val="2A2622"/>
          </a:solidFill>
          <a:ln w="12700">
            <a:solidFill>
              <a:srgbClr val="3A332C"/>
            </a:solidFill>
            <a:prstDash val="solid"/>
          </a:ln>
        </p:spPr>
        <p:txBody>
          <a:bodyPr/>
          <a:lstStyle/>
          <a:p>
            <a:endParaRPr lang="en-US"/>
          </a:p>
        </p:txBody>
      </p:sp>
      <p:sp>
        <p:nvSpPr>
          <p:cNvPr id="29" name="Command row accent"/>
          <p:cNvSpPr/>
          <p:nvPr/>
        </p:nvSpPr>
        <p:spPr>
          <a:xfrm>
            <a:off x="4663440" y="2468880"/>
            <a:ext cx="45720" cy="566928"/>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64608" y="2523744"/>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Enter a container</a:t>
            </a:r>
            <a:endParaRPr lang="en-US" sz="950" dirty="0"/>
          </a:p>
        </p:txBody>
      </p:sp>
      <p:sp>
        <p:nvSpPr>
          <p:cNvPr id="31" name="Text 29"/>
          <p:cNvSpPr/>
          <p:nvPr/>
        </p:nvSpPr>
        <p:spPr>
          <a:xfrm>
            <a:off x="4864608" y="2743200"/>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docker exec -it &lt;name&gt; bash</a:t>
            </a:r>
            <a:endParaRPr lang="en-US" sz="1050" dirty="0"/>
          </a:p>
        </p:txBody>
      </p:sp>
      <p:sp>
        <p:nvSpPr>
          <p:cNvPr id="32" name="Command row"/>
          <p:cNvSpPr/>
          <p:nvPr/>
        </p:nvSpPr>
        <p:spPr>
          <a:xfrm>
            <a:off x="411480" y="3127248"/>
            <a:ext cx="4069080" cy="566928"/>
          </a:xfrm>
          <a:prstGeom prst="rect">
            <a:avLst/>
          </a:prstGeom>
          <a:solidFill>
            <a:srgbClr val="2A2622"/>
          </a:solidFill>
          <a:ln w="12700">
            <a:solidFill>
              <a:srgbClr val="3A332C"/>
            </a:solidFill>
            <a:prstDash val="solid"/>
          </a:ln>
        </p:spPr>
        <p:txBody>
          <a:bodyPr/>
          <a:lstStyle/>
          <a:p>
            <a:endParaRPr lang="en-US"/>
          </a:p>
        </p:txBody>
      </p:sp>
      <p:sp>
        <p:nvSpPr>
          <p:cNvPr id="33" name="Command row accent"/>
          <p:cNvSpPr/>
          <p:nvPr/>
        </p:nvSpPr>
        <p:spPr>
          <a:xfrm>
            <a:off x="411480" y="3127248"/>
            <a:ext cx="45720" cy="566928"/>
          </a:xfrm>
          <a:prstGeom prst="rect">
            <a:avLst/>
          </a:prstGeom>
          <a:solidFill>
            <a:srgbClr val="E2761F"/>
          </a:solidFill>
          <a:ln w="12700">
            <a:solidFill>
              <a:srgbClr val="E2761F"/>
            </a:solidFill>
            <a:prstDash val="solid"/>
          </a:ln>
        </p:spPr>
        <p:txBody>
          <a:bodyPr/>
          <a:lstStyle/>
          <a:p>
            <a:endParaRPr lang="en-US"/>
          </a:p>
        </p:txBody>
      </p:sp>
      <p:sp>
        <p:nvSpPr>
          <p:cNvPr id="34" name="Text 32"/>
          <p:cNvSpPr/>
          <p:nvPr/>
        </p:nvSpPr>
        <p:spPr>
          <a:xfrm>
            <a:off x="612648" y="3182112"/>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Check disk space</a:t>
            </a:r>
            <a:endParaRPr lang="en-US" sz="950" dirty="0"/>
          </a:p>
        </p:txBody>
      </p:sp>
      <p:sp>
        <p:nvSpPr>
          <p:cNvPr id="35" name="Text 33"/>
          <p:cNvSpPr/>
          <p:nvPr/>
        </p:nvSpPr>
        <p:spPr>
          <a:xfrm>
            <a:off x="612648" y="3401568"/>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df -h</a:t>
            </a:r>
            <a:endParaRPr lang="en-US" sz="1050" dirty="0"/>
          </a:p>
        </p:txBody>
      </p:sp>
      <p:sp>
        <p:nvSpPr>
          <p:cNvPr id="36" name="Command row"/>
          <p:cNvSpPr/>
          <p:nvPr/>
        </p:nvSpPr>
        <p:spPr>
          <a:xfrm>
            <a:off x="4663440" y="3127248"/>
            <a:ext cx="4069080" cy="566928"/>
          </a:xfrm>
          <a:prstGeom prst="rect">
            <a:avLst/>
          </a:prstGeom>
          <a:solidFill>
            <a:srgbClr val="2A2622"/>
          </a:solidFill>
          <a:ln w="12700">
            <a:solidFill>
              <a:srgbClr val="3A332C"/>
            </a:solidFill>
            <a:prstDash val="solid"/>
          </a:ln>
        </p:spPr>
        <p:txBody>
          <a:bodyPr/>
          <a:lstStyle/>
          <a:p>
            <a:endParaRPr lang="en-US"/>
          </a:p>
        </p:txBody>
      </p:sp>
      <p:sp>
        <p:nvSpPr>
          <p:cNvPr id="37" name="Command row accent"/>
          <p:cNvSpPr/>
          <p:nvPr/>
        </p:nvSpPr>
        <p:spPr>
          <a:xfrm>
            <a:off x="4663440" y="3127248"/>
            <a:ext cx="45720" cy="566928"/>
          </a:xfrm>
          <a:prstGeom prst="rect">
            <a:avLst/>
          </a:prstGeom>
          <a:solidFill>
            <a:srgbClr val="E2761F"/>
          </a:solidFill>
          <a:ln w="12700">
            <a:solidFill>
              <a:srgbClr val="E2761F"/>
            </a:solidFill>
            <a:prstDash val="solid"/>
          </a:ln>
        </p:spPr>
        <p:txBody>
          <a:bodyPr/>
          <a:lstStyle/>
          <a:p>
            <a:endParaRPr lang="en-US"/>
          </a:p>
        </p:txBody>
      </p:sp>
      <p:sp>
        <p:nvSpPr>
          <p:cNvPr id="38" name="Text 36"/>
          <p:cNvSpPr/>
          <p:nvPr/>
        </p:nvSpPr>
        <p:spPr>
          <a:xfrm>
            <a:off x="4864608" y="3182112"/>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Check folder size</a:t>
            </a:r>
            <a:endParaRPr lang="en-US" sz="950" dirty="0"/>
          </a:p>
        </p:txBody>
      </p:sp>
      <p:sp>
        <p:nvSpPr>
          <p:cNvPr id="39" name="Text 37"/>
          <p:cNvSpPr/>
          <p:nvPr/>
        </p:nvSpPr>
        <p:spPr>
          <a:xfrm>
            <a:off x="4864608" y="3401568"/>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du -sh /srv/ai-platform/*</a:t>
            </a:r>
            <a:endParaRPr lang="en-US" sz="1050" dirty="0"/>
          </a:p>
        </p:txBody>
      </p:sp>
      <p:sp>
        <p:nvSpPr>
          <p:cNvPr id="40" name="Command row"/>
          <p:cNvSpPr/>
          <p:nvPr/>
        </p:nvSpPr>
        <p:spPr>
          <a:xfrm>
            <a:off x="411480" y="3785616"/>
            <a:ext cx="4069080" cy="566928"/>
          </a:xfrm>
          <a:prstGeom prst="rect">
            <a:avLst/>
          </a:prstGeom>
          <a:solidFill>
            <a:srgbClr val="2A2622"/>
          </a:solidFill>
          <a:ln w="12700">
            <a:solidFill>
              <a:srgbClr val="3A332C"/>
            </a:solidFill>
            <a:prstDash val="solid"/>
          </a:ln>
        </p:spPr>
        <p:txBody>
          <a:bodyPr/>
          <a:lstStyle/>
          <a:p>
            <a:endParaRPr lang="en-US"/>
          </a:p>
        </p:txBody>
      </p:sp>
      <p:sp>
        <p:nvSpPr>
          <p:cNvPr id="41" name="Command row accent"/>
          <p:cNvSpPr/>
          <p:nvPr/>
        </p:nvSpPr>
        <p:spPr>
          <a:xfrm>
            <a:off x="411480" y="3785616"/>
            <a:ext cx="45720" cy="566928"/>
          </a:xfrm>
          <a:prstGeom prst="rect">
            <a:avLst/>
          </a:prstGeom>
          <a:solidFill>
            <a:srgbClr val="E2761F"/>
          </a:solidFill>
          <a:ln w="12700">
            <a:solidFill>
              <a:srgbClr val="E2761F"/>
            </a:solidFill>
            <a:prstDash val="solid"/>
          </a:ln>
        </p:spPr>
        <p:txBody>
          <a:bodyPr/>
          <a:lstStyle/>
          <a:p>
            <a:endParaRPr lang="en-US"/>
          </a:p>
        </p:txBody>
      </p:sp>
      <p:sp>
        <p:nvSpPr>
          <p:cNvPr id="42" name="Text 40"/>
          <p:cNvSpPr/>
          <p:nvPr/>
        </p:nvSpPr>
        <p:spPr>
          <a:xfrm>
            <a:off x="612648" y="3840480"/>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Check IP address</a:t>
            </a:r>
            <a:endParaRPr lang="en-US" sz="950" dirty="0"/>
          </a:p>
        </p:txBody>
      </p:sp>
      <p:sp>
        <p:nvSpPr>
          <p:cNvPr id="43" name="Text 41"/>
          <p:cNvSpPr/>
          <p:nvPr/>
        </p:nvSpPr>
        <p:spPr>
          <a:xfrm>
            <a:off x="612648" y="4059936"/>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hostname -I</a:t>
            </a:r>
            <a:endParaRPr lang="en-US" sz="1050" dirty="0"/>
          </a:p>
        </p:txBody>
      </p:sp>
      <p:sp>
        <p:nvSpPr>
          <p:cNvPr id="44" name="Command row"/>
          <p:cNvSpPr/>
          <p:nvPr/>
        </p:nvSpPr>
        <p:spPr>
          <a:xfrm>
            <a:off x="4663440" y="3785616"/>
            <a:ext cx="4069080" cy="566928"/>
          </a:xfrm>
          <a:prstGeom prst="rect">
            <a:avLst/>
          </a:prstGeom>
          <a:solidFill>
            <a:srgbClr val="2A2622"/>
          </a:solidFill>
          <a:ln w="12700">
            <a:solidFill>
              <a:srgbClr val="3A332C"/>
            </a:solidFill>
            <a:prstDash val="solid"/>
          </a:ln>
        </p:spPr>
        <p:txBody>
          <a:bodyPr/>
          <a:lstStyle/>
          <a:p>
            <a:endParaRPr lang="en-US"/>
          </a:p>
        </p:txBody>
      </p:sp>
      <p:sp>
        <p:nvSpPr>
          <p:cNvPr id="45" name="Command row accent"/>
          <p:cNvSpPr/>
          <p:nvPr/>
        </p:nvSpPr>
        <p:spPr>
          <a:xfrm>
            <a:off x="4663440" y="3785616"/>
            <a:ext cx="45720" cy="566928"/>
          </a:xfrm>
          <a:prstGeom prst="rect">
            <a:avLst/>
          </a:prstGeom>
          <a:solidFill>
            <a:srgbClr val="E2761F"/>
          </a:solidFill>
          <a:ln w="12700">
            <a:solidFill>
              <a:srgbClr val="E2761F"/>
            </a:solidFill>
            <a:prstDash val="solid"/>
          </a:ln>
        </p:spPr>
        <p:txBody>
          <a:bodyPr/>
          <a:lstStyle/>
          <a:p>
            <a:endParaRPr lang="en-US"/>
          </a:p>
        </p:txBody>
      </p:sp>
      <p:sp>
        <p:nvSpPr>
          <p:cNvPr id="46" name="Text 44"/>
          <p:cNvSpPr/>
          <p:nvPr/>
        </p:nvSpPr>
        <p:spPr>
          <a:xfrm>
            <a:off x="4864608" y="3840480"/>
            <a:ext cx="3749040" cy="219456"/>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Check listening ports</a:t>
            </a:r>
            <a:endParaRPr lang="en-US" sz="950" dirty="0"/>
          </a:p>
        </p:txBody>
      </p:sp>
      <p:sp>
        <p:nvSpPr>
          <p:cNvPr id="47" name="Text 45"/>
          <p:cNvSpPr/>
          <p:nvPr/>
        </p:nvSpPr>
        <p:spPr>
          <a:xfrm>
            <a:off x="4864608" y="4059936"/>
            <a:ext cx="3749040" cy="237744"/>
          </a:xfrm>
          <a:prstGeom prst="rect">
            <a:avLst/>
          </a:prstGeom>
          <a:noFill/>
        </p:spPr>
        <p:txBody>
          <a:bodyPr wrap="square" lIns="0" tIns="0" rIns="0" bIns="0" rtlCol="0" anchor="ctr"/>
          <a:lstStyle/>
          <a:p>
            <a:pPr marL="0" indent="0">
              <a:buNone/>
            </a:pPr>
            <a:r>
              <a:rPr lang="en-US" sz="1050" dirty="0">
                <a:solidFill>
                  <a:srgbClr val="F0A040"/>
                </a:solidFill>
                <a:latin typeface="Consolas" panose="020B0609020204030204" pitchFamily="34" charset="0"/>
                <a:ea typeface="Consolas" panose="020B0609020204030204" pitchFamily="34" charset="-122"/>
                <a:cs typeface="Consolas" panose="020B0609020204030204" pitchFamily="34" charset="-120"/>
              </a:rPr>
              <a:t>sudo ss -lntp</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11</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SECTION 11  ·  RECOMMENDED DEPLOYMENT SEQUENCE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The Order That Works</a:t>
            </a:r>
            <a:endParaRPr lang="en-US" sz="2600" dirty="0"/>
          </a:p>
        </p:txBody>
      </p:sp>
      <p:sp>
        <p:nvSpPr>
          <p:cNvPr id="8" name="Text 6"/>
          <p:cNvSpPr/>
          <p:nvPr/>
        </p:nvSpPr>
        <p:spPr>
          <a:xfrm>
            <a:off x="411480" y="1097280"/>
            <a:ext cx="8321040" cy="256032"/>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Each stage is verifiable on its own — do not move forward until the current one passes.</a:t>
            </a:r>
            <a:endParaRPr lang="en-US" sz="1200" dirty="0"/>
          </a:p>
        </p:txBody>
      </p:sp>
      <p:sp>
        <p:nvSpPr>
          <p:cNvPr id="9" name="Timeline rule"/>
          <p:cNvSpPr/>
          <p:nvPr/>
        </p:nvSpPr>
        <p:spPr>
          <a:xfrm>
            <a:off x="411480" y="1755648"/>
            <a:ext cx="8321040" cy="27432"/>
          </a:xfrm>
          <a:prstGeom prst="rect">
            <a:avLst/>
          </a:prstGeom>
          <a:solidFill>
            <a:srgbClr val="4A423A"/>
          </a:solidFill>
          <a:ln w="12700">
            <a:solidFill>
              <a:srgbClr val="4A423A"/>
            </a:solidFill>
            <a:prstDash val="solid"/>
          </a:ln>
        </p:spPr>
        <p:txBody>
          <a:bodyPr/>
          <a:lstStyle/>
          <a:p>
            <a:endParaRPr lang="en-US"/>
          </a:p>
        </p:txBody>
      </p:sp>
      <p:sp>
        <p:nvSpPr>
          <p:cNvPr id="10" name="Timeline rule"/>
          <p:cNvSpPr/>
          <p:nvPr/>
        </p:nvSpPr>
        <p:spPr>
          <a:xfrm>
            <a:off x="411480" y="3127248"/>
            <a:ext cx="8321040" cy="27432"/>
          </a:xfrm>
          <a:prstGeom prst="rect">
            <a:avLst/>
          </a:prstGeom>
          <a:solidFill>
            <a:srgbClr val="4A423A"/>
          </a:solidFill>
          <a:ln w="12700">
            <a:solidFill>
              <a:srgbClr val="4A423A"/>
            </a:solidFill>
            <a:prstDash val="solid"/>
          </a:ln>
        </p:spPr>
        <p:txBody>
          <a:bodyPr/>
          <a:lstStyle/>
          <a:p>
            <a:endParaRPr lang="en-US"/>
          </a:p>
        </p:txBody>
      </p:sp>
      <p:sp>
        <p:nvSpPr>
          <p:cNvPr id="11" name="Sequence marker"/>
          <p:cNvSpPr/>
          <p:nvPr/>
        </p:nvSpPr>
        <p:spPr>
          <a:xfrm>
            <a:off x="411480" y="1536192"/>
            <a:ext cx="457200" cy="457200"/>
          </a:xfrm>
          <a:prstGeom prst="rect">
            <a:avLst/>
          </a:prstGeom>
          <a:solidFill>
            <a:srgbClr val="E2761F"/>
          </a:solidFill>
          <a:ln w="12700">
            <a:solidFill>
              <a:srgbClr val="E2761F"/>
            </a:solidFill>
            <a:prstDash val="solid"/>
          </a:ln>
        </p:spPr>
        <p:txBody>
          <a:bodyPr/>
          <a:lstStyle/>
          <a:p>
            <a:endParaRPr lang="en-US"/>
          </a:p>
        </p:txBody>
      </p:sp>
      <p:sp>
        <p:nvSpPr>
          <p:cNvPr id="12" name="Text 10"/>
          <p:cNvSpPr/>
          <p:nvPr/>
        </p:nvSpPr>
        <p:spPr>
          <a:xfrm>
            <a:off x="411480" y="15361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1</a:t>
            </a:r>
            <a:endParaRPr lang="en-US" sz="1500" dirty="0"/>
          </a:p>
        </p:txBody>
      </p:sp>
      <p:sp>
        <p:nvSpPr>
          <p:cNvPr id="13" name="Text 11"/>
          <p:cNvSpPr/>
          <p:nvPr/>
        </p:nvSpPr>
        <p:spPr>
          <a:xfrm>
            <a:off x="411480" y="20848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Install and update Ubuntu Server</a:t>
            </a:r>
            <a:endParaRPr lang="en-US" sz="950" dirty="0"/>
          </a:p>
        </p:txBody>
      </p:sp>
      <p:sp>
        <p:nvSpPr>
          <p:cNvPr id="14" name="Sequence marker"/>
          <p:cNvSpPr/>
          <p:nvPr/>
        </p:nvSpPr>
        <p:spPr>
          <a:xfrm>
            <a:off x="2103120" y="1536192"/>
            <a:ext cx="457200" cy="457200"/>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2103120" y="15361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2</a:t>
            </a:r>
            <a:endParaRPr lang="en-US" sz="1500" dirty="0"/>
          </a:p>
        </p:txBody>
      </p:sp>
      <p:sp>
        <p:nvSpPr>
          <p:cNvPr id="16" name="Text 14"/>
          <p:cNvSpPr/>
          <p:nvPr/>
        </p:nvSpPr>
        <p:spPr>
          <a:xfrm>
            <a:off x="2103120" y="20848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Install Docker and Docker Compose</a:t>
            </a:r>
            <a:endParaRPr lang="en-US" sz="950" dirty="0"/>
          </a:p>
        </p:txBody>
      </p:sp>
      <p:sp>
        <p:nvSpPr>
          <p:cNvPr id="17" name="Sequence marker"/>
          <p:cNvSpPr/>
          <p:nvPr/>
        </p:nvSpPr>
        <p:spPr>
          <a:xfrm>
            <a:off x="3794760" y="1536192"/>
            <a:ext cx="457200" cy="45720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3794760" y="15361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3</a:t>
            </a:r>
            <a:endParaRPr lang="en-US" sz="1500" dirty="0"/>
          </a:p>
        </p:txBody>
      </p:sp>
      <p:sp>
        <p:nvSpPr>
          <p:cNvPr id="19" name="Text 17"/>
          <p:cNvSpPr/>
          <p:nvPr/>
        </p:nvSpPr>
        <p:spPr>
          <a:xfrm>
            <a:off x="3794760" y="20848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Deploy Ollama, Qdrant and PostgreSQL</a:t>
            </a:r>
            <a:endParaRPr lang="en-US" sz="950" dirty="0"/>
          </a:p>
        </p:txBody>
      </p:sp>
      <p:sp>
        <p:nvSpPr>
          <p:cNvPr id="20" name="Sequence marker"/>
          <p:cNvSpPr/>
          <p:nvPr/>
        </p:nvSpPr>
        <p:spPr>
          <a:xfrm>
            <a:off x="5486400" y="1536192"/>
            <a:ext cx="457200" cy="457200"/>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5486400" y="15361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4</a:t>
            </a:r>
            <a:endParaRPr lang="en-US" sz="1500" dirty="0"/>
          </a:p>
        </p:txBody>
      </p:sp>
      <p:sp>
        <p:nvSpPr>
          <p:cNvPr id="22" name="Text 20"/>
          <p:cNvSpPr/>
          <p:nvPr/>
        </p:nvSpPr>
        <p:spPr>
          <a:xfrm>
            <a:off x="5486400" y="20848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Pull and test the selected LLM</a:t>
            </a:r>
            <a:endParaRPr lang="en-US" sz="950" dirty="0"/>
          </a:p>
        </p:txBody>
      </p:sp>
      <p:sp>
        <p:nvSpPr>
          <p:cNvPr id="23" name="Sequence marker"/>
          <p:cNvSpPr/>
          <p:nvPr/>
        </p:nvSpPr>
        <p:spPr>
          <a:xfrm>
            <a:off x="7178040" y="1536192"/>
            <a:ext cx="457200" cy="457200"/>
          </a:xfrm>
          <a:prstGeom prst="rect">
            <a:avLst/>
          </a:prstGeom>
          <a:solidFill>
            <a:srgbClr val="E2761F"/>
          </a:solidFill>
          <a:ln w="12700">
            <a:solidFill>
              <a:srgbClr val="E2761F"/>
            </a:solidFill>
            <a:prstDash val="solid"/>
          </a:ln>
        </p:spPr>
        <p:txBody>
          <a:bodyPr/>
          <a:lstStyle/>
          <a:p>
            <a:endParaRPr lang="en-US"/>
          </a:p>
        </p:txBody>
      </p:sp>
      <p:sp>
        <p:nvSpPr>
          <p:cNvPr id="24" name="Text 22"/>
          <p:cNvSpPr/>
          <p:nvPr/>
        </p:nvSpPr>
        <p:spPr>
          <a:xfrm>
            <a:off x="7178040" y="15361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5</a:t>
            </a:r>
            <a:endParaRPr lang="en-US" sz="1500" dirty="0"/>
          </a:p>
        </p:txBody>
      </p:sp>
      <p:sp>
        <p:nvSpPr>
          <p:cNvPr id="25" name="Text 23"/>
          <p:cNvSpPr/>
          <p:nvPr/>
        </p:nvSpPr>
        <p:spPr>
          <a:xfrm>
            <a:off x="7178040" y="20848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Deploy the FastAPI gateway</a:t>
            </a:r>
            <a:endParaRPr lang="en-US" sz="950" dirty="0"/>
          </a:p>
        </p:txBody>
      </p:sp>
      <p:sp>
        <p:nvSpPr>
          <p:cNvPr id="26" name="Sequence marker"/>
          <p:cNvSpPr/>
          <p:nvPr/>
        </p:nvSpPr>
        <p:spPr>
          <a:xfrm>
            <a:off x="411480" y="2907792"/>
            <a:ext cx="457200" cy="457200"/>
          </a:xfrm>
          <a:prstGeom prst="rect">
            <a:avLst/>
          </a:prstGeom>
          <a:solidFill>
            <a:srgbClr val="E2761F"/>
          </a:solidFill>
          <a:ln w="12700">
            <a:solidFill>
              <a:srgbClr val="E2761F"/>
            </a:solidFill>
            <a:prstDash val="solid"/>
          </a:ln>
        </p:spPr>
        <p:txBody>
          <a:bodyPr/>
          <a:lstStyle/>
          <a:p>
            <a:endParaRPr lang="en-US"/>
          </a:p>
        </p:txBody>
      </p:sp>
      <p:sp>
        <p:nvSpPr>
          <p:cNvPr id="27" name="Text 25"/>
          <p:cNvSpPr/>
          <p:nvPr/>
        </p:nvSpPr>
        <p:spPr>
          <a:xfrm>
            <a:off x="411480" y="29077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6</a:t>
            </a:r>
            <a:endParaRPr lang="en-US" sz="1500" dirty="0"/>
          </a:p>
        </p:txBody>
      </p:sp>
      <p:sp>
        <p:nvSpPr>
          <p:cNvPr id="28" name="Text 26"/>
          <p:cNvSpPr/>
          <p:nvPr/>
        </p:nvSpPr>
        <p:spPr>
          <a:xfrm>
            <a:off x="411480" y="34564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Add the browser UI</a:t>
            </a:r>
            <a:endParaRPr lang="en-US" sz="950" dirty="0"/>
          </a:p>
        </p:txBody>
      </p:sp>
      <p:sp>
        <p:nvSpPr>
          <p:cNvPr id="29" name="Sequence marker"/>
          <p:cNvSpPr/>
          <p:nvPr/>
        </p:nvSpPr>
        <p:spPr>
          <a:xfrm>
            <a:off x="2103120" y="2907792"/>
            <a:ext cx="457200" cy="45720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2103120" y="29077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7</a:t>
            </a:r>
            <a:endParaRPr lang="en-US" sz="1500" dirty="0"/>
          </a:p>
        </p:txBody>
      </p:sp>
      <p:sp>
        <p:nvSpPr>
          <p:cNvPr id="31" name="Text 29"/>
          <p:cNvSpPr/>
          <p:nvPr/>
        </p:nvSpPr>
        <p:spPr>
          <a:xfrm>
            <a:off x="2103120" y="34564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Prepare and ingest documents into Qdrant</a:t>
            </a:r>
            <a:endParaRPr lang="en-US" sz="950" dirty="0"/>
          </a:p>
        </p:txBody>
      </p:sp>
      <p:sp>
        <p:nvSpPr>
          <p:cNvPr id="32" name="Sequence marker"/>
          <p:cNvSpPr/>
          <p:nvPr/>
        </p:nvSpPr>
        <p:spPr>
          <a:xfrm>
            <a:off x="3794760" y="2907792"/>
            <a:ext cx="457200" cy="457200"/>
          </a:xfrm>
          <a:prstGeom prst="rect">
            <a:avLst/>
          </a:prstGeom>
          <a:solidFill>
            <a:srgbClr val="E2761F"/>
          </a:solidFill>
          <a:ln w="12700">
            <a:solidFill>
              <a:srgbClr val="E2761F"/>
            </a:solidFill>
            <a:prstDash val="solid"/>
          </a:ln>
        </p:spPr>
        <p:txBody>
          <a:bodyPr/>
          <a:lstStyle/>
          <a:p>
            <a:endParaRPr lang="en-US"/>
          </a:p>
        </p:txBody>
      </p:sp>
      <p:sp>
        <p:nvSpPr>
          <p:cNvPr id="33" name="Text 31"/>
          <p:cNvSpPr/>
          <p:nvPr/>
        </p:nvSpPr>
        <p:spPr>
          <a:xfrm>
            <a:off x="3794760" y="29077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8</a:t>
            </a:r>
            <a:endParaRPr lang="en-US" sz="1500" dirty="0"/>
          </a:p>
        </p:txBody>
      </p:sp>
      <p:sp>
        <p:nvSpPr>
          <p:cNvPr id="34" name="Text 32"/>
          <p:cNvSpPr/>
          <p:nvPr/>
        </p:nvSpPr>
        <p:spPr>
          <a:xfrm>
            <a:off x="3794760" y="34564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Implement conversation memory in PostgreSQL</a:t>
            </a:r>
            <a:endParaRPr lang="en-US" sz="950" dirty="0"/>
          </a:p>
        </p:txBody>
      </p:sp>
      <p:sp>
        <p:nvSpPr>
          <p:cNvPr id="35" name="Sequence marker"/>
          <p:cNvSpPr/>
          <p:nvPr/>
        </p:nvSpPr>
        <p:spPr>
          <a:xfrm>
            <a:off x="5486400" y="2907792"/>
            <a:ext cx="457200" cy="457200"/>
          </a:xfrm>
          <a:prstGeom prst="rect">
            <a:avLst/>
          </a:prstGeom>
          <a:solidFill>
            <a:srgbClr val="E2761F"/>
          </a:solidFill>
          <a:ln w="12700">
            <a:solidFill>
              <a:srgbClr val="E2761F"/>
            </a:solidFill>
            <a:prstDash val="solid"/>
          </a:ln>
        </p:spPr>
        <p:txBody>
          <a:bodyPr/>
          <a:lstStyle/>
          <a:p>
            <a:endParaRPr lang="en-US"/>
          </a:p>
        </p:txBody>
      </p:sp>
      <p:sp>
        <p:nvSpPr>
          <p:cNvPr id="36" name="Text 34"/>
          <p:cNvSpPr/>
          <p:nvPr/>
        </p:nvSpPr>
        <p:spPr>
          <a:xfrm>
            <a:off x="5486400" y="29077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9</a:t>
            </a:r>
            <a:endParaRPr lang="en-US" sz="1500" dirty="0"/>
          </a:p>
        </p:txBody>
      </p:sp>
      <p:sp>
        <p:nvSpPr>
          <p:cNvPr id="37" name="Text 35"/>
          <p:cNvSpPr/>
          <p:nvPr/>
        </p:nvSpPr>
        <p:spPr>
          <a:xfrm>
            <a:off x="5486400" y="34564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Test language, retrieval and security</a:t>
            </a:r>
            <a:endParaRPr lang="en-US" sz="950" dirty="0"/>
          </a:p>
        </p:txBody>
      </p:sp>
      <p:sp>
        <p:nvSpPr>
          <p:cNvPr id="38" name="Sequence marker"/>
          <p:cNvSpPr/>
          <p:nvPr/>
        </p:nvSpPr>
        <p:spPr>
          <a:xfrm>
            <a:off x="7178040" y="2907792"/>
            <a:ext cx="457200" cy="457200"/>
          </a:xfrm>
          <a:prstGeom prst="rect">
            <a:avLst/>
          </a:prstGeom>
          <a:solidFill>
            <a:srgbClr val="E2761F"/>
          </a:solidFill>
          <a:ln w="12700">
            <a:solidFill>
              <a:srgbClr val="E2761F"/>
            </a:solidFill>
            <a:prstDash val="solid"/>
          </a:ln>
        </p:spPr>
        <p:txBody>
          <a:bodyPr/>
          <a:lstStyle/>
          <a:p>
            <a:endParaRPr lang="en-US"/>
          </a:p>
        </p:txBody>
      </p:sp>
      <p:sp>
        <p:nvSpPr>
          <p:cNvPr id="39" name="Text 37"/>
          <p:cNvSpPr/>
          <p:nvPr/>
        </p:nvSpPr>
        <p:spPr>
          <a:xfrm>
            <a:off x="7178040" y="2907792"/>
            <a:ext cx="457200" cy="457200"/>
          </a:xfrm>
          <a:prstGeom prst="rect">
            <a:avLst/>
          </a:prstGeom>
          <a:noFill/>
        </p:spPr>
        <p:txBody>
          <a:bodyPr wrap="square" lIns="0" tIns="0" rIns="0" bIns="0" rtlCol="0" anchor="ctr"/>
          <a:lstStyle/>
          <a:p>
            <a:pPr marL="0" indent="0" algn="ctr">
              <a:buNone/>
            </a:pPr>
            <a:r>
              <a:rPr lang="en-US" sz="1500" b="1" dirty="0">
                <a:solidFill>
                  <a:srgbClr val="1E1B18"/>
                </a:solidFill>
                <a:latin typeface="Arial" panose="020B0604020202020204" pitchFamily="34" charset="0"/>
                <a:ea typeface="Arial" panose="020B0604020202020204" pitchFamily="34" charset="-122"/>
                <a:cs typeface="Arial" panose="020B0604020202020204" pitchFamily="34" charset="-120"/>
              </a:rPr>
              <a:t>10</a:t>
            </a:r>
            <a:endParaRPr lang="en-US" sz="1500" dirty="0"/>
          </a:p>
        </p:txBody>
      </p:sp>
      <p:sp>
        <p:nvSpPr>
          <p:cNvPr id="40" name="Text 38"/>
          <p:cNvSpPr/>
          <p:nvPr/>
        </p:nvSpPr>
        <p:spPr>
          <a:xfrm>
            <a:off x="7178040" y="3456432"/>
            <a:ext cx="1517904" cy="749808"/>
          </a:xfrm>
          <a:prstGeom prst="rect">
            <a:avLst/>
          </a:prstGeom>
          <a:noFill/>
        </p:spPr>
        <p:txBody>
          <a:bodyPr wrap="square" lIns="0" tIns="0" rIns="0" bIns="0" rtlCol="0" anchor="t"/>
          <a:lstStyle/>
          <a:p>
            <a:pPr marL="0" indent="0">
              <a:buNone/>
            </a:pPr>
            <a:r>
              <a:rPr lang="en-US" sz="950" dirty="0">
                <a:solidFill>
                  <a:srgbClr val="F5EDE2"/>
                </a:solidFill>
                <a:latin typeface="Arial" panose="020B0604020202020204" pitchFamily="34" charset="0"/>
                <a:ea typeface="Arial" panose="020B0604020202020204" pitchFamily="34" charset="-122"/>
                <a:cs typeface="Arial" panose="020B0604020202020204" pitchFamily="34" charset="-120"/>
              </a:rPr>
              <a:t>Add GPU acceleration when required</a:t>
            </a:r>
            <a:endParaRPr lang="en-US" sz="950" dirty="0"/>
          </a:p>
        </p:txBody>
      </p:sp>
      <p:sp>
        <p:nvSpPr>
          <p:cNvPr id="41" name="Text 39"/>
          <p:cNvSpPr/>
          <p:nvPr/>
        </p:nvSpPr>
        <p:spPr>
          <a:xfrm>
            <a:off x="411480" y="4261104"/>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Stages 1-6 build the platform; stages 7-10 make it useful, safe and fast.</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12</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CLOSING  ·  READINESS CHECKLIST  ·  PRIVATE BY DESIGN, NO CLOUD DEPENDENCY, GPU-UPGRADEABLE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You Are Live When All Six Are True</a:t>
            </a:r>
            <a:endParaRPr lang="en-US" sz="2600" dirty="0"/>
          </a:p>
        </p:txBody>
      </p:sp>
      <p:sp>
        <p:nvSpPr>
          <p:cNvPr id="8" name="Checklist row"/>
          <p:cNvSpPr/>
          <p:nvPr/>
        </p:nvSpPr>
        <p:spPr>
          <a:xfrm>
            <a:off x="411480" y="1188720"/>
            <a:ext cx="8321040" cy="512064"/>
          </a:xfrm>
          <a:prstGeom prst="rect">
            <a:avLst/>
          </a:prstGeom>
          <a:solidFill>
            <a:srgbClr val="2A2622"/>
          </a:solidFill>
          <a:ln w="12700">
            <a:solidFill>
              <a:srgbClr val="3A332C"/>
            </a:solidFill>
            <a:prstDash val="solid"/>
          </a:ln>
        </p:spPr>
        <p:txBody>
          <a:bodyPr/>
          <a:lstStyle/>
          <a:p>
            <a:endParaRPr lang="en-US"/>
          </a:p>
        </p:txBody>
      </p:sp>
      <p:sp>
        <p:nvSpPr>
          <p:cNvPr id="9" name="Checklist marker"/>
          <p:cNvSpPr/>
          <p:nvPr/>
        </p:nvSpPr>
        <p:spPr>
          <a:xfrm>
            <a:off x="621792" y="1362456"/>
            <a:ext cx="164592" cy="164592"/>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960120" y="1188720"/>
            <a:ext cx="7589520" cy="512064"/>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Docker stack starts cleanly and every container stays healthy</a:t>
            </a:r>
            <a:endParaRPr lang="en-US" sz="1150" dirty="0"/>
          </a:p>
        </p:txBody>
      </p:sp>
      <p:sp>
        <p:nvSpPr>
          <p:cNvPr id="11" name="Checklist row"/>
          <p:cNvSpPr/>
          <p:nvPr/>
        </p:nvSpPr>
        <p:spPr>
          <a:xfrm>
            <a:off x="411480" y="1737360"/>
            <a:ext cx="8321040" cy="512064"/>
          </a:xfrm>
          <a:prstGeom prst="rect">
            <a:avLst/>
          </a:prstGeom>
          <a:solidFill>
            <a:srgbClr val="2A2622"/>
          </a:solidFill>
          <a:ln w="12700">
            <a:solidFill>
              <a:srgbClr val="3A332C"/>
            </a:solidFill>
            <a:prstDash val="solid"/>
          </a:ln>
        </p:spPr>
        <p:txBody>
          <a:bodyPr/>
          <a:lstStyle/>
          <a:p>
            <a:endParaRPr lang="en-US"/>
          </a:p>
        </p:txBody>
      </p:sp>
      <p:sp>
        <p:nvSpPr>
          <p:cNvPr id="12" name="Checklist marker"/>
          <p:cNvSpPr/>
          <p:nvPr/>
        </p:nvSpPr>
        <p:spPr>
          <a:xfrm>
            <a:off x="621792" y="1911096"/>
            <a:ext cx="164592" cy="164592"/>
          </a:xfrm>
          <a:prstGeom prst="rect">
            <a:avLst/>
          </a:prstGeom>
          <a:solidFill>
            <a:srgbClr val="E2761F"/>
          </a:solidFill>
          <a:ln w="12700">
            <a:solidFill>
              <a:srgbClr val="E2761F"/>
            </a:solidFill>
            <a:prstDash val="solid"/>
          </a:ln>
        </p:spPr>
        <p:txBody>
          <a:bodyPr/>
          <a:lstStyle/>
          <a:p>
            <a:endParaRPr lang="en-US"/>
          </a:p>
        </p:txBody>
      </p:sp>
      <p:sp>
        <p:nvSpPr>
          <p:cNvPr id="13" name="Text 11"/>
          <p:cNvSpPr/>
          <p:nvPr/>
        </p:nvSpPr>
        <p:spPr>
          <a:xfrm>
            <a:off x="960120" y="1737360"/>
            <a:ext cx="7589520" cy="512064"/>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The model answers correctly in each language you support</a:t>
            </a:r>
            <a:endParaRPr lang="en-US" sz="1150" dirty="0"/>
          </a:p>
        </p:txBody>
      </p:sp>
      <p:sp>
        <p:nvSpPr>
          <p:cNvPr id="14" name="Checklist row"/>
          <p:cNvSpPr/>
          <p:nvPr/>
        </p:nvSpPr>
        <p:spPr>
          <a:xfrm>
            <a:off x="411480" y="2286000"/>
            <a:ext cx="8321040" cy="512064"/>
          </a:xfrm>
          <a:prstGeom prst="rect">
            <a:avLst/>
          </a:prstGeom>
          <a:solidFill>
            <a:srgbClr val="2A2622"/>
          </a:solidFill>
          <a:ln w="12700">
            <a:solidFill>
              <a:srgbClr val="3A332C"/>
            </a:solidFill>
            <a:prstDash val="solid"/>
          </a:ln>
        </p:spPr>
        <p:txBody>
          <a:bodyPr/>
          <a:lstStyle/>
          <a:p>
            <a:endParaRPr lang="en-US"/>
          </a:p>
        </p:txBody>
      </p:sp>
      <p:sp>
        <p:nvSpPr>
          <p:cNvPr id="15" name="Checklist marker"/>
          <p:cNvSpPr/>
          <p:nvPr/>
        </p:nvSpPr>
        <p:spPr>
          <a:xfrm>
            <a:off x="621792" y="2459736"/>
            <a:ext cx="164592" cy="164592"/>
          </a:xfrm>
          <a:prstGeom prst="rect">
            <a:avLst/>
          </a:prstGeom>
          <a:solidFill>
            <a:srgbClr val="E2761F"/>
          </a:solidFill>
          <a:ln w="12700">
            <a:solidFill>
              <a:srgbClr val="E2761F"/>
            </a:solidFill>
            <a:prstDash val="solid"/>
          </a:ln>
        </p:spPr>
        <p:txBody>
          <a:bodyPr/>
          <a:lstStyle/>
          <a:p>
            <a:endParaRPr lang="en-US"/>
          </a:p>
        </p:txBody>
      </p:sp>
      <p:sp>
        <p:nvSpPr>
          <p:cNvPr id="16" name="Text 14"/>
          <p:cNvSpPr/>
          <p:nvPr/>
        </p:nvSpPr>
        <p:spPr>
          <a:xfrm>
            <a:off x="960120" y="2286000"/>
            <a:ext cx="7589520" cy="512064"/>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Qdrant returns relevant chunks for real user questions</a:t>
            </a:r>
            <a:endParaRPr lang="en-US" sz="1150" dirty="0"/>
          </a:p>
        </p:txBody>
      </p:sp>
      <p:sp>
        <p:nvSpPr>
          <p:cNvPr id="17" name="Checklist row"/>
          <p:cNvSpPr/>
          <p:nvPr/>
        </p:nvSpPr>
        <p:spPr>
          <a:xfrm>
            <a:off x="411480" y="2834640"/>
            <a:ext cx="8321040" cy="512064"/>
          </a:xfrm>
          <a:prstGeom prst="rect">
            <a:avLst/>
          </a:prstGeom>
          <a:solidFill>
            <a:srgbClr val="2A2622"/>
          </a:solidFill>
          <a:ln w="12700">
            <a:solidFill>
              <a:srgbClr val="3A332C"/>
            </a:solidFill>
            <a:prstDash val="solid"/>
          </a:ln>
        </p:spPr>
        <p:txBody>
          <a:bodyPr/>
          <a:lstStyle/>
          <a:p>
            <a:endParaRPr lang="en-US"/>
          </a:p>
        </p:txBody>
      </p:sp>
      <p:sp>
        <p:nvSpPr>
          <p:cNvPr id="18" name="Checklist marker"/>
          <p:cNvSpPr/>
          <p:nvPr/>
        </p:nvSpPr>
        <p:spPr>
          <a:xfrm>
            <a:off x="621792" y="3008376"/>
            <a:ext cx="164592" cy="164592"/>
          </a:xfrm>
          <a:prstGeom prst="rect">
            <a:avLst/>
          </a:prstGeom>
          <a:solidFill>
            <a:srgbClr val="E2761F"/>
          </a:solidFill>
          <a:ln w="12700">
            <a:solidFill>
              <a:srgbClr val="E2761F"/>
            </a:solidFill>
            <a:prstDash val="solid"/>
          </a:ln>
        </p:spPr>
        <p:txBody>
          <a:bodyPr/>
          <a:lstStyle/>
          <a:p>
            <a:endParaRPr lang="en-US"/>
          </a:p>
        </p:txBody>
      </p:sp>
      <p:sp>
        <p:nvSpPr>
          <p:cNvPr id="19" name="Text 17"/>
          <p:cNvSpPr/>
          <p:nvPr/>
        </p:nvSpPr>
        <p:spPr>
          <a:xfrm>
            <a:off x="960120" y="2834640"/>
            <a:ext cx="7589520" cy="512064"/>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PostgreSQL stores, summarises and can delete conversation memory</a:t>
            </a:r>
            <a:endParaRPr lang="en-US" sz="1150" dirty="0"/>
          </a:p>
        </p:txBody>
      </p:sp>
      <p:sp>
        <p:nvSpPr>
          <p:cNvPr id="20" name="Checklist row"/>
          <p:cNvSpPr/>
          <p:nvPr/>
        </p:nvSpPr>
        <p:spPr>
          <a:xfrm>
            <a:off x="411480" y="3383280"/>
            <a:ext cx="8321040" cy="512064"/>
          </a:xfrm>
          <a:prstGeom prst="rect">
            <a:avLst/>
          </a:prstGeom>
          <a:solidFill>
            <a:srgbClr val="2A2622"/>
          </a:solidFill>
          <a:ln w="12700">
            <a:solidFill>
              <a:srgbClr val="3A332C"/>
            </a:solidFill>
            <a:prstDash val="solid"/>
          </a:ln>
        </p:spPr>
        <p:txBody>
          <a:bodyPr/>
          <a:lstStyle/>
          <a:p>
            <a:endParaRPr lang="en-US"/>
          </a:p>
        </p:txBody>
      </p:sp>
      <p:sp>
        <p:nvSpPr>
          <p:cNvPr id="21" name="Checklist marker"/>
          <p:cNvSpPr/>
          <p:nvPr/>
        </p:nvSpPr>
        <p:spPr>
          <a:xfrm>
            <a:off x="621792" y="3557016"/>
            <a:ext cx="164592" cy="164592"/>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960120" y="3383280"/>
            <a:ext cx="7589520" cy="512064"/>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Only intended services are reachable from the LAN — nothing from the Internet</a:t>
            </a:r>
            <a:endParaRPr lang="en-US" sz="1150" dirty="0"/>
          </a:p>
        </p:txBody>
      </p:sp>
      <p:sp>
        <p:nvSpPr>
          <p:cNvPr id="23" name="Checklist row"/>
          <p:cNvSpPr/>
          <p:nvPr/>
        </p:nvSpPr>
        <p:spPr>
          <a:xfrm>
            <a:off x="411480" y="3931920"/>
            <a:ext cx="8321040" cy="512064"/>
          </a:xfrm>
          <a:prstGeom prst="rect">
            <a:avLst/>
          </a:prstGeom>
          <a:solidFill>
            <a:srgbClr val="2A2622"/>
          </a:solidFill>
          <a:ln w="12700">
            <a:solidFill>
              <a:srgbClr val="3A332C"/>
            </a:solidFill>
            <a:prstDash val="solid"/>
          </a:ln>
        </p:spPr>
        <p:txBody>
          <a:bodyPr/>
          <a:lstStyle/>
          <a:p>
            <a:endParaRPr lang="en-US"/>
          </a:p>
        </p:txBody>
      </p:sp>
      <p:sp>
        <p:nvSpPr>
          <p:cNvPr id="24" name="Checklist marker"/>
          <p:cNvSpPr/>
          <p:nvPr/>
        </p:nvSpPr>
        <p:spPr>
          <a:xfrm>
            <a:off x="621792" y="4105656"/>
            <a:ext cx="164592" cy="164592"/>
          </a:xfrm>
          <a:prstGeom prst="rect">
            <a:avLst/>
          </a:prstGeom>
          <a:solidFill>
            <a:srgbClr val="E2761F"/>
          </a:solidFill>
          <a:ln w="12700">
            <a:solidFill>
              <a:srgbClr val="E2761F"/>
            </a:solidFill>
            <a:prstDash val="solid"/>
          </a:ln>
        </p:spPr>
        <p:txBody>
          <a:bodyPr/>
          <a:lstStyle/>
          <a:p>
            <a:endParaRPr lang="en-US"/>
          </a:p>
        </p:txBody>
      </p:sp>
      <p:sp>
        <p:nvSpPr>
          <p:cNvPr id="25" name="Text 23"/>
          <p:cNvSpPr/>
          <p:nvPr/>
        </p:nvSpPr>
        <p:spPr>
          <a:xfrm>
            <a:off x="960120" y="3931920"/>
            <a:ext cx="7589520" cy="512064"/>
          </a:xfrm>
          <a:prstGeom prst="rect">
            <a:avLst/>
          </a:prstGeom>
          <a:noFill/>
        </p:spPr>
        <p:txBody>
          <a:bodyPr wrap="square" lIns="0" tIns="0" rIns="0" bIns="0" rtlCol="0" anchor="ctr"/>
          <a:lstStyle/>
          <a:p>
            <a:pPr marL="0" indent="0">
              <a:buNone/>
            </a:pPr>
            <a:r>
              <a:rPr lang="en-US" sz="1150" dirty="0">
                <a:solidFill>
                  <a:srgbClr val="F5EDE2"/>
                </a:solidFill>
                <a:latin typeface="Arial" panose="020B0604020202020204" pitchFamily="34" charset="0"/>
                <a:ea typeface="Arial" panose="020B0604020202020204" pitchFamily="34" charset="-122"/>
                <a:cs typeface="Arial" panose="020B0604020202020204" pitchFamily="34" charset="-120"/>
              </a:rPr>
              <a:t>Backups of /srv/ai-platform and the databases are tested, not just scheduled</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146304"/>
          </a:xfrm>
          <a:prstGeom prst="rect">
            <a:avLst/>
          </a:prstGeom>
          <a:solidFill>
            <a:srgbClr val="E2761F"/>
          </a:solidFill>
          <a:ln w="12700">
            <a:solidFill>
              <a:srgbClr val="E2761F"/>
            </a:solidFill>
            <a:prstDash val="solid"/>
          </a:ln>
        </p:spPr>
        <p:txBody>
          <a:bodyPr/>
          <a:lstStyle/>
          <a:p>
            <a:endParaRPr lang="en-US"/>
          </a:p>
        </p:txBody>
      </p:sp>
      <p:sp>
        <p:nvSpPr>
          <p:cNvPr id="3" name="Label chip"/>
          <p:cNvSpPr/>
          <p:nvPr/>
        </p:nvSpPr>
        <p:spPr>
          <a:xfrm>
            <a:off x="731520" y="1234440"/>
            <a:ext cx="1600200" cy="310896"/>
          </a:xfrm>
          <a:prstGeom prst="rect">
            <a:avLst/>
          </a:prstGeom>
          <a:solidFill>
            <a:srgbClr val="2A2622"/>
          </a:solidFill>
          <a:ln w="12700">
            <a:solidFill>
              <a:srgbClr val="E2761F"/>
            </a:solidFill>
            <a:prstDash val="solid"/>
          </a:ln>
        </p:spPr>
        <p:txBody>
          <a:bodyPr/>
          <a:lstStyle/>
          <a:p>
            <a:endParaRPr lang="en-US"/>
          </a:p>
        </p:txBody>
      </p:sp>
      <p:sp>
        <p:nvSpPr>
          <p:cNvPr id="4" name="Text 2"/>
          <p:cNvSpPr/>
          <p:nvPr/>
        </p:nvSpPr>
        <p:spPr>
          <a:xfrm>
            <a:off x="731520" y="1234440"/>
            <a:ext cx="1600200" cy="310896"/>
          </a:xfrm>
          <a:prstGeom prst="rect">
            <a:avLst/>
          </a:prstGeom>
          <a:noFill/>
        </p:spPr>
        <p:txBody>
          <a:bodyPr wrap="square" lIns="0" tIns="0" rIns="0" bIns="0" rtlCol="0" anchor="ctr"/>
          <a:lstStyle/>
          <a:p>
            <a:pPr marL="0" indent="0" algn="ctr">
              <a:buNone/>
            </a:pPr>
            <a:r>
              <a:rPr lang="en-US" sz="950" b="1" kern="0" spc="150" dirty="0">
                <a:solidFill>
                  <a:srgbClr val="E2761F"/>
                </a:solidFill>
                <a:latin typeface="Arial" panose="020B0604020202020204" pitchFamily="34" charset="0"/>
                <a:ea typeface="Arial" panose="020B0604020202020204" pitchFamily="34" charset="-122"/>
                <a:cs typeface="Arial" panose="020B0604020202020204" pitchFamily="34" charset="-120"/>
              </a:rPr>
              <a:t>APPENDIX</a:t>
            </a:r>
            <a:endParaRPr lang="en-US" sz="950" dirty="0"/>
          </a:p>
        </p:txBody>
      </p:sp>
      <p:sp>
        <p:nvSpPr>
          <p:cNvPr id="5" name="Text 0"/>
          <p:cNvSpPr>
            <a:spLocks noGrp="1"/>
          </p:cNvSpPr>
          <p:nvPr>
            <p:ph type="title" idx="100" hasCustomPrompt="1"/>
          </p:nvPr>
        </p:nvSpPr>
        <p:spPr>
          <a:xfrm>
            <a:off x="731520" y="1600200"/>
            <a:ext cx="7680960" cy="1371600"/>
          </a:xfrm>
          <a:prstGeom prst="rect">
            <a:avLst/>
          </a:prstGeom>
          <a:noFill/>
        </p:spPr>
        <p:txBody>
          <a:bodyPr wrap="square" lIns="0" tIns="0" rIns="0" bIns="0" rtlCol="0"/>
          <a:lstStyle/>
          <a:p>
            <a:pPr marL="0" indent="0" algn="l">
              <a:buNone/>
            </a:pPr>
            <a:r>
              <a:rPr lang="en-US" sz="4000" b="1" dirty="0">
                <a:solidFill>
                  <a:srgbClr val="F5EDE2"/>
                </a:solidFill>
                <a:latin typeface="Arial" panose="020B0604020202020204" pitchFamily="34" charset="0"/>
                <a:ea typeface="Arial" panose="020B0604020202020204" pitchFamily="34" charset="-122"/>
                <a:cs typeface="Arial" panose="020B0604020202020204" pitchFamily="34" charset="-120"/>
              </a:rPr>
              <a:t>Troubleshooting</a:t>
            </a:r>
            <a:endParaRPr lang="en-US" sz="4000" dirty="0"/>
          </a:p>
          <a:p>
            <a:pPr marL="0" indent="0" algn="l">
              <a:buNone/>
            </a:pPr>
            <a:r>
              <a:rPr lang="en-US" sz="4000" b="1" dirty="0">
                <a:solidFill>
                  <a:srgbClr val="F5EDE2"/>
                </a:solidFill>
                <a:latin typeface="Arial" panose="020B0604020202020204" pitchFamily="34" charset="0"/>
                <a:ea typeface="Arial" panose="020B0604020202020204" pitchFamily="34" charset="-122"/>
                <a:cs typeface="Arial" panose="020B0604020202020204" pitchFamily="34" charset="-120"/>
              </a:rPr>
              <a:t>When Things Break</a:t>
            </a:r>
            <a:endParaRPr lang="en-US" sz="4000" dirty="0"/>
          </a:p>
        </p:txBody>
      </p:sp>
      <p:sp>
        <p:nvSpPr>
          <p:cNvPr id="6" name="Rule under title"/>
          <p:cNvSpPr/>
          <p:nvPr/>
        </p:nvSpPr>
        <p:spPr>
          <a:xfrm>
            <a:off x="731520" y="3474720"/>
            <a:ext cx="1280160" cy="45720"/>
          </a:xfrm>
          <a:prstGeom prst="rect">
            <a:avLst/>
          </a:prstGeom>
          <a:solidFill>
            <a:srgbClr val="E2761F"/>
          </a:solidFill>
          <a:ln w="12700">
            <a:solidFill>
              <a:srgbClr val="E2761F"/>
            </a:solidFill>
            <a:prstDash val="solid"/>
          </a:ln>
        </p:spPr>
        <p:txBody>
          <a:bodyPr/>
          <a:lstStyle/>
          <a:p>
            <a:endParaRPr lang="en-US"/>
          </a:p>
        </p:txBody>
      </p:sp>
      <p:sp>
        <p:nvSpPr>
          <p:cNvPr id="7" name="Text 5"/>
          <p:cNvSpPr/>
          <p:nvPr/>
        </p:nvSpPr>
        <p:spPr>
          <a:xfrm>
            <a:off x="731520" y="3657600"/>
            <a:ext cx="7132320" cy="457200"/>
          </a:xfrm>
          <a:prstGeom prst="rect">
            <a:avLst/>
          </a:prstGeom>
          <a:noFill/>
        </p:spPr>
        <p:txBody>
          <a:bodyPr wrap="square" lIns="0" tIns="0" rIns="0" bIns="0" rtlCol="0" anchor="ctr"/>
          <a:lstStyle/>
          <a:p>
            <a:pPr marL="0" indent="0">
              <a:buNone/>
            </a:pPr>
            <a:r>
              <a:rPr lang="en-US" sz="1200" dirty="0">
                <a:solidFill>
                  <a:srgbClr val="C9BFB2"/>
                </a:solidFill>
                <a:latin typeface="Arial" panose="020B0604020202020204" pitchFamily="34" charset="0"/>
                <a:ea typeface="Arial" panose="020B0604020202020204" pitchFamily="34" charset="-122"/>
                <a:cs typeface="Arial" panose="020B0604020202020204" pitchFamily="34" charset="-120"/>
              </a:rPr>
              <a:t>Organised by symptom, because that is what you have when something fails — not a component name.</a:t>
            </a:r>
            <a:endParaRPr lang="en-US" sz="1200" dirty="0"/>
          </a:p>
        </p:txBody>
      </p:sp>
      <p:sp>
        <p:nvSpPr>
          <p:cNvPr id="8" name="Bottom bar"/>
          <p:cNvSpPr/>
          <p:nvPr/>
        </p:nvSpPr>
        <p:spPr>
          <a:xfrm>
            <a:off x="0" y="4992624"/>
            <a:ext cx="9144000" cy="146304"/>
          </a:xfrm>
          <a:prstGeom prst="rect">
            <a:avLst/>
          </a:prstGeom>
          <a:solidFill>
            <a:srgbClr val="2A2622"/>
          </a:solidFill>
          <a:ln w="12700">
            <a:solidFill>
              <a:srgbClr val="2A2622"/>
            </a:solidFill>
            <a:prstDash val="solid"/>
          </a:ln>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A</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APPENDIX A  ·  A METHOD THAT WORKS EVERY TIME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Diagnose in This Order</a:t>
            </a:r>
            <a:endParaRPr lang="en-US" sz="2600" dirty="0"/>
          </a:p>
        </p:txBody>
      </p:sp>
      <p:sp>
        <p:nvSpPr>
          <p:cNvPr id="8" name="Method card"/>
          <p:cNvSpPr/>
          <p:nvPr/>
        </p:nvSpPr>
        <p:spPr>
          <a:xfrm>
            <a:off x="411480" y="1097280"/>
            <a:ext cx="4069080" cy="987552"/>
          </a:xfrm>
          <a:prstGeom prst="rect">
            <a:avLst/>
          </a:prstGeom>
          <a:solidFill>
            <a:srgbClr val="2A2622"/>
          </a:solidFill>
          <a:ln w="12700">
            <a:solidFill>
              <a:srgbClr val="3A332C"/>
            </a:solidFill>
            <a:prstDash val="solid"/>
          </a:ln>
        </p:spPr>
        <p:txBody>
          <a:bodyPr/>
          <a:lstStyle/>
          <a:p>
            <a:endParaRPr lang="en-US"/>
          </a:p>
        </p:txBody>
      </p:sp>
      <p:sp>
        <p:nvSpPr>
          <p:cNvPr id="9" name="Method number block"/>
          <p:cNvSpPr/>
          <p:nvPr/>
        </p:nvSpPr>
        <p:spPr>
          <a:xfrm>
            <a:off x="411480" y="1097280"/>
            <a:ext cx="475488" cy="987552"/>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411480" y="1097280"/>
            <a:ext cx="475488" cy="987552"/>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1</a:t>
            </a:r>
            <a:endParaRPr lang="en-US" sz="2000" dirty="0"/>
          </a:p>
        </p:txBody>
      </p:sp>
      <p:sp>
        <p:nvSpPr>
          <p:cNvPr id="11" name="Text 9"/>
          <p:cNvSpPr/>
          <p:nvPr/>
        </p:nvSpPr>
        <p:spPr>
          <a:xfrm>
            <a:off x="1033272" y="1207008"/>
            <a:ext cx="3310128"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IS IT RUNNING</a:t>
            </a:r>
            <a:endParaRPr lang="en-US" sz="1050" dirty="0"/>
          </a:p>
        </p:txBody>
      </p:sp>
      <p:sp>
        <p:nvSpPr>
          <p:cNvPr id="12" name="Text 10"/>
          <p:cNvSpPr/>
          <p:nvPr/>
        </p:nvSpPr>
        <p:spPr>
          <a:xfrm>
            <a:off x="1033272" y="1481328"/>
            <a:ext cx="3310128" cy="51206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docker compose ps — a service that is restarting is not a network problem.</a:t>
            </a:r>
            <a:endParaRPr lang="en-US" sz="950" dirty="0"/>
          </a:p>
        </p:txBody>
      </p:sp>
      <p:sp>
        <p:nvSpPr>
          <p:cNvPr id="13" name="Method card"/>
          <p:cNvSpPr/>
          <p:nvPr/>
        </p:nvSpPr>
        <p:spPr>
          <a:xfrm>
            <a:off x="4663440" y="1097280"/>
            <a:ext cx="4069080" cy="987552"/>
          </a:xfrm>
          <a:prstGeom prst="rect">
            <a:avLst/>
          </a:prstGeom>
          <a:solidFill>
            <a:srgbClr val="2A2622"/>
          </a:solidFill>
          <a:ln w="12700">
            <a:solidFill>
              <a:srgbClr val="3A332C"/>
            </a:solidFill>
            <a:prstDash val="solid"/>
          </a:ln>
        </p:spPr>
        <p:txBody>
          <a:bodyPr/>
          <a:lstStyle/>
          <a:p>
            <a:endParaRPr lang="en-US"/>
          </a:p>
        </p:txBody>
      </p:sp>
      <p:sp>
        <p:nvSpPr>
          <p:cNvPr id="14" name="Method number block"/>
          <p:cNvSpPr/>
          <p:nvPr/>
        </p:nvSpPr>
        <p:spPr>
          <a:xfrm>
            <a:off x="4663440" y="1097280"/>
            <a:ext cx="475488" cy="987552"/>
          </a:xfrm>
          <a:prstGeom prst="rect">
            <a:avLst/>
          </a:prstGeom>
          <a:solidFill>
            <a:srgbClr val="E2761F"/>
          </a:solidFill>
          <a:ln w="12700">
            <a:solidFill>
              <a:srgbClr val="E2761F"/>
            </a:solidFill>
            <a:prstDash val="solid"/>
          </a:ln>
        </p:spPr>
        <p:txBody>
          <a:bodyPr/>
          <a:lstStyle/>
          <a:p>
            <a:endParaRPr lang="en-US"/>
          </a:p>
        </p:txBody>
      </p:sp>
      <p:sp>
        <p:nvSpPr>
          <p:cNvPr id="15" name="Text 13"/>
          <p:cNvSpPr/>
          <p:nvPr/>
        </p:nvSpPr>
        <p:spPr>
          <a:xfrm>
            <a:off x="4663440" y="1097280"/>
            <a:ext cx="475488" cy="987552"/>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2</a:t>
            </a:r>
            <a:endParaRPr lang="en-US" sz="2000" dirty="0"/>
          </a:p>
        </p:txBody>
      </p:sp>
      <p:sp>
        <p:nvSpPr>
          <p:cNvPr id="16" name="Text 14"/>
          <p:cNvSpPr/>
          <p:nvPr/>
        </p:nvSpPr>
        <p:spPr>
          <a:xfrm>
            <a:off x="5285232" y="1207008"/>
            <a:ext cx="3310128"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WHAT DOES IT SAY</a:t>
            </a:r>
            <a:endParaRPr lang="en-US" sz="1050" dirty="0"/>
          </a:p>
        </p:txBody>
      </p:sp>
      <p:sp>
        <p:nvSpPr>
          <p:cNvPr id="17" name="Text 15"/>
          <p:cNvSpPr/>
          <p:nvPr/>
        </p:nvSpPr>
        <p:spPr>
          <a:xfrm>
            <a:off x="5285232" y="1481328"/>
            <a:ext cx="3310128" cy="51206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docker compose logs --tail=100 &lt;service&gt;. The first error matters, not the last.</a:t>
            </a:r>
            <a:endParaRPr lang="en-US" sz="950" dirty="0"/>
          </a:p>
        </p:txBody>
      </p:sp>
      <p:sp>
        <p:nvSpPr>
          <p:cNvPr id="18" name="Method card"/>
          <p:cNvSpPr/>
          <p:nvPr/>
        </p:nvSpPr>
        <p:spPr>
          <a:xfrm>
            <a:off x="411480" y="2194560"/>
            <a:ext cx="4069080" cy="987552"/>
          </a:xfrm>
          <a:prstGeom prst="rect">
            <a:avLst/>
          </a:prstGeom>
          <a:solidFill>
            <a:srgbClr val="2A2622"/>
          </a:solidFill>
          <a:ln w="12700">
            <a:solidFill>
              <a:srgbClr val="3A332C"/>
            </a:solidFill>
            <a:prstDash val="solid"/>
          </a:ln>
        </p:spPr>
        <p:txBody>
          <a:bodyPr/>
          <a:lstStyle/>
          <a:p>
            <a:endParaRPr lang="en-US"/>
          </a:p>
        </p:txBody>
      </p:sp>
      <p:sp>
        <p:nvSpPr>
          <p:cNvPr id="19" name="Method number block"/>
          <p:cNvSpPr/>
          <p:nvPr/>
        </p:nvSpPr>
        <p:spPr>
          <a:xfrm>
            <a:off x="411480" y="2194560"/>
            <a:ext cx="475488" cy="987552"/>
          </a:xfrm>
          <a:prstGeom prst="rect">
            <a:avLst/>
          </a:prstGeom>
          <a:solidFill>
            <a:srgbClr val="E2761F"/>
          </a:solidFill>
          <a:ln w="12700">
            <a:solidFill>
              <a:srgbClr val="E2761F"/>
            </a:solidFill>
            <a:prstDash val="solid"/>
          </a:ln>
        </p:spPr>
        <p:txBody>
          <a:bodyPr/>
          <a:lstStyle/>
          <a:p>
            <a:endParaRPr lang="en-US"/>
          </a:p>
        </p:txBody>
      </p:sp>
      <p:sp>
        <p:nvSpPr>
          <p:cNvPr id="20" name="Text 18"/>
          <p:cNvSpPr/>
          <p:nvPr/>
        </p:nvSpPr>
        <p:spPr>
          <a:xfrm>
            <a:off x="411480" y="2194560"/>
            <a:ext cx="475488" cy="987552"/>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3</a:t>
            </a:r>
            <a:endParaRPr lang="en-US" sz="2000" dirty="0"/>
          </a:p>
        </p:txBody>
      </p:sp>
      <p:sp>
        <p:nvSpPr>
          <p:cNvPr id="21" name="Text 19"/>
          <p:cNvSpPr/>
          <p:nvPr/>
        </p:nvSpPr>
        <p:spPr>
          <a:xfrm>
            <a:off x="1033272" y="2304288"/>
            <a:ext cx="3310128"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WORKS LOCALLY</a:t>
            </a:r>
            <a:endParaRPr lang="en-US" sz="1050" dirty="0"/>
          </a:p>
        </p:txBody>
      </p:sp>
      <p:sp>
        <p:nvSpPr>
          <p:cNvPr id="22" name="Text 20"/>
          <p:cNvSpPr/>
          <p:nvPr/>
        </p:nvSpPr>
        <p:spPr>
          <a:xfrm>
            <a:off x="1033272" y="2578608"/>
            <a:ext cx="3310128" cy="51206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curl the service from the host. If that fails, the container is the fault.</a:t>
            </a:r>
            <a:endParaRPr lang="en-US" sz="950" dirty="0"/>
          </a:p>
        </p:txBody>
      </p:sp>
      <p:sp>
        <p:nvSpPr>
          <p:cNvPr id="23" name="Method card"/>
          <p:cNvSpPr/>
          <p:nvPr/>
        </p:nvSpPr>
        <p:spPr>
          <a:xfrm>
            <a:off x="4663440" y="2194560"/>
            <a:ext cx="4069080" cy="987552"/>
          </a:xfrm>
          <a:prstGeom prst="rect">
            <a:avLst/>
          </a:prstGeom>
          <a:solidFill>
            <a:srgbClr val="2A2622"/>
          </a:solidFill>
          <a:ln w="12700">
            <a:solidFill>
              <a:srgbClr val="3A332C"/>
            </a:solidFill>
            <a:prstDash val="solid"/>
          </a:ln>
        </p:spPr>
        <p:txBody>
          <a:bodyPr/>
          <a:lstStyle/>
          <a:p>
            <a:endParaRPr lang="en-US"/>
          </a:p>
        </p:txBody>
      </p:sp>
      <p:sp>
        <p:nvSpPr>
          <p:cNvPr id="24" name="Method number block"/>
          <p:cNvSpPr/>
          <p:nvPr/>
        </p:nvSpPr>
        <p:spPr>
          <a:xfrm>
            <a:off x="4663440" y="2194560"/>
            <a:ext cx="475488" cy="987552"/>
          </a:xfrm>
          <a:prstGeom prst="rect">
            <a:avLst/>
          </a:prstGeom>
          <a:solidFill>
            <a:srgbClr val="E2761F"/>
          </a:solidFill>
          <a:ln w="12700">
            <a:solidFill>
              <a:srgbClr val="E2761F"/>
            </a:solidFill>
            <a:prstDash val="solid"/>
          </a:ln>
        </p:spPr>
        <p:txBody>
          <a:bodyPr/>
          <a:lstStyle/>
          <a:p>
            <a:endParaRPr lang="en-US"/>
          </a:p>
        </p:txBody>
      </p:sp>
      <p:sp>
        <p:nvSpPr>
          <p:cNvPr id="25" name="Text 23"/>
          <p:cNvSpPr/>
          <p:nvPr/>
        </p:nvSpPr>
        <p:spPr>
          <a:xfrm>
            <a:off x="4663440" y="2194560"/>
            <a:ext cx="475488" cy="987552"/>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4</a:t>
            </a:r>
            <a:endParaRPr lang="en-US" sz="2000" dirty="0"/>
          </a:p>
        </p:txBody>
      </p:sp>
      <p:sp>
        <p:nvSpPr>
          <p:cNvPr id="26" name="Text 24"/>
          <p:cNvSpPr/>
          <p:nvPr/>
        </p:nvSpPr>
        <p:spPr>
          <a:xfrm>
            <a:off x="5285232" y="2304288"/>
            <a:ext cx="3310128"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WORKS BETWEEN CONTAINERS</a:t>
            </a:r>
            <a:endParaRPr lang="en-US" sz="1050" dirty="0"/>
          </a:p>
        </p:txBody>
      </p:sp>
      <p:sp>
        <p:nvSpPr>
          <p:cNvPr id="27" name="Text 25"/>
          <p:cNvSpPr/>
          <p:nvPr/>
        </p:nvSpPr>
        <p:spPr>
          <a:xfrm>
            <a:off x="5285232" y="2578608"/>
            <a:ext cx="3310128" cy="51206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Exec into the gateway and curl the service by name over the internal network.</a:t>
            </a:r>
            <a:endParaRPr lang="en-US" sz="950" dirty="0"/>
          </a:p>
        </p:txBody>
      </p:sp>
      <p:sp>
        <p:nvSpPr>
          <p:cNvPr id="28" name="Method card"/>
          <p:cNvSpPr/>
          <p:nvPr/>
        </p:nvSpPr>
        <p:spPr>
          <a:xfrm>
            <a:off x="411480" y="3291840"/>
            <a:ext cx="4069080" cy="987552"/>
          </a:xfrm>
          <a:prstGeom prst="rect">
            <a:avLst/>
          </a:prstGeom>
          <a:solidFill>
            <a:srgbClr val="2A2622"/>
          </a:solidFill>
          <a:ln w="12700">
            <a:solidFill>
              <a:srgbClr val="3A332C"/>
            </a:solidFill>
            <a:prstDash val="solid"/>
          </a:ln>
        </p:spPr>
        <p:txBody>
          <a:bodyPr/>
          <a:lstStyle/>
          <a:p>
            <a:endParaRPr lang="en-US"/>
          </a:p>
        </p:txBody>
      </p:sp>
      <p:sp>
        <p:nvSpPr>
          <p:cNvPr id="29" name="Method number block"/>
          <p:cNvSpPr/>
          <p:nvPr/>
        </p:nvSpPr>
        <p:spPr>
          <a:xfrm>
            <a:off x="411480" y="3291840"/>
            <a:ext cx="475488" cy="987552"/>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11480" y="3291840"/>
            <a:ext cx="475488" cy="987552"/>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5</a:t>
            </a:r>
            <a:endParaRPr lang="en-US" sz="2000" dirty="0"/>
          </a:p>
        </p:txBody>
      </p:sp>
      <p:sp>
        <p:nvSpPr>
          <p:cNvPr id="31" name="Text 29"/>
          <p:cNvSpPr/>
          <p:nvPr/>
        </p:nvSpPr>
        <p:spPr>
          <a:xfrm>
            <a:off x="1033272" y="3401568"/>
            <a:ext cx="3310128"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WORKS FROM OUTSIDE</a:t>
            </a:r>
            <a:endParaRPr lang="en-US" sz="1050" dirty="0"/>
          </a:p>
        </p:txBody>
      </p:sp>
      <p:sp>
        <p:nvSpPr>
          <p:cNvPr id="32" name="Text 30"/>
          <p:cNvSpPr/>
          <p:nvPr/>
        </p:nvSpPr>
        <p:spPr>
          <a:xfrm>
            <a:off x="1033272" y="3675888"/>
            <a:ext cx="3310128" cy="51206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Only now consider firewall, port publishing and virtual switch configuration.</a:t>
            </a:r>
            <a:endParaRPr lang="en-US" sz="950" dirty="0"/>
          </a:p>
        </p:txBody>
      </p:sp>
      <p:sp>
        <p:nvSpPr>
          <p:cNvPr id="33" name="Method card"/>
          <p:cNvSpPr/>
          <p:nvPr/>
        </p:nvSpPr>
        <p:spPr>
          <a:xfrm>
            <a:off x="4663440" y="3291840"/>
            <a:ext cx="4069080" cy="987552"/>
          </a:xfrm>
          <a:prstGeom prst="rect">
            <a:avLst/>
          </a:prstGeom>
          <a:solidFill>
            <a:srgbClr val="2A2622"/>
          </a:solidFill>
          <a:ln w="12700">
            <a:solidFill>
              <a:srgbClr val="3A332C"/>
            </a:solidFill>
            <a:prstDash val="solid"/>
          </a:ln>
        </p:spPr>
        <p:txBody>
          <a:bodyPr/>
          <a:lstStyle/>
          <a:p>
            <a:endParaRPr lang="en-US"/>
          </a:p>
        </p:txBody>
      </p:sp>
      <p:sp>
        <p:nvSpPr>
          <p:cNvPr id="34" name="Method number block"/>
          <p:cNvSpPr/>
          <p:nvPr/>
        </p:nvSpPr>
        <p:spPr>
          <a:xfrm>
            <a:off x="4663440" y="3291840"/>
            <a:ext cx="475488" cy="987552"/>
          </a:xfrm>
          <a:prstGeom prst="rect">
            <a:avLst/>
          </a:prstGeom>
          <a:solidFill>
            <a:srgbClr val="E2761F"/>
          </a:solidFill>
          <a:ln w="12700">
            <a:solidFill>
              <a:srgbClr val="E2761F"/>
            </a:solidFill>
            <a:prstDash val="solid"/>
          </a:ln>
        </p:spPr>
        <p:txBody>
          <a:bodyPr/>
          <a:lstStyle/>
          <a:p>
            <a:endParaRPr lang="en-US"/>
          </a:p>
        </p:txBody>
      </p:sp>
      <p:sp>
        <p:nvSpPr>
          <p:cNvPr id="35" name="Text 33"/>
          <p:cNvSpPr/>
          <p:nvPr/>
        </p:nvSpPr>
        <p:spPr>
          <a:xfrm>
            <a:off x="4663440" y="3291840"/>
            <a:ext cx="475488" cy="987552"/>
          </a:xfrm>
          <a:prstGeom prst="rect">
            <a:avLst/>
          </a:prstGeom>
          <a:noFill/>
        </p:spPr>
        <p:txBody>
          <a:bodyPr wrap="square" lIns="0" tIns="0" rIns="0" bIns="0" rtlCol="0" anchor="ctr"/>
          <a:lstStyle/>
          <a:p>
            <a:pPr marL="0" indent="0" algn="ctr">
              <a:buNone/>
            </a:pPr>
            <a:r>
              <a:rPr lang="en-US" sz="2000" b="1" dirty="0">
                <a:solidFill>
                  <a:srgbClr val="1E1B18"/>
                </a:solidFill>
                <a:latin typeface="Arial" panose="020B0604020202020204" pitchFamily="34" charset="0"/>
                <a:ea typeface="Arial" panose="020B0604020202020204" pitchFamily="34" charset="-122"/>
                <a:cs typeface="Arial" panose="020B0604020202020204" pitchFamily="34" charset="-120"/>
              </a:rPr>
              <a:t>6</a:t>
            </a:r>
            <a:endParaRPr lang="en-US" sz="2000" dirty="0"/>
          </a:p>
        </p:txBody>
      </p:sp>
      <p:sp>
        <p:nvSpPr>
          <p:cNvPr id="36" name="Text 34"/>
          <p:cNvSpPr/>
          <p:nvPr/>
        </p:nvSpPr>
        <p:spPr>
          <a:xfrm>
            <a:off x="5285232" y="3401568"/>
            <a:ext cx="3310128"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CHANGE ONE THING</a:t>
            </a:r>
            <a:endParaRPr lang="en-US" sz="1050" dirty="0"/>
          </a:p>
        </p:txBody>
      </p:sp>
      <p:sp>
        <p:nvSpPr>
          <p:cNvPr id="37" name="Text 35"/>
          <p:cNvSpPr/>
          <p:nvPr/>
        </p:nvSpPr>
        <p:spPr>
          <a:xfrm>
            <a:off x="5285232" y="3675888"/>
            <a:ext cx="3310128" cy="512064"/>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Make a single change, retest, and write down what you did before trying the next.</a:t>
            </a:r>
            <a:endParaRPr lang="en-US" sz="950" dirty="0"/>
          </a:p>
        </p:txBody>
      </p:sp>
      <p:sp>
        <p:nvSpPr>
          <p:cNvPr id="38" name="Text 36"/>
          <p:cNvSpPr/>
          <p:nvPr/>
        </p:nvSpPr>
        <p:spPr>
          <a:xfrm>
            <a:off x="411480" y="4443984"/>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Working outward from the container to the network solves most faults in minutes instead of hours.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B</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APPENDIX B  ·  CONTAINER AND START-UP ISSUES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Containers Will Not Start</a:t>
            </a:r>
            <a:endParaRPr lang="en-US" sz="2600" dirty="0"/>
          </a:p>
        </p:txBody>
      </p:sp>
      <p:graphicFrame>
        <p:nvGraphicFramePr>
          <p:cNvPr id="43" name="Table 0"/>
          <p:cNvGraphicFramePr>
            <a:graphicFrameLocks noGrp="1"/>
          </p:cNvGraphicFramePr>
          <p:nvPr/>
        </p:nvGraphicFramePr>
        <p:xfrm>
          <a:off x="411480" y="1097280"/>
          <a:ext cx="8321040" cy="3200400"/>
        </p:xfrm>
        <a:graphic>
          <a:graphicData uri="http://schemas.openxmlformats.org/drawingml/2006/table">
            <a:tbl>
              <a:tblPr/>
              <a:tblGrid>
                <a:gridCol w="2286000"/>
                <a:gridCol w="2651760"/>
                <a:gridCol w="3383280"/>
              </a:tblGrid>
              <a:tr h="457200">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SYMPTOM</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LIKELY CAUSE</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WHAT TO DO</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Container restarts in a loop</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The process inside exits immediately on an error</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docker compose logs &lt;service&gt; and read the first error, then fix and recreate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"port is already allocated"</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Another process or an old container holds the port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sudo ss -lntp to find the owner; stop it or change the host port mapping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"permission denied" on a volume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Host directory owned by root, container runs as another user</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sudo chown -R $USER:$USER /srv/ai-platform and recreate the container</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Image pull fails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DNS, proxy or registry rate limiting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Test outbound HTTPS; retry; authenticate to the registry if you are being rate limited</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"no space left on device"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Disk filled by images, logs or model weights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df -h, then docker system prune -f and remove unused models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Everything lost after down</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Data was written inside the container, not a volume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Verify the volumes entries point at ./data paths, then re-create and re-ingest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C</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APPENDIX C  ·  MODEL AND PERFORMANCE ISSUES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The Model Is Slow, Silent or Wrong</a:t>
            </a:r>
            <a:endParaRPr lang="en-US" sz="2600" dirty="0"/>
          </a:p>
        </p:txBody>
      </p:sp>
      <p:graphicFrame>
        <p:nvGraphicFramePr>
          <p:cNvPr id="44" name="Table 0"/>
          <p:cNvGraphicFramePr>
            <a:graphicFrameLocks noGrp="1"/>
          </p:cNvGraphicFramePr>
          <p:nvPr/>
        </p:nvGraphicFramePr>
        <p:xfrm>
          <a:off x="411480" y="1097280"/>
          <a:ext cx="8321040" cy="3200400"/>
        </p:xfrm>
        <a:graphic>
          <a:graphicData uri="http://schemas.openxmlformats.org/drawingml/2006/table">
            <a:tbl>
              <a:tblPr/>
              <a:tblGrid>
                <a:gridCol w="2286000"/>
                <a:gridCol w="2651760"/>
                <a:gridCol w="3383280"/>
              </a:tblGrid>
              <a:tr h="457200">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SYMPTOM</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LIKELY CAUSE</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WHAT TO DO</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Model pull is very slow or stalls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Large download over a constrained link</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Pull once and keep ./models mounted so it is never re-downloaded</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First answer takes minutes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The model loads from disk on the first request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Enable keep-alive so it stays resident between requests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Answers are extremely slow</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Model too large for CPU-only inference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Move to a smaller model, shorten prompts, or add a GPU</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Container killed unexpectedly</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Out of memory — the host ran out of RAM</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Check dmesg for the OOM killer; use a smaller model or add RAM</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Poor answers in one language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Model weak in that language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Test candidate models explicitly per language before standardising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Model invents facts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No grounding, or retrieval returned nothing useful</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Verify retrieved chunks first, then instruct it to answer only from context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D</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APPENDIX D  ·  RETRIEVAL AND DATABASE ISSUES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Retrieval and Memory Problems</a:t>
            </a:r>
            <a:endParaRPr lang="en-US" sz="2600" dirty="0"/>
          </a:p>
        </p:txBody>
      </p:sp>
      <p:graphicFrame>
        <p:nvGraphicFramePr>
          <p:cNvPr id="45" name="Table 0"/>
          <p:cNvGraphicFramePr>
            <a:graphicFrameLocks noGrp="1"/>
          </p:cNvGraphicFramePr>
          <p:nvPr/>
        </p:nvGraphicFramePr>
        <p:xfrm>
          <a:off x="411480" y="1097280"/>
          <a:ext cx="8321040" cy="3200400"/>
        </p:xfrm>
        <a:graphic>
          <a:graphicData uri="http://schemas.openxmlformats.org/drawingml/2006/table">
            <a:tbl>
              <a:tblPr/>
              <a:tblGrid>
                <a:gridCol w="2286000"/>
                <a:gridCol w="2651760"/>
                <a:gridCol w="3383280"/>
              </a:tblGrid>
              <a:tr h="457200">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SYMPTOM</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LIKELY CAUSE</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WHAT TO DO</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Search returns nothing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Empty collection or failed ingestion</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Check the collection point count; re-run ingestion and watch for errors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"dimension mismatch" on insert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Embedding model differs from collection setup</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Recreate the collection with the correct vector size and re-ingest everything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Irrelevant chunks returned</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Chunks too large, or documents not cleaned</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Reduce chunk size, add overlap, strip boilerplate and re-ingest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Cross-language search fails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A monolingual embedding model is in use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Switch to a multilingual embedding model and rebuild the collection</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Gateway cannot reach the database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Wrong hostname or the container was not ready</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Use the service name postgres, not localhost, and retry the connection on start-up</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Database keeps growing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Every message retained forever</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Apply a retention policy and archive old conversations on a schedule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E</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APPENDIX E  ·  NETWORK AND ACCESS ISSUES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Nobody Can Reach the Platform</a:t>
            </a:r>
            <a:endParaRPr lang="en-US" sz="2600" dirty="0"/>
          </a:p>
        </p:txBody>
      </p:sp>
      <p:graphicFrame>
        <p:nvGraphicFramePr>
          <p:cNvPr id="46" name="Table 0"/>
          <p:cNvGraphicFramePr>
            <a:graphicFrameLocks noGrp="1"/>
          </p:cNvGraphicFramePr>
          <p:nvPr/>
        </p:nvGraphicFramePr>
        <p:xfrm>
          <a:off x="411480" y="1097280"/>
          <a:ext cx="8321040" cy="3200400"/>
        </p:xfrm>
        <a:graphic>
          <a:graphicData uri="http://schemas.openxmlformats.org/drawingml/2006/table">
            <a:tbl>
              <a:tblPr/>
              <a:tblGrid>
                <a:gridCol w="2286000"/>
                <a:gridCol w="2651760"/>
                <a:gridCol w="3383280"/>
              </a:tblGrid>
              <a:tr h="457200">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SYMPTOM</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LIKELY CAUSE</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c>
                  <a:txBody>
                    <a:bodyPr/>
                    <a:lstStyle/>
                    <a:p>
                      <a:pPr marL="0" indent="0">
                        <a:buNone/>
                      </a:pPr>
                      <a:r>
                        <a:rPr lang="en-US" sz="1050" b="1" dirty="0">
                          <a:solidFill>
                            <a:srgbClr val="1E1B18"/>
                          </a:solidFill>
                          <a:latin typeface="Arial" panose="020B0604020202020204" pitchFamily="34" charset="0"/>
                          <a:ea typeface="Arial" panose="020B0604020202020204" pitchFamily="34" charset="-122"/>
                          <a:cs typeface="Arial" panose="020B0604020202020204" pitchFamily="34" charset="-120"/>
                        </a:rPr>
                        <a:t>WHAT TO DO</a:t>
                      </a:r>
                      <a:endParaRPr lang="en-US" sz="105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E2761F"/>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Works on the server, not elsewhere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Firewall, virtual switch or binding to localhost only</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Check ufw status, the Hyper-V switch type, and that ports publish on 0.0.0.0</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Connection refused from the LAN</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Port not published, or service bound internally</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docker compose ps and confirm the host port mapping exists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Container cannot reach container</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Services on different networks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Confirm every service lists the same network and call peers by container name</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The VM address changed</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DHCP reassigned it after a reboot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Set a static address or a DHCP reservation</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Web interface loads but cannot chat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It cannot reach Ollama internally</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Verify OLLAMA_BASE_URL points at http://ollama:11434, not localhost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A2622"/>
                    </a:solidFill>
                  </a:tcPr>
                </a:tc>
              </a:tr>
              <a:tr h="457200">
                <a:tc>
                  <a:txBody>
                    <a:bodyPr/>
                    <a:lstStyle/>
                    <a:p>
                      <a:pPr marL="0" indent="0">
                        <a:buNone/>
                      </a:pPr>
                      <a:r>
                        <a:rPr lang="en-US" sz="900" b="1">
                          <a:solidFill>
                            <a:srgbClr val="F5EDE2"/>
                          </a:solidFill>
                          <a:latin typeface="Arial" panose="020B0604020202020204" pitchFamily="34" charset="0"/>
                          <a:ea typeface="Arial" panose="020B0604020202020204" pitchFamily="34" charset="-122"/>
                          <a:cs typeface="Arial" panose="020B0604020202020204" pitchFamily="34" charset="-120"/>
                        </a:rPr>
                        <a:t>Intermittent timeouts</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Long generation exceeding a proxy timeout</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c>
                  <a:txBody>
                    <a:bodyPr/>
                    <a:lstStyle/>
                    <a:p>
                      <a:pPr marL="0" indent="0">
                        <a:buNone/>
                      </a:pPr>
                      <a:r>
                        <a:rPr lang="en-US" sz="900">
                          <a:solidFill>
                            <a:srgbClr val="C9BFB2"/>
                          </a:solidFill>
                          <a:latin typeface="Arial" panose="020B0604020202020204" pitchFamily="34" charset="0"/>
                          <a:ea typeface="Arial" panose="020B0604020202020204" pitchFamily="34" charset="-122"/>
                          <a:cs typeface="Arial" panose="020B0604020202020204" pitchFamily="34" charset="-120"/>
                        </a:rPr>
                        <a:t>Raise the reverse proxy read timeout and enable response streaming</a:t>
                      </a:r>
                      <a:endParaRPr lang="en-US" sz="900" dirty="0">
                        <a:latin typeface="Arial" panose="020B0604020202020204" pitchFamily="34" charset="0"/>
                        <a:ea typeface="Arial" panose="020B0604020202020204" pitchFamily="34" charset="0"/>
                        <a:cs typeface="Arial" panose="020B0604020202020204" pitchFamily="34" charset="0"/>
                      </a:endParaRPr>
                    </a:p>
                  </a:txBody>
                  <a:tcPr marL="101600" marR="101600" marT="50800" marB="50800" anchor="ctr">
                    <a:lnL w="12700" cap="flat" cmpd="sng" algn="ctr">
                      <a:solidFill>
                        <a:srgbClr val="3A332C"/>
                      </a:solidFill>
                      <a:prstDash val="solid"/>
                      <a:round/>
                      <a:headEnd type="none" w="med" len="med"/>
                      <a:tailEnd type="none" w="med" len="med"/>
                    </a:lnL>
                    <a:lnR w="12700" cap="flat" cmpd="sng" algn="ctr">
                      <a:solidFill>
                        <a:srgbClr val="3A332C"/>
                      </a:solidFill>
                      <a:prstDash val="solid"/>
                      <a:round/>
                      <a:headEnd type="none" w="med" len="med"/>
                      <a:tailEnd type="none" w="med" len="med"/>
                    </a:lnR>
                    <a:lnT w="12700" cap="flat" cmpd="sng" algn="ctr">
                      <a:solidFill>
                        <a:srgbClr val="3A332C"/>
                      </a:solidFill>
                      <a:prstDash val="solid"/>
                      <a:round/>
                      <a:headEnd type="none" w="med" len="med"/>
                      <a:tailEnd type="none" w="med" len="med"/>
                    </a:lnT>
                    <a:lnB w="12700" cap="flat" cmpd="sng" algn="ctr">
                      <a:solidFill>
                        <a:srgbClr val="3A332C"/>
                      </a:solidFill>
                      <a:prstDash val="solid"/>
                      <a:round/>
                      <a:headEnd type="none" w="med" len="med"/>
                      <a:tailEnd type="none" w="med" len="med"/>
                    </a:lnB>
                    <a:solidFill>
                      <a:srgbClr val="231F1C"/>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F</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APPENDIX F  ·  COLLECTING EVIDENCE BEFORE ASKING FOR HELP</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If You Are Still Stuck</a:t>
            </a:r>
            <a:endParaRPr lang="en-US" sz="2600" dirty="0"/>
          </a:p>
        </p:txBody>
      </p:sp>
      <p:sp>
        <p:nvSpPr>
          <p:cNvPr id="8" name="Text 6"/>
          <p:cNvSpPr/>
          <p:nvPr/>
        </p:nvSpPr>
        <p:spPr>
          <a:xfrm>
            <a:off x="411480" y="1060704"/>
            <a:ext cx="8321040" cy="237744"/>
          </a:xfrm>
          <a:prstGeom prst="rect">
            <a:avLst/>
          </a:prstGeom>
          <a:noFill/>
        </p:spPr>
        <p:txBody>
          <a:bodyPr wrap="square" lIns="0" tIns="0" rIns="0" bIns="0" rtlCol="0" anchor="ctr"/>
          <a:lstStyle/>
          <a:p>
            <a:pPr marL="0" indent="0">
              <a:buNone/>
            </a:pPr>
            <a:r>
              <a:rPr lang="en-US" sz="1150" dirty="0">
                <a:solidFill>
                  <a:srgbClr val="C9BFB2"/>
                </a:solidFill>
                <a:latin typeface="Arial" panose="020B0604020202020204" pitchFamily="34" charset="0"/>
                <a:ea typeface="Arial" panose="020B0604020202020204" pitchFamily="34" charset="-122"/>
                <a:cs typeface="Arial" panose="020B0604020202020204" pitchFamily="34" charset="-120"/>
              </a:rPr>
              <a:t>Gather this first. It answers most of the questions anyone will ask you.</a:t>
            </a:r>
            <a:endParaRPr lang="en-US" sz="1150" dirty="0"/>
          </a:p>
        </p:txBody>
      </p:sp>
      <p:sp>
        <p:nvSpPr>
          <p:cNvPr id="9" name="Command block background"/>
          <p:cNvSpPr/>
          <p:nvPr/>
        </p:nvSpPr>
        <p:spPr>
          <a:xfrm>
            <a:off x="411480" y="1371600"/>
            <a:ext cx="8321040" cy="1207008"/>
          </a:xfrm>
          <a:prstGeom prst="rect">
            <a:avLst/>
          </a:prstGeom>
          <a:solidFill>
            <a:srgbClr val="141210"/>
          </a:solidFill>
          <a:ln w="12700">
            <a:solidFill>
              <a:srgbClr val="3A332C"/>
            </a:solidFill>
            <a:prstDash val="solid"/>
          </a:ln>
        </p:spPr>
        <p:txBody>
          <a:bodyPr/>
          <a:lstStyle/>
          <a:p>
            <a:endParaRPr lang="en-US"/>
          </a:p>
        </p:txBody>
      </p:sp>
      <p:sp>
        <p:nvSpPr>
          <p:cNvPr id="10" name="Command block accent"/>
          <p:cNvSpPr/>
          <p:nvPr/>
        </p:nvSpPr>
        <p:spPr>
          <a:xfrm>
            <a:off x="411480" y="1371600"/>
            <a:ext cx="50292" cy="1207008"/>
          </a:xfrm>
          <a:prstGeom prst="rect">
            <a:avLst/>
          </a:prstGeom>
          <a:solidFill>
            <a:srgbClr val="E2761F"/>
          </a:solidFill>
          <a:ln w="12700">
            <a:solidFill>
              <a:srgbClr val="E2761F"/>
            </a:solidFill>
            <a:prstDash val="solid"/>
          </a:ln>
        </p:spPr>
        <p:txBody>
          <a:bodyPr/>
          <a:lstStyle/>
          <a:p>
            <a:endParaRPr lang="en-US"/>
          </a:p>
        </p:txBody>
      </p:sp>
      <p:sp>
        <p:nvSpPr>
          <p:cNvPr id="11" name="Text 9"/>
          <p:cNvSpPr/>
          <p:nvPr/>
        </p:nvSpPr>
        <p:spPr>
          <a:xfrm>
            <a:off x="594360" y="1499616"/>
            <a:ext cx="8010144" cy="950976"/>
          </a:xfrm>
          <a:prstGeom prst="rect">
            <a:avLst/>
          </a:prstGeom>
          <a:noFill/>
        </p:spPr>
        <p:txBody>
          <a:bodyPr wrap="square" lIns="0" tIns="0" rIns="0" bIns="0" rtlCol="0" anchor="t"/>
          <a:lstStyle/>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ps            &gt; diag.txt</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logs --tail=200 &gt;&gt; diag.txt</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df -h &amp;&amp; free -h            &gt;&gt; diag.txt</a:t>
            </a:r>
            <a:endParaRPr lang="en-US" sz="950" dirty="0"/>
          </a:p>
          <a:p>
            <a:pPr marL="0" indent="0">
              <a:lnSpc>
                <a:spcPts val="1475"/>
              </a:lnSpc>
              <a:buNone/>
            </a:pPr>
            <a:r>
              <a:rPr lang="en-US" sz="9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version &amp;&amp; uname -a  &gt;&gt; diag.txt</a:t>
            </a:r>
            <a:endParaRPr lang="en-US" sz="950" dirty="0"/>
          </a:p>
        </p:txBody>
      </p:sp>
      <p:sp>
        <p:nvSpPr>
          <p:cNvPr id="12" name="Card"/>
          <p:cNvSpPr/>
          <p:nvPr/>
        </p:nvSpPr>
        <p:spPr>
          <a:xfrm>
            <a:off x="411480" y="2651760"/>
            <a:ext cx="4069080" cy="822960"/>
          </a:xfrm>
          <a:prstGeom prst="rect">
            <a:avLst/>
          </a:prstGeom>
          <a:solidFill>
            <a:srgbClr val="2A2622"/>
          </a:solidFill>
          <a:ln w="12700">
            <a:solidFill>
              <a:srgbClr val="3A332C"/>
            </a:solidFill>
            <a:prstDash val="solid"/>
          </a:ln>
        </p:spPr>
        <p:txBody>
          <a:bodyPr/>
          <a:lstStyle/>
          <a:p>
            <a:endParaRPr lang="en-US"/>
          </a:p>
        </p:txBody>
      </p:sp>
      <p:sp>
        <p:nvSpPr>
          <p:cNvPr id="13" name="Card accent"/>
          <p:cNvSpPr/>
          <p:nvPr/>
        </p:nvSpPr>
        <p:spPr>
          <a:xfrm>
            <a:off x="411480" y="2651760"/>
            <a:ext cx="406908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12648" y="277977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DESCRIBE THE CHANGE</a:t>
            </a:r>
            <a:endParaRPr lang="en-US" sz="1050" dirty="0"/>
          </a:p>
        </p:txBody>
      </p:sp>
      <p:sp>
        <p:nvSpPr>
          <p:cNvPr id="15" name="Text 13"/>
          <p:cNvSpPr/>
          <p:nvPr/>
        </p:nvSpPr>
        <p:spPr>
          <a:xfrm>
            <a:off x="612648" y="3054096"/>
            <a:ext cx="3666744" cy="310896"/>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What was the last thing that changed before it broke? That is usually the cause.</a:t>
            </a:r>
            <a:endParaRPr lang="en-US" sz="950" dirty="0"/>
          </a:p>
        </p:txBody>
      </p:sp>
      <p:sp>
        <p:nvSpPr>
          <p:cNvPr id="16" name="Card"/>
          <p:cNvSpPr/>
          <p:nvPr/>
        </p:nvSpPr>
        <p:spPr>
          <a:xfrm>
            <a:off x="4663440" y="2651760"/>
            <a:ext cx="4069080" cy="822960"/>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4663440" y="2651760"/>
            <a:ext cx="406908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4864608" y="277977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EXACT ERROR TEXT</a:t>
            </a:r>
            <a:endParaRPr lang="en-US" sz="1050" dirty="0"/>
          </a:p>
        </p:txBody>
      </p:sp>
      <p:sp>
        <p:nvSpPr>
          <p:cNvPr id="19" name="Text 17"/>
          <p:cNvSpPr/>
          <p:nvPr/>
        </p:nvSpPr>
        <p:spPr>
          <a:xfrm>
            <a:off x="4864608" y="3054096"/>
            <a:ext cx="3666744" cy="310896"/>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Copy the error verbatim. Paraphrased errors send people down the wrong path.</a:t>
            </a:r>
            <a:endParaRPr lang="en-US" sz="950" dirty="0"/>
          </a:p>
        </p:txBody>
      </p:sp>
      <p:sp>
        <p:nvSpPr>
          <p:cNvPr id="20" name="Card"/>
          <p:cNvSpPr/>
          <p:nvPr/>
        </p:nvSpPr>
        <p:spPr>
          <a:xfrm>
            <a:off x="411480" y="3566160"/>
            <a:ext cx="4069080" cy="822960"/>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11480" y="3566160"/>
            <a:ext cx="406908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12648" y="369417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SCOPE IT</a:t>
            </a:r>
            <a:endParaRPr lang="en-US" sz="1050" dirty="0"/>
          </a:p>
        </p:txBody>
      </p:sp>
      <p:sp>
        <p:nvSpPr>
          <p:cNvPr id="23" name="Text 21"/>
          <p:cNvSpPr/>
          <p:nvPr/>
        </p:nvSpPr>
        <p:spPr>
          <a:xfrm>
            <a:off x="612648" y="3968496"/>
            <a:ext cx="3666744" cy="310896"/>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Is it one service or all of them? One user or everyone? One language or every language?</a:t>
            </a:r>
            <a:endParaRPr lang="en-US" sz="950" dirty="0"/>
          </a:p>
        </p:txBody>
      </p:sp>
      <p:sp>
        <p:nvSpPr>
          <p:cNvPr id="24" name="Card"/>
          <p:cNvSpPr/>
          <p:nvPr/>
        </p:nvSpPr>
        <p:spPr>
          <a:xfrm>
            <a:off x="4663440" y="3566160"/>
            <a:ext cx="4069080" cy="822960"/>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4663440" y="3566160"/>
            <a:ext cx="406908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4864608" y="3694176"/>
            <a:ext cx="366674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REDACT SECRETS</a:t>
            </a:r>
            <a:endParaRPr lang="en-US" sz="1050" dirty="0"/>
          </a:p>
        </p:txBody>
      </p:sp>
      <p:sp>
        <p:nvSpPr>
          <p:cNvPr id="27" name="Text 25"/>
          <p:cNvSpPr/>
          <p:nvPr/>
        </p:nvSpPr>
        <p:spPr>
          <a:xfrm>
            <a:off x="4864608" y="3968496"/>
            <a:ext cx="3666744" cy="310896"/>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Strip passwords, tokens and internal document content from anything you share.</a:t>
            </a:r>
            <a:endParaRPr lang="en-US" sz="950" dirty="0"/>
          </a:p>
        </p:txBody>
      </p:sp>
      <p:sp>
        <p:nvSpPr>
          <p:cNvPr id="28" name="Text 26"/>
          <p:cNvSpPr/>
          <p:nvPr/>
        </p:nvSpPr>
        <p:spPr>
          <a:xfrm>
            <a:off x="411480" y="4443984"/>
            <a:ext cx="8321040" cy="365760"/>
          </a:xfrm>
          <a:prstGeom prst="rect">
            <a:avLst/>
          </a:prstGeom>
          <a:noFill/>
        </p:spPr>
        <p:txBody>
          <a:bodyPr wrap="square" lIns="0" tIns="0" rIns="0" bIns="0" rtlCol="0" anchor="t"/>
          <a:lstStyle/>
          <a:p>
            <a:pPr marL="0" indent="0">
              <a:buNone/>
            </a:pPr>
            <a:r>
              <a:rPr lang="en-US" sz="10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NOTE  </a:t>
            </a:r>
            <a:r>
              <a:rPr lang="en-US" sz="1050" dirty="0">
                <a:solidFill>
                  <a:srgbClr val="C9BFB2"/>
                </a:solidFill>
                <a:latin typeface="Arial" panose="020B0604020202020204" pitchFamily="34" charset="0"/>
                <a:ea typeface="Arial" panose="020B0604020202020204" pitchFamily="34" charset="-122"/>
                <a:cs typeface="Arial" panose="020B0604020202020204" pitchFamily="34" charset="-120"/>
              </a:rPr>
              <a:t>Keep a short deployment log of every change you make. It is the fastest troubleshooting tool you will ever build.</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QR</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QUICK REFERENCE CARD  ·  PRINT THIS PAGE AND KEEP IT BY THE SERVER</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One-Page Quick Reference</a:t>
            </a:r>
            <a:endParaRPr lang="en-US" sz="2600" dirty="0"/>
          </a:p>
        </p:txBody>
      </p:sp>
      <p:sp>
        <p:nvSpPr>
          <p:cNvPr id="8" name="Ports panel"/>
          <p:cNvSpPr/>
          <p:nvPr/>
        </p:nvSpPr>
        <p:spPr>
          <a:xfrm>
            <a:off x="411480" y="1078992"/>
            <a:ext cx="2743200" cy="1481328"/>
          </a:xfrm>
          <a:prstGeom prst="rect">
            <a:avLst/>
          </a:prstGeom>
          <a:solidFill>
            <a:srgbClr val="2A2622"/>
          </a:solidFill>
          <a:ln w="12700">
            <a:solidFill>
              <a:srgbClr val="3A332C"/>
            </a:solidFill>
            <a:prstDash val="solid"/>
          </a:ln>
        </p:spPr>
        <p:txBody>
          <a:bodyPr/>
          <a:lstStyle/>
          <a:p>
            <a:endParaRPr lang="en-US"/>
          </a:p>
        </p:txBody>
      </p:sp>
      <p:sp>
        <p:nvSpPr>
          <p:cNvPr id="9" name="Ports panel accent"/>
          <p:cNvSpPr/>
          <p:nvPr/>
        </p:nvSpPr>
        <p:spPr>
          <a:xfrm>
            <a:off x="411480"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03504" y="1188720"/>
            <a:ext cx="2377440" cy="219456"/>
          </a:xfrm>
          <a:prstGeom prst="rect">
            <a:avLst/>
          </a:prstGeom>
          <a:noFill/>
        </p:spPr>
        <p:txBody>
          <a:bodyPr wrap="square" lIns="0" tIns="0" rIns="0" bIns="0" rtlCol="0" anchor="ctr"/>
          <a:lstStyle/>
          <a:p>
            <a:pPr marL="0" indent="0">
              <a:buNone/>
            </a:pPr>
            <a:r>
              <a:rPr lang="en-US" sz="95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PORTS</a:t>
            </a:r>
            <a:endParaRPr lang="en-US" sz="950" dirty="0"/>
          </a:p>
        </p:txBody>
      </p:sp>
      <p:sp>
        <p:nvSpPr>
          <p:cNvPr id="11" name="Text 9"/>
          <p:cNvSpPr/>
          <p:nvPr/>
        </p:nvSpPr>
        <p:spPr>
          <a:xfrm>
            <a:off x="603504" y="1444752"/>
            <a:ext cx="2377440" cy="1042416"/>
          </a:xfrm>
          <a:prstGeom prst="rect">
            <a:avLst/>
          </a:prstGeom>
          <a:noFill/>
        </p:spPr>
        <p:txBody>
          <a:bodyPr wrap="square" lIns="0" tIns="0" rIns="0" bIns="0" rtlCol="0" anchor="t"/>
          <a:lstStyle/>
          <a:p>
            <a:pPr marL="0" indent="0">
              <a:lnSpc>
                <a:spcPts val="1300"/>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11434</a:t>
            </a:r>
            <a:r>
              <a:rPr lang="en-US" sz="900" dirty="0">
                <a:solidFill>
                  <a:srgbClr val="C9BFB2"/>
                </a:solidFill>
                <a:latin typeface="Consolas" panose="020B0609020204030204" pitchFamily="34" charset="0"/>
                <a:ea typeface="Consolas" panose="020B0609020204030204" pitchFamily="34" charset="-122"/>
                <a:cs typeface="Consolas" panose="020B0609020204030204" pitchFamily="34" charset="-120"/>
              </a:rPr>
              <a:t>  Ollama
</a:t>
            </a: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6333</a:t>
            </a:r>
            <a:r>
              <a:rPr lang="en-US" sz="900" dirty="0">
                <a:solidFill>
                  <a:srgbClr val="C9BFB2"/>
                </a:solidFill>
                <a:latin typeface="Consolas" panose="020B0609020204030204" pitchFamily="34" charset="0"/>
                <a:ea typeface="Consolas" panose="020B0609020204030204" pitchFamily="34" charset="-122"/>
                <a:cs typeface="Consolas" panose="020B0609020204030204" pitchFamily="34" charset="-120"/>
              </a:rPr>
              <a:t>   Qdrant
</a:t>
            </a: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5432</a:t>
            </a:r>
            <a:r>
              <a:rPr lang="en-US" sz="900" dirty="0">
                <a:solidFill>
                  <a:srgbClr val="C9BFB2"/>
                </a:solidFill>
                <a:latin typeface="Consolas" panose="020B0609020204030204" pitchFamily="34" charset="0"/>
                <a:ea typeface="Consolas" panose="020B0609020204030204" pitchFamily="34" charset="-122"/>
                <a:cs typeface="Consolas" panose="020B0609020204030204" pitchFamily="34" charset="-120"/>
              </a:rPr>
              <a:t>   PostgreSQL
</a:t>
            </a: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9000</a:t>
            </a:r>
            <a:r>
              <a:rPr lang="en-US" sz="900" dirty="0">
                <a:solidFill>
                  <a:srgbClr val="C9BFB2"/>
                </a:solidFill>
                <a:latin typeface="Consolas" panose="020B0609020204030204" pitchFamily="34" charset="0"/>
                <a:ea typeface="Consolas" panose="020B0609020204030204" pitchFamily="34" charset="-122"/>
                <a:cs typeface="Consolas" panose="020B0609020204030204" pitchFamily="34" charset="-120"/>
              </a:rPr>
              <a:t>   FastAPI gateway
</a:t>
            </a: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3000</a:t>
            </a:r>
            <a:r>
              <a:rPr lang="en-US" sz="900" dirty="0">
                <a:solidFill>
                  <a:srgbClr val="C9BFB2"/>
                </a:solidFill>
                <a:latin typeface="Consolas" panose="020B0609020204030204" pitchFamily="34" charset="0"/>
                <a:ea typeface="Consolas" panose="020B0609020204030204" pitchFamily="34" charset="-122"/>
                <a:cs typeface="Consolas" panose="020B0609020204030204" pitchFamily="34" charset="-120"/>
              </a:rPr>
              <a:t>   Open WebUI</a:t>
            </a:r>
            <a:endParaRPr lang="en-US" sz="900" dirty="0"/>
          </a:p>
        </p:txBody>
      </p:sp>
      <p:sp>
        <p:nvSpPr>
          <p:cNvPr id="12" name="Paths panel"/>
          <p:cNvSpPr/>
          <p:nvPr/>
        </p:nvSpPr>
        <p:spPr>
          <a:xfrm>
            <a:off x="411480" y="2670048"/>
            <a:ext cx="2743200" cy="1371600"/>
          </a:xfrm>
          <a:prstGeom prst="rect">
            <a:avLst/>
          </a:prstGeom>
          <a:solidFill>
            <a:srgbClr val="2A2622"/>
          </a:solidFill>
          <a:ln w="12700">
            <a:solidFill>
              <a:srgbClr val="3A332C"/>
            </a:solidFill>
            <a:prstDash val="solid"/>
          </a:ln>
        </p:spPr>
        <p:txBody>
          <a:bodyPr/>
          <a:lstStyle/>
          <a:p>
            <a:endParaRPr lang="en-US"/>
          </a:p>
        </p:txBody>
      </p:sp>
      <p:sp>
        <p:nvSpPr>
          <p:cNvPr id="13" name="Paths panel accent"/>
          <p:cNvSpPr/>
          <p:nvPr/>
        </p:nvSpPr>
        <p:spPr>
          <a:xfrm>
            <a:off x="411480" y="2670048"/>
            <a:ext cx="274320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03504" y="2779776"/>
            <a:ext cx="2377440" cy="219456"/>
          </a:xfrm>
          <a:prstGeom prst="rect">
            <a:avLst/>
          </a:prstGeom>
          <a:noFill/>
        </p:spPr>
        <p:txBody>
          <a:bodyPr wrap="square" lIns="0" tIns="0" rIns="0" bIns="0" rtlCol="0" anchor="ctr"/>
          <a:lstStyle/>
          <a:p>
            <a:pPr marL="0" indent="0">
              <a:buNone/>
            </a:pPr>
            <a:r>
              <a:rPr lang="en-US" sz="95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KEY PATHS</a:t>
            </a:r>
            <a:endParaRPr lang="en-US" sz="950" dirty="0"/>
          </a:p>
        </p:txBody>
      </p:sp>
      <p:sp>
        <p:nvSpPr>
          <p:cNvPr id="15" name="Text 13"/>
          <p:cNvSpPr/>
          <p:nvPr/>
        </p:nvSpPr>
        <p:spPr>
          <a:xfrm>
            <a:off x="603504" y="3017520"/>
            <a:ext cx="2377440" cy="932688"/>
          </a:xfrm>
          <a:prstGeom prst="rect">
            <a:avLst/>
          </a:prstGeom>
          <a:noFill/>
        </p:spPr>
        <p:txBody>
          <a:bodyPr wrap="square" lIns="0" tIns="0" rIns="0" bIns="0" rtlCol="0" anchor="t"/>
          <a:lstStyle/>
          <a:p>
            <a:pPr marL="0" indent="0">
              <a:lnSpc>
                <a:spcPts val="1200"/>
              </a:lnSpc>
              <a:buNone/>
            </a:pPr>
            <a:r>
              <a:rPr lang="en-US" sz="850" dirty="0">
                <a:solidFill>
                  <a:srgbClr val="F5EDE2"/>
                </a:solidFill>
                <a:latin typeface="Consolas" panose="020B0609020204030204" pitchFamily="34" charset="0"/>
                <a:ea typeface="Consolas" panose="020B0609020204030204" pitchFamily="34" charset="-122"/>
                <a:cs typeface="Consolas" panose="020B0609020204030204" pitchFamily="34" charset="-120"/>
              </a:rPr>
              <a:t>/srv/ai-platform
</a:t>
            </a:r>
            <a:r>
              <a:rPr lang="en-US" sz="850" dirty="0">
                <a:solidFill>
                  <a:srgbClr val="C9BFB2"/>
                </a:solidFill>
                <a:latin typeface="Consolas" panose="020B0609020204030204" pitchFamily="34" charset="0"/>
                <a:ea typeface="Consolas" panose="020B0609020204030204" pitchFamily="34" charset="-122"/>
                <a:cs typeface="Consolas" panose="020B0609020204030204" pitchFamily="34" charset="-120"/>
              </a:rPr>
              <a:t>  docker-compose.yml</a:t>
            </a:r>
            <a:endParaRPr lang="en-US" sz="850" dirty="0"/>
          </a:p>
          <a:p>
            <a:pPr marL="0" indent="0">
              <a:lnSpc>
                <a:spcPts val="1200"/>
              </a:lnSpc>
              <a:buNone/>
            </a:pPr>
            <a:r>
              <a:rPr lang="en-US" sz="850" dirty="0">
                <a:solidFill>
                  <a:srgbClr val="C9BFB2"/>
                </a:solidFill>
                <a:latin typeface="Consolas" panose="020B0609020204030204" pitchFamily="34" charset="0"/>
                <a:ea typeface="Consolas" panose="020B0609020204030204" pitchFamily="34" charset="-122"/>
                <a:cs typeface="Consolas" panose="020B0609020204030204" pitchFamily="34" charset="-120"/>
              </a:rPr>
              <a:t>  .env  (chmod 600)</a:t>
            </a:r>
            <a:endParaRPr lang="en-US" sz="850" dirty="0"/>
          </a:p>
          <a:p>
            <a:pPr marL="0" indent="0">
              <a:lnSpc>
                <a:spcPts val="1200"/>
              </a:lnSpc>
              <a:buNone/>
            </a:pPr>
            <a:r>
              <a:rPr lang="en-US" sz="850" dirty="0">
                <a:solidFill>
                  <a:srgbClr val="C9BFB2"/>
                </a:solidFill>
                <a:latin typeface="Consolas" panose="020B0609020204030204" pitchFamily="34" charset="0"/>
                <a:ea typeface="Consolas" panose="020B0609020204030204" pitchFamily="34" charset="-122"/>
                <a:cs typeface="Consolas" panose="020B0609020204030204" pitchFamily="34" charset="-120"/>
              </a:rPr>
              <a:t>  data/     databases</a:t>
            </a:r>
            <a:endParaRPr lang="en-US" sz="850" dirty="0"/>
          </a:p>
          <a:p>
            <a:pPr marL="0" indent="0">
              <a:lnSpc>
                <a:spcPts val="1200"/>
              </a:lnSpc>
              <a:buNone/>
            </a:pPr>
            <a:r>
              <a:rPr lang="en-US" sz="850" dirty="0">
                <a:solidFill>
                  <a:srgbClr val="C9BFB2"/>
                </a:solidFill>
                <a:latin typeface="Consolas" panose="020B0609020204030204" pitchFamily="34" charset="0"/>
                <a:ea typeface="Consolas" panose="020B0609020204030204" pitchFamily="34" charset="-122"/>
                <a:cs typeface="Consolas" panose="020B0609020204030204" pitchFamily="34" charset="-120"/>
              </a:rPr>
              <a:t>  models/   LLM weights</a:t>
            </a:r>
            <a:endParaRPr lang="en-US" sz="850" dirty="0"/>
          </a:p>
          <a:p>
            <a:pPr marL="0" indent="0">
              <a:lnSpc>
                <a:spcPts val="1200"/>
              </a:lnSpc>
              <a:buNone/>
            </a:pPr>
            <a:r>
              <a:rPr lang="en-US" sz="850" dirty="0">
                <a:solidFill>
                  <a:srgbClr val="C9BFB2"/>
                </a:solidFill>
                <a:latin typeface="Consolas" panose="020B0609020204030204" pitchFamily="34" charset="0"/>
                <a:ea typeface="Consolas" panose="020B0609020204030204" pitchFamily="34" charset="-122"/>
                <a:cs typeface="Consolas" panose="020B0609020204030204" pitchFamily="34" charset="-120"/>
              </a:rPr>
              <a:t>  services/ app code</a:t>
            </a:r>
            <a:endParaRPr lang="en-US" sz="850" dirty="0"/>
          </a:p>
        </p:txBody>
      </p:sp>
      <p:sp>
        <p:nvSpPr>
          <p:cNvPr id="16" name="Internal hostnames panel"/>
          <p:cNvSpPr/>
          <p:nvPr/>
        </p:nvSpPr>
        <p:spPr>
          <a:xfrm>
            <a:off x="411480" y="4059936"/>
            <a:ext cx="2743200" cy="457200"/>
          </a:xfrm>
          <a:prstGeom prst="rect">
            <a:avLst/>
          </a:prstGeom>
          <a:solidFill>
            <a:srgbClr val="2A2622"/>
          </a:solidFill>
          <a:ln w="12700">
            <a:solidFill>
              <a:srgbClr val="3A332C"/>
            </a:solidFill>
            <a:prstDash val="solid"/>
          </a:ln>
        </p:spPr>
        <p:txBody>
          <a:bodyPr/>
          <a:lstStyle/>
          <a:p>
            <a:endParaRPr lang="en-US"/>
          </a:p>
        </p:txBody>
      </p:sp>
      <p:sp>
        <p:nvSpPr>
          <p:cNvPr id="17" name="Panel accent"/>
          <p:cNvSpPr/>
          <p:nvPr/>
        </p:nvSpPr>
        <p:spPr>
          <a:xfrm>
            <a:off x="411480" y="4059936"/>
            <a:ext cx="45720" cy="45720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03504" y="4114800"/>
            <a:ext cx="2432304" cy="347472"/>
          </a:xfrm>
          <a:prstGeom prst="rect">
            <a:avLst/>
          </a:prstGeom>
          <a:noFill/>
        </p:spPr>
        <p:txBody>
          <a:bodyPr wrap="square" lIns="0" tIns="0" rIns="0" bIns="0" rtlCol="0" anchor="t"/>
          <a:lstStyle/>
          <a:p>
            <a:pPr marL="0" indent="0">
              <a:lnSpc>
                <a:spcPts val="1000"/>
              </a:lnSpc>
              <a:buNone/>
            </a:pPr>
            <a:r>
              <a:rPr lang="en-US" sz="8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INTERNAL NAMES</a:t>
            </a:r>
            <a:endParaRPr lang="en-US" sz="800" dirty="0"/>
          </a:p>
          <a:p>
            <a:pPr marL="0" indent="0">
              <a:lnSpc>
                <a:spcPts val="1000"/>
              </a:lnSpc>
              <a:buNone/>
            </a:pPr>
            <a:r>
              <a:rPr lang="en-US" sz="750" dirty="0">
                <a:solidFill>
                  <a:srgbClr val="C9BFB2"/>
                </a:solidFill>
                <a:latin typeface="Consolas" panose="020B0609020204030204" pitchFamily="34" charset="0"/>
                <a:ea typeface="Consolas" panose="020B0609020204030204" pitchFamily="34" charset="-122"/>
                <a:cs typeface="Consolas" panose="020B0609020204030204" pitchFamily="34" charset="-120"/>
              </a:rPr>
              <a:t>ollama:11434 postgres:5432 qdrant:6333</a:t>
            </a:r>
            <a:endParaRPr lang="en-US" sz="800" dirty="0"/>
          </a:p>
        </p:txBody>
      </p:sp>
      <p:sp>
        <p:nvSpPr>
          <p:cNvPr id="19" name="Commands panel"/>
          <p:cNvSpPr/>
          <p:nvPr/>
        </p:nvSpPr>
        <p:spPr>
          <a:xfrm>
            <a:off x="3310128" y="1078992"/>
            <a:ext cx="2743200" cy="2487168"/>
          </a:xfrm>
          <a:prstGeom prst="rect">
            <a:avLst/>
          </a:prstGeom>
          <a:solidFill>
            <a:srgbClr val="2A2622"/>
          </a:solidFill>
          <a:ln w="12700">
            <a:solidFill>
              <a:srgbClr val="3A332C"/>
            </a:solidFill>
            <a:prstDash val="solid"/>
          </a:ln>
        </p:spPr>
        <p:txBody>
          <a:bodyPr/>
          <a:lstStyle/>
          <a:p>
            <a:endParaRPr lang="en-US"/>
          </a:p>
        </p:txBody>
      </p:sp>
      <p:sp>
        <p:nvSpPr>
          <p:cNvPr id="20" name="Commands panel accent"/>
          <p:cNvSpPr/>
          <p:nvPr/>
        </p:nvSpPr>
        <p:spPr>
          <a:xfrm>
            <a:off x="3310128"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21" name="Text 19"/>
          <p:cNvSpPr/>
          <p:nvPr/>
        </p:nvSpPr>
        <p:spPr>
          <a:xfrm>
            <a:off x="3502152" y="1188720"/>
            <a:ext cx="2377440" cy="219456"/>
          </a:xfrm>
          <a:prstGeom prst="rect">
            <a:avLst/>
          </a:prstGeom>
          <a:noFill/>
        </p:spPr>
        <p:txBody>
          <a:bodyPr wrap="square" lIns="0" tIns="0" rIns="0" bIns="0" rtlCol="0" anchor="ctr"/>
          <a:lstStyle/>
          <a:p>
            <a:pPr marL="0" indent="0">
              <a:buNone/>
            </a:pPr>
            <a:r>
              <a:rPr lang="en-US" sz="95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EVERYDAY COMMANDS</a:t>
            </a:r>
            <a:endParaRPr lang="en-US" sz="950" dirty="0"/>
          </a:p>
        </p:txBody>
      </p:sp>
      <p:sp>
        <p:nvSpPr>
          <p:cNvPr id="22" name="Text 20"/>
          <p:cNvSpPr/>
          <p:nvPr/>
        </p:nvSpPr>
        <p:spPr>
          <a:xfrm>
            <a:off x="3502152" y="1408176"/>
            <a:ext cx="2377440" cy="2048256"/>
          </a:xfrm>
          <a:prstGeom prst="rect">
            <a:avLst/>
          </a:prstGeom>
          <a:noFill/>
        </p:spPr>
        <p:txBody>
          <a:bodyPr wrap="square" lIns="0" tIns="0" rIns="0" bIns="0" rtlCol="0" anchor="t"/>
          <a:lstStyle/>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cd /srv/ai-platform</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up -d</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ps</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down</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up -d --build</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restart gateway</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logs -f ollama</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exec gateway bash</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pull</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stats --no-stream</a:t>
            </a:r>
            <a:endParaRPr lang="en-US" sz="800" dirty="0"/>
          </a:p>
          <a:p>
            <a:pPr marL="0" indent="0">
              <a:lnSpc>
                <a:spcPts val="11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system prune -f</a:t>
            </a:r>
            <a:endParaRPr lang="en-US" sz="800" dirty="0"/>
          </a:p>
        </p:txBody>
      </p:sp>
      <p:sp>
        <p:nvSpPr>
          <p:cNvPr id="23" name="Health checks panel"/>
          <p:cNvSpPr/>
          <p:nvPr/>
        </p:nvSpPr>
        <p:spPr>
          <a:xfrm>
            <a:off x="3310128" y="3675888"/>
            <a:ext cx="2743200" cy="841248"/>
          </a:xfrm>
          <a:prstGeom prst="rect">
            <a:avLst/>
          </a:prstGeom>
          <a:solidFill>
            <a:srgbClr val="2A2622"/>
          </a:solidFill>
          <a:ln w="12700">
            <a:solidFill>
              <a:srgbClr val="3A332C"/>
            </a:solidFill>
            <a:prstDash val="solid"/>
          </a:ln>
        </p:spPr>
        <p:txBody>
          <a:bodyPr/>
          <a:lstStyle/>
          <a:p>
            <a:endParaRPr lang="en-US"/>
          </a:p>
        </p:txBody>
      </p:sp>
      <p:sp>
        <p:nvSpPr>
          <p:cNvPr id="24" name="Health checks accent"/>
          <p:cNvSpPr/>
          <p:nvPr/>
        </p:nvSpPr>
        <p:spPr>
          <a:xfrm>
            <a:off x="3310128" y="3675888"/>
            <a:ext cx="2743200" cy="45720"/>
          </a:xfrm>
          <a:prstGeom prst="rect">
            <a:avLst/>
          </a:prstGeom>
          <a:solidFill>
            <a:srgbClr val="E2761F"/>
          </a:solidFill>
          <a:ln w="12700">
            <a:solidFill>
              <a:srgbClr val="E2761F"/>
            </a:solidFill>
            <a:prstDash val="solid"/>
          </a:ln>
        </p:spPr>
        <p:txBody>
          <a:bodyPr/>
          <a:lstStyle/>
          <a:p>
            <a:endParaRPr lang="en-US"/>
          </a:p>
        </p:txBody>
      </p:sp>
      <p:sp>
        <p:nvSpPr>
          <p:cNvPr id="25" name="Text 23"/>
          <p:cNvSpPr/>
          <p:nvPr/>
        </p:nvSpPr>
        <p:spPr>
          <a:xfrm>
            <a:off x="3502152" y="3767328"/>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HEALTH CHECKS</a:t>
            </a:r>
            <a:endParaRPr lang="en-US" sz="900" dirty="0"/>
          </a:p>
        </p:txBody>
      </p:sp>
      <p:sp>
        <p:nvSpPr>
          <p:cNvPr id="26" name="Text 24"/>
          <p:cNvSpPr/>
          <p:nvPr/>
        </p:nvSpPr>
        <p:spPr>
          <a:xfrm>
            <a:off x="3502152" y="3986784"/>
            <a:ext cx="2377440" cy="420624"/>
          </a:xfrm>
          <a:prstGeom prst="rect">
            <a:avLst/>
          </a:prstGeom>
          <a:noFill/>
        </p:spPr>
        <p:txBody>
          <a:bodyPr wrap="square" lIns="0" tIns="0" rIns="0" bIns="0" rtlCol="0" anchor="t"/>
          <a:lstStyle/>
          <a:p>
            <a:pPr marL="0" indent="0">
              <a:lnSpc>
                <a:spcPts val="1000"/>
              </a:lnSpc>
              <a:buNone/>
            </a:pPr>
            <a:r>
              <a:rPr lang="en-US" sz="75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localhost:11434/api/tags</a:t>
            </a:r>
            <a:endParaRPr lang="en-US" sz="750" dirty="0"/>
          </a:p>
          <a:p>
            <a:pPr marL="0" indent="0">
              <a:lnSpc>
                <a:spcPts val="1000"/>
              </a:lnSpc>
              <a:buNone/>
            </a:pPr>
            <a:r>
              <a:rPr lang="en-US" sz="75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localhost:6333/collections</a:t>
            </a:r>
            <a:endParaRPr lang="en-US" sz="750" dirty="0"/>
          </a:p>
          <a:p>
            <a:pPr marL="0" indent="0">
              <a:lnSpc>
                <a:spcPts val="1000"/>
              </a:lnSpc>
              <a:buNone/>
            </a:pPr>
            <a:r>
              <a:rPr lang="en-US" sz="75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localhost:9000/health</a:t>
            </a:r>
            <a:endParaRPr lang="en-US" sz="750" dirty="0"/>
          </a:p>
        </p:txBody>
      </p:sp>
      <p:sp>
        <p:nvSpPr>
          <p:cNvPr id="27" name="Diagnosis panel"/>
          <p:cNvSpPr/>
          <p:nvPr/>
        </p:nvSpPr>
        <p:spPr>
          <a:xfrm>
            <a:off x="6208776" y="1078992"/>
            <a:ext cx="2523744" cy="1956816"/>
          </a:xfrm>
          <a:prstGeom prst="rect">
            <a:avLst/>
          </a:prstGeom>
          <a:solidFill>
            <a:srgbClr val="2A2622"/>
          </a:solidFill>
          <a:ln w="12700">
            <a:solidFill>
              <a:srgbClr val="3A332C"/>
            </a:solidFill>
            <a:prstDash val="solid"/>
          </a:ln>
        </p:spPr>
        <p:txBody>
          <a:bodyPr/>
          <a:lstStyle/>
          <a:p>
            <a:endParaRPr lang="en-US"/>
          </a:p>
        </p:txBody>
      </p:sp>
      <p:sp>
        <p:nvSpPr>
          <p:cNvPr id="28" name="Diagnosis panel accent"/>
          <p:cNvSpPr/>
          <p:nvPr/>
        </p:nvSpPr>
        <p:spPr>
          <a:xfrm>
            <a:off x="6208776" y="1078992"/>
            <a:ext cx="2523744" cy="45720"/>
          </a:xfrm>
          <a:prstGeom prst="rect">
            <a:avLst/>
          </a:prstGeom>
          <a:solidFill>
            <a:srgbClr val="E2761F"/>
          </a:solidFill>
          <a:ln w="12700">
            <a:solidFill>
              <a:srgbClr val="E2761F"/>
            </a:solidFill>
            <a:prstDash val="solid"/>
          </a:ln>
        </p:spPr>
        <p:txBody>
          <a:bodyPr/>
          <a:lstStyle/>
          <a:p>
            <a:endParaRPr lang="en-US"/>
          </a:p>
        </p:txBody>
      </p:sp>
      <p:sp>
        <p:nvSpPr>
          <p:cNvPr id="29" name="Text 27"/>
          <p:cNvSpPr/>
          <p:nvPr/>
        </p:nvSpPr>
        <p:spPr>
          <a:xfrm>
            <a:off x="6400800" y="1188720"/>
            <a:ext cx="2157984" cy="219456"/>
          </a:xfrm>
          <a:prstGeom prst="rect">
            <a:avLst/>
          </a:prstGeom>
          <a:noFill/>
        </p:spPr>
        <p:txBody>
          <a:bodyPr wrap="square" lIns="0" tIns="0" rIns="0" bIns="0" rtlCol="0" anchor="ctr"/>
          <a:lstStyle/>
          <a:p>
            <a:pPr marL="0" indent="0">
              <a:buNone/>
            </a:pPr>
            <a:r>
              <a:rPr lang="en-US" sz="95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WHEN IT BREAKS</a:t>
            </a:r>
            <a:endParaRPr lang="en-US" sz="950" dirty="0"/>
          </a:p>
        </p:txBody>
      </p:sp>
      <p:sp>
        <p:nvSpPr>
          <p:cNvPr id="30" name="Text 28"/>
          <p:cNvSpPr/>
          <p:nvPr/>
        </p:nvSpPr>
        <p:spPr>
          <a:xfrm>
            <a:off x="6400800" y="1444752"/>
            <a:ext cx="2157984" cy="1408176"/>
          </a:xfrm>
          <a:prstGeom prst="rect">
            <a:avLst/>
          </a:prstGeom>
          <a:noFill/>
        </p:spPr>
        <p:txBody>
          <a:bodyPr wrap="square" lIns="0" tIns="0" rIns="0" bIns="0" rtlCol="0" anchor="t"/>
          <a:lstStyle/>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1  Is it running?  compose ps</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2  What does it say?  logs</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3  Works on localhost?</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4  Works container to container?</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5  Works from another machine?</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6  Change one thing, then retest</a:t>
            </a:r>
            <a:endParaRPr lang="en-US" sz="850" dirty="0"/>
          </a:p>
        </p:txBody>
      </p:sp>
      <p:sp>
        <p:nvSpPr>
          <p:cNvPr id="31" name="Rules panel"/>
          <p:cNvSpPr/>
          <p:nvPr/>
        </p:nvSpPr>
        <p:spPr>
          <a:xfrm>
            <a:off x="6208776" y="3127248"/>
            <a:ext cx="2523744" cy="1389888"/>
          </a:xfrm>
          <a:prstGeom prst="rect">
            <a:avLst/>
          </a:prstGeom>
          <a:solidFill>
            <a:srgbClr val="2A2622"/>
          </a:solidFill>
          <a:ln w="12700">
            <a:solidFill>
              <a:srgbClr val="3A332C"/>
            </a:solidFill>
            <a:prstDash val="solid"/>
          </a:ln>
        </p:spPr>
        <p:txBody>
          <a:bodyPr/>
          <a:lstStyle/>
          <a:p>
            <a:endParaRPr lang="en-US"/>
          </a:p>
        </p:txBody>
      </p:sp>
      <p:sp>
        <p:nvSpPr>
          <p:cNvPr id="32" name="Rules panel accent"/>
          <p:cNvSpPr/>
          <p:nvPr/>
        </p:nvSpPr>
        <p:spPr>
          <a:xfrm>
            <a:off x="6208776" y="3127248"/>
            <a:ext cx="2523744" cy="45720"/>
          </a:xfrm>
          <a:prstGeom prst="rect">
            <a:avLst/>
          </a:prstGeom>
          <a:solidFill>
            <a:srgbClr val="E2761F"/>
          </a:solidFill>
          <a:ln w="12700">
            <a:solidFill>
              <a:srgbClr val="E2761F"/>
            </a:solidFill>
            <a:prstDash val="solid"/>
          </a:ln>
        </p:spPr>
        <p:txBody>
          <a:bodyPr/>
          <a:lstStyle/>
          <a:p>
            <a:endParaRPr lang="en-US"/>
          </a:p>
        </p:txBody>
      </p:sp>
      <p:sp>
        <p:nvSpPr>
          <p:cNvPr id="33" name="Text 31"/>
          <p:cNvSpPr/>
          <p:nvPr/>
        </p:nvSpPr>
        <p:spPr>
          <a:xfrm>
            <a:off x="6400800" y="3236976"/>
            <a:ext cx="2157984"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NEVER FORGET</a:t>
            </a:r>
            <a:endParaRPr lang="en-US" sz="900" dirty="0"/>
          </a:p>
        </p:txBody>
      </p:sp>
      <p:sp>
        <p:nvSpPr>
          <p:cNvPr id="34" name="Text 32"/>
          <p:cNvSpPr/>
          <p:nvPr/>
        </p:nvSpPr>
        <p:spPr>
          <a:xfrm>
            <a:off x="6400800" y="3474720"/>
            <a:ext cx="2157984" cy="914400"/>
          </a:xfrm>
          <a:prstGeom prst="rect">
            <a:avLst/>
          </a:prstGeom>
          <a:noFill/>
        </p:spPr>
        <p:txBody>
          <a:bodyPr wrap="square" lIns="0" tIns="0" rIns="0" bIns="0" rtlCol="0" anchor="t"/>
          <a:lstStyle/>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Secrets live in .env, never in YAML</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No database on the public Internet</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Remote access via VPN only</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Back up before every upgrade</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An untested restore is not a backup</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QR</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INGESTION CHECKLIST  ·  RUN THROUGH THIS EVERY TIME YOU LOAD DOCUMENTS</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One-Page Ingestion Checklist</a:t>
            </a:r>
            <a:endParaRPr lang="en-US" sz="2600" dirty="0"/>
          </a:p>
        </p:txBody>
      </p:sp>
      <p:sp>
        <p:nvSpPr>
          <p:cNvPr id="8" name="Before you ingest panel"/>
          <p:cNvSpPr/>
          <p:nvPr/>
        </p:nvSpPr>
        <p:spPr>
          <a:xfrm>
            <a:off x="411480" y="1078992"/>
            <a:ext cx="2743200" cy="1481328"/>
          </a:xfrm>
          <a:prstGeom prst="rect">
            <a:avLst/>
          </a:prstGeom>
          <a:solidFill>
            <a:srgbClr val="2A2622"/>
          </a:solidFill>
          <a:ln w="12700">
            <a:solidFill>
              <a:srgbClr val="3A332C"/>
            </a:solidFill>
            <a:prstDash val="solid"/>
          </a:ln>
        </p:spPr>
        <p:txBody>
          <a:bodyPr/>
          <a:lstStyle/>
          <a:p>
            <a:endParaRPr lang="en-US"/>
          </a:p>
        </p:txBody>
      </p:sp>
      <p:sp>
        <p:nvSpPr>
          <p:cNvPr id="9" name="Before you ingest accent"/>
          <p:cNvSpPr/>
          <p:nvPr/>
        </p:nvSpPr>
        <p:spPr>
          <a:xfrm>
            <a:off x="411480"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03504" y="1188720"/>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1 · BEFORE YOU INGEST</a:t>
            </a:r>
            <a:endParaRPr lang="en-US" sz="900" dirty="0"/>
          </a:p>
        </p:txBody>
      </p:sp>
      <p:sp>
        <p:nvSpPr>
          <p:cNvPr id="11" name="Text 9"/>
          <p:cNvSpPr/>
          <p:nvPr/>
        </p:nvSpPr>
        <p:spPr>
          <a:xfrm>
            <a:off x="603504" y="1444752"/>
            <a:ext cx="2377440" cy="1005840"/>
          </a:xfrm>
          <a:prstGeom prst="rect">
            <a:avLst/>
          </a:prstGeom>
          <a:noFill/>
        </p:spPr>
        <p:txBody>
          <a:bodyPr wrap="square" lIns="0" tIns="0" rIns="0" bIns="0" rtlCol="0" anchor="t"/>
          <a:lstStyle/>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Source is approved for use</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Owner and review date recorded</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Duplicates and drafts removed</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Scanned PDFs run through OCR</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Passwords stripped from files</a:t>
            </a:r>
            <a:endParaRPr lang="en-US" sz="850" dirty="0"/>
          </a:p>
        </p:txBody>
      </p:sp>
      <p:sp>
        <p:nvSpPr>
          <p:cNvPr id="12" name="Clean the text panel"/>
          <p:cNvSpPr/>
          <p:nvPr/>
        </p:nvSpPr>
        <p:spPr>
          <a:xfrm>
            <a:off x="411480" y="2670048"/>
            <a:ext cx="2743200" cy="1152144"/>
          </a:xfrm>
          <a:prstGeom prst="rect">
            <a:avLst/>
          </a:prstGeom>
          <a:solidFill>
            <a:srgbClr val="2A2622"/>
          </a:solidFill>
          <a:ln w="12700">
            <a:solidFill>
              <a:srgbClr val="3A332C"/>
            </a:solidFill>
            <a:prstDash val="solid"/>
          </a:ln>
        </p:spPr>
        <p:txBody>
          <a:bodyPr/>
          <a:lstStyle/>
          <a:p>
            <a:endParaRPr lang="en-US"/>
          </a:p>
        </p:txBody>
      </p:sp>
      <p:sp>
        <p:nvSpPr>
          <p:cNvPr id="13" name="Clean the text accent"/>
          <p:cNvSpPr/>
          <p:nvPr/>
        </p:nvSpPr>
        <p:spPr>
          <a:xfrm>
            <a:off x="411480" y="2670048"/>
            <a:ext cx="274320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03504" y="2779776"/>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2 · CLEAN THE TEXT</a:t>
            </a:r>
            <a:endParaRPr lang="en-US" sz="900" dirty="0"/>
          </a:p>
        </p:txBody>
      </p:sp>
      <p:sp>
        <p:nvSpPr>
          <p:cNvPr id="15" name="Text 13"/>
          <p:cNvSpPr/>
          <p:nvPr/>
        </p:nvSpPr>
        <p:spPr>
          <a:xfrm>
            <a:off x="603504" y="2980944"/>
            <a:ext cx="2377440" cy="768096"/>
          </a:xfrm>
          <a:prstGeom prst="rect">
            <a:avLst/>
          </a:prstGeom>
          <a:noFill/>
        </p:spPr>
        <p:txBody>
          <a:bodyPr wrap="square" lIns="0" tIns="0" rIns="0" bIns="0" rtlCol="0" anchor="t"/>
          <a:lstStyle/>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Headers, footers, page numbers gone</a:t>
            </a:r>
            <a:endParaRPr lang="en-US" sz="800" dirty="0"/>
          </a:p>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Navigation and boilerplate stripped</a:t>
            </a:r>
            <a:endParaRPr lang="en-US" sz="800" dirty="0"/>
          </a:p>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Tables flattened into readable text</a:t>
            </a:r>
            <a:endParaRPr lang="en-US" sz="800" dirty="0"/>
          </a:p>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Encoding checked for each language</a:t>
            </a:r>
            <a:endParaRPr lang="en-US" sz="800" dirty="0"/>
          </a:p>
        </p:txBody>
      </p:sp>
      <p:sp>
        <p:nvSpPr>
          <p:cNvPr id="16" name="Metadata panel"/>
          <p:cNvSpPr/>
          <p:nvPr/>
        </p:nvSpPr>
        <p:spPr>
          <a:xfrm>
            <a:off x="411480" y="3895344"/>
            <a:ext cx="2743200" cy="621792"/>
          </a:xfrm>
          <a:prstGeom prst="rect">
            <a:avLst/>
          </a:prstGeom>
          <a:solidFill>
            <a:srgbClr val="2A2622"/>
          </a:solidFill>
          <a:ln w="12700">
            <a:solidFill>
              <a:srgbClr val="3A332C"/>
            </a:solidFill>
            <a:prstDash val="solid"/>
          </a:ln>
        </p:spPr>
        <p:txBody>
          <a:bodyPr/>
          <a:lstStyle/>
          <a:p>
            <a:endParaRPr lang="en-US"/>
          </a:p>
        </p:txBody>
      </p:sp>
      <p:sp>
        <p:nvSpPr>
          <p:cNvPr id="17" name="Metadata accent"/>
          <p:cNvSpPr/>
          <p:nvPr/>
        </p:nvSpPr>
        <p:spPr>
          <a:xfrm>
            <a:off x="411480" y="3895344"/>
            <a:ext cx="274320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03504" y="3986784"/>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3 · METADATA PER CHUNK</a:t>
            </a:r>
            <a:endParaRPr lang="en-US" sz="900" dirty="0"/>
          </a:p>
        </p:txBody>
      </p:sp>
      <p:sp>
        <p:nvSpPr>
          <p:cNvPr id="19" name="Text 17"/>
          <p:cNvSpPr/>
          <p:nvPr/>
        </p:nvSpPr>
        <p:spPr>
          <a:xfrm>
            <a:off x="603504" y="4187952"/>
            <a:ext cx="2377440" cy="182880"/>
          </a:xfrm>
          <a:prstGeom prst="rect">
            <a:avLst/>
          </a:prstGeom>
          <a:noFill/>
        </p:spPr>
        <p:txBody>
          <a:bodyPr wrap="square" lIns="0" tIns="0" rIns="0" bIns="0" rtlCol="0" anchor="t"/>
          <a:lstStyle/>
          <a:p>
            <a:pPr marL="0" indent="0">
              <a:buNone/>
            </a:pPr>
            <a:r>
              <a:rPr lang="en-US" sz="750" dirty="0">
                <a:solidFill>
                  <a:srgbClr val="C9BFB2"/>
                </a:solidFill>
                <a:latin typeface="Consolas" panose="020B0609020204030204" pitchFamily="34" charset="0"/>
                <a:ea typeface="Consolas" panose="020B0609020204030204" pitchFamily="34" charset="-122"/>
                <a:cs typeface="Consolas" panose="020B0609020204030204" pitchFamily="34" charset="-120"/>
              </a:rPr>
              <a:t>source · section · date · language</a:t>
            </a:r>
            <a:endParaRPr lang="en-US" sz="750" dirty="0"/>
          </a:p>
        </p:txBody>
      </p:sp>
      <p:sp>
        <p:nvSpPr>
          <p:cNvPr id="20" name="Pipeline settings panel"/>
          <p:cNvSpPr/>
          <p:nvPr/>
        </p:nvSpPr>
        <p:spPr>
          <a:xfrm>
            <a:off x="3310128" y="1078992"/>
            <a:ext cx="2743200" cy="1773936"/>
          </a:xfrm>
          <a:prstGeom prst="rect">
            <a:avLst/>
          </a:prstGeom>
          <a:solidFill>
            <a:srgbClr val="2A2622"/>
          </a:solidFill>
          <a:ln w="12700">
            <a:solidFill>
              <a:srgbClr val="3A332C"/>
            </a:solidFill>
            <a:prstDash val="solid"/>
          </a:ln>
        </p:spPr>
        <p:txBody>
          <a:bodyPr/>
          <a:lstStyle/>
          <a:p>
            <a:endParaRPr lang="en-US"/>
          </a:p>
        </p:txBody>
      </p:sp>
      <p:sp>
        <p:nvSpPr>
          <p:cNvPr id="21" name="Pipeline settings accent"/>
          <p:cNvSpPr/>
          <p:nvPr/>
        </p:nvSpPr>
        <p:spPr>
          <a:xfrm>
            <a:off x="3310128"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3502152" y="1188720"/>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4 · PIPELINE SETTINGS</a:t>
            </a:r>
            <a:endParaRPr lang="en-US" sz="900" dirty="0"/>
          </a:p>
        </p:txBody>
      </p:sp>
      <p:sp>
        <p:nvSpPr>
          <p:cNvPr id="23" name="Text 21"/>
          <p:cNvSpPr/>
          <p:nvPr/>
        </p:nvSpPr>
        <p:spPr>
          <a:xfrm>
            <a:off x="3502152" y="1389888"/>
            <a:ext cx="2377440" cy="1170432"/>
          </a:xfrm>
          <a:prstGeom prst="rect">
            <a:avLst/>
          </a:prstGeom>
          <a:noFill/>
        </p:spPr>
        <p:txBody>
          <a:bodyPr wrap="square" lIns="0" tIns="0" rIns="0" bIns="0" rtlCol="0" anchor="t"/>
          <a:lstStyle/>
          <a:p>
            <a:pPr marL="0" indent="0">
              <a:lnSpc>
                <a:spcPts val="1100"/>
              </a:lnSpc>
              <a:buNone/>
            </a:pP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chunk size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300-800 tokens
</a:t>
            </a: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overlap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10-15 percent
</a:t>
            </a: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split on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headings first
</a:t>
            </a: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embed model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multilingual
</a:t>
            </a: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vector size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match the model
</a:t>
            </a: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distance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cosine
</a:t>
            </a:r>
            <a:r>
              <a:rPr lang="en-US" sz="800" dirty="0">
                <a:solidFill>
                  <a:srgbClr val="C9BFB2"/>
                </a:solidFill>
                <a:latin typeface="Consolas" panose="020B0609020204030204" pitchFamily="34" charset="0"/>
                <a:ea typeface="Consolas" panose="020B0609020204030204" pitchFamily="34" charset="-122"/>
                <a:cs typeface="Consolas" panose="020B0609020204030204" pitchFamily="34" charset="-120"/>
              </a:rPr>
              <a:t>collection      </a:t>
            </a:r>
            <a:r>
              <a:rPr lang="en-US" sz="800" dirty="0">
                <a:solidFill>
                  <a:srgbClr val="F0A040"/>
                </a:solidFill>
                <a:latin typeface="Consolas" panose="020B0609020204030204" pitchFamily="34" charset="0"/>
                <a:ea typeface="Consolas" panose="020B0609020204030204" pitchFamily="34" charset="-122"/>
                <a:cs typeface="Consolas" panose="020B0609020204030204" pitchFamily="34" charset="-120"/>
              </a:rPr>
              <a:t>knowledge</a:t>
            </a:r>
            <a:endParaRPr lang="en-US" sz="800" dirty="0"/>
          </a:p>
        </p:txBody>
      </p:sp>
      <p:sp>
        <p:nvSpPr>
          <p:cNvPr id="24" name="Verify after the run panel"/>
          <p:cNvSpPr/>
          <p:nvPr/>
        </p:nvSpPr>
        <p:spPr>
          <a:xfrm>
            <a:off x="3310128" y="2944368"/>
            <a:ext cx="2743200" cy="1572768"/>
          </a:xfrm>
          <a:prstGeom prst="rect">
            <a:avLst/>
          </a:prstGeom>
          <a:solidFill>
            <a:srgbClr val="2A2622"/>
          </a:solidFill>
          <a:ln w="12700">
            <a:solidFill>
              <a:srgbClr val="3A332C"/>
            </a:solidFill>
            <a:prstDash val="solid"/>
          </a:ln>
        </p:spPr>
        <p:txBody>
          <a:bodyPr/>
          <a:lstStyle/>
          <a:p>
            <a:endParaRPr lang="en-US"/>
          </a:p>
        </p:txBody>
      </p:sp>
      <p:sp>
        <p:nvSpPr>
          <p:cNvPr id="25" name="Verify after the run accent"/>
          <p:cNvSpPr/>
          <p:nvPr/>
        </p:nvSpPr>
        <p:spPr>
          <a:xfrm>
            <a:off x="3310128" y="2944368"/>
            <a:ext cx="274320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3502152" y="3035808"/>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5 · VERIFY AFTER THE RUN</a:t>
            </a:r>
            <a:endParaRPr lang="en-US" sz="900" dirty="0"/>
          </a:p>
        </p:txBody>
      </p:sp>
      <p:sp>
        <p:nvSpPr>
          <p:cNvPr id="27" name="Text 25"/>
          <p:cNvSpPr/>
          <p:nvPr/>
        </p:nvSpPr>
        <p:spPr>
          <a:xfrm>
            <a:off x="3502152" y="3255264"/>
            <a:ext cx="2377440" cy="457200"/>
          </a:xfrm>
          <a:prstGeom prst="rect">
            <a:avLst/>
          </a:prstGeom>
          <a:noFill/>
        </p:spPr>
        <p:txBody>
          <a:bodyPr wrap="square" lIns="0" tIns="0" rIns="0" bIns="0" rtlCol="0" anchor="t"/>
          <a:lstStyle/>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Point count matches expectation</a:t>
            </a:r>
            <a:endParaRPr lang="en-US" sz="800" dirty="0"/>
          </a:p>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Spot-check three stored chunks</a:t>
            </a:r>
            <a:endParaRPr lang="en-US" sz="800" dirty="0"/>
          </a:p>
          <a:p>
            <a:pPr marL="0" indent="0">
              <a:lnSpc>
                <a:spcPts val="11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Settings recorded with the collection</a:t>
            </a:r>
            <a:endParaRPr lang="en-US" sz="800" dirty="0"/>
          </a:p>
        </p:txBody>
      </p:sp>
      <p:sp>
        <p:nvSpPr>
          <p:cNvPr id="28" name="Text 26"/>
          <p:cNvSpPr/>
          <p:nvPr/>
        </p:nvSpPr>
        <p:spPr>
          <a:xfrm>
            <a:off x="3502152" y="3785616"/>
            <a:ext cx="2377440" cy="402336"/>
          </a:xfrm>
          <a:prstGeom prst="rect">
            <a:avLst/>
          </a:prstGeom>
          <a:noFill/>
        </p:spPr>
        <p:txBody>
          <a:bodyPr wrap="square" lIns="0" tIns="0" rIns="0" bIns="0" rtlCol="0" anchor="t"/>
          <a:lstStyle/>
          <a:p>
            <a:pPr marL="0" indent="0">
              <a:lnSpc>
                <a:spcPts val="1000"/>
              </a:lnSpc>
              <a:buNone/>
            </a:pPr>
            <a:r>
              <a:rPr lang="en-US" sz="7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localhost:6333/collections</a:t>
            </a:r>
            <a:endParaRPr lang="en-US" sz="700" dirty="0"/>
          </a:p>
          <a:p>
            <a:pPr marL="0" indent="0">
              <a:lnSpc>
                <a:spcPts val="1000"/>
              </a:lnSpc>
              <a:buNone/>
            </a:pPr>
            <a:r>
              <a:rPr lang="en-US" sz="70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localhost:6333/collections/knowledge</a:t>
            </a:r>
            <a:endParaRPr lang="en-US" sz="700" dirty="0"/>
          </a:p>
        </p:txBody>
      </p:sp>
      <p:sp>
        <p:nvSpPr>
          <p:cNvPr id="29" name="Test retrieval panel"/>
          <p:cNvSpPr/>
          <p:nvPr/>
        </p:nvSpPr>
        <p:spPr>
          <a:xfrm>
            <a:off x="6208776" y="1078992"/>
            <a:ext cx="2523744" cy="1956816"/>
          </a:xfrm>
          <a:prstGeom prst="rect">
            <a:avLst/>
          </a:prstGeom>
          <a:solidFill>
            <a:srgbClr val="2A2622"/>
          </a:solidFill>
          <a:ln w="12700">
            <a:solidFill>
              <a:srgbClr val="3A332C"/>
            </a:solidFill>
            <a:prstDash val="solid"/>
          </a:ln>
        </p:spPr>
        <p:txBody>
          <a:bodyPr/>
          <a:lstStyle/>
          <a:p>
            <a:endParaRPr lang="en-US"/>
          </a:p>
        </p:txBody>
      </p:sp>
      <p:sp>
        <p:nvSpPr>
          <p:cNvPr id="30" name="Test retrieval accent"/>
          <p:cNvSpPr/>
          <p:nvPr/>
        </p:nvSpPr>
        <p:spPr>
          <a:xfrm>
            <a:off x="6208776" y="1078992"/>
            <a:ext cx="2523744" cy="45720"/>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6400800" y="1188720"/>
            <a:ext cx="2157984"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7 · TEST RETRIEVAL</a:t>
            </a:r>
            <a:endParaRPr lang="en-US" sz="900" dirty="0"/>
          </a:p>
        </p:txBody>
      </p:sp>
      <p:sp>
        <p:nvSpPr>
          <p:cNvPr id="32" name="Text 30"/>
          <p:cNvSpPr/>
          <p:nvPr/>
        </p:nvSpPr>
        <p:spPr>
          <a:xfrm>
            <a:off x="6400800" y="1444752"/>
            <a:ext cx="2157984" cy="1408176"/>
          </a:xfrm>
          <a:prstGeom prst="rect">
            <a:avLst/>
          </a:prstGeom>
          <a:noFill/>
        </p:spPr>
        <p:txBody>
          <a:bodyPr wrap="square" lIns="0" tIns="0" rIns="0" bIns="0" rtlCol="0" anchor="t"/>
          <a:lstStyle/>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Run the standing question set</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Check retrieved chunks, not just</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the final answer</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Test every language you support</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Try one mixed-language question</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Confirm no superseded documents</a:t>
            </a:r>
            <a:endParaRPr lang="en-US" sz="850" dirty="0"/>
          </a:p>
          <a:p>
            <a:pPr marL="0" indent="0">
              <a:lnSpc>
                <a:spcPts val="13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come back</a:t>
            </a:r>
            <a:endParaRPr lang="en-US" sz="850" dirty="0"/>
          </a:p>
        </p:txBody>
      </p:sp>
      <p:sp>
        <p:nvSpPr>
          <p:cNvPr id="33" name="Re-ingest triggers panel"/>
          <p:cNvSpPr/>
          <p:nvPr/>
        </p:nvSpPr>
        <p:spPr>
          <a:xfrm>
            <a:off x="6208776" y="3127248"/>
            <a:ext cx="2523744" cy="1389888"/>
          </a:xfrm>
          <a:prstGeom prst="rect">
            <a:avLst/>
          </a:prstGeom>
          <a:solidFill>
            <a:srgbClr val="2A2622"/>
          </a:solidFill>
          <a:ln w="12700">
            <a:solidFill>
              <a:srgbClr val="3A332C"/>
            </a:solidFill>
            <a:prstDash val="solid"/>
          </a:ln>
        </p:spPr>
        <p:txBody>
          <a:bodyPr/>
          <a:lstStyle/>
          <a:p>
            <a:endParaRPr lang="en-US"/>
          </a:p>
        </p:txBody>
      </p:sp>
      <p:sp>
        <p:nvSpPr>
          <p:cNvPr id="34" name="Re-ingest triggers accent"/>
          <p:cNvSpPr/>
          <p:nvPr/>
        </p:nvSpPr>
        <p:spPr>
          <a:xfrm>
            <a:off x="6208776" y="3127248"/>
            <a:ext cx="2523744" cy="45720"/>
          </a:xfrm>
          <a:prstGeom prst="rect">
            <a:avLst/>
          </a:prstGeom>
          <a:solidFill>
            <a:srgbClr val="E2761F"/>
          </a:solidFill>
          <a:ln w="12700">
            <a:solidFill>
              <a:srgbClr val="E2761F"/>
            </a:solidFill>
            <a:prstDash val="solid"/>
          </a:ln>
        </p:spPr>
        <p:txBody>
          <a:bodyPr/>
          <a:lstStyle/>
          <a:p>
            <a:endParaRPr lang="en-US"/>
          </a:p>
        </p:txBody>
      </p:sp>
      <p:sp>
        <p:nvSpPr>
          <p:cNvPr id="35" name="Text 33"/>
          <p:cNvSpPr/>
          <p:nvPr/>
        </p:nvSpPr>
        <p:spPr>
          <a:xfrm>
            <a:off x="6400800" y="3236976"/>
            <a:ext cx="2157984"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8 · RE-INGEST WHEN</a:t>
            </a:r>
            <a:endParaRPr lang="en-US" sz="900" dirty="0"/>
          </a:p>
        </p:txBody>
      </p:sp>
      <p:sp>
        <p:nvSpPr>
          <p:cNvPr id="36" name="Text 34"/>
          <p:cNvSpPr/>
          <p:nvPr/>
        </p:nvSpPr>
        <p:spPr>
          <a:xfrm>
            <a:off x="6400800" y="3474720"/>
            <a:ext cx="2157984" cy="914400"/>
          </a:xfrm>
          <a:prstGeom prst="rect">
            <a:avLst/>
          </a:prstGeom>
          <a:noFill/>
        </p:spPr>
        <p:txBody>
          <a:bodyPr wrap="square" lIns="0" tIns="0" rIns="0" bIns="0" rtlCol="0" anchor="t"/>
          <a:lstStyle/>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Chunk size or overlap changes</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The embedding model changes</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Source documents are revised</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Retrieval quality drops on the</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standing test set</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BK</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BACKUP DRILL  ·  RUN MONTHLY  ·  A BACKUP YOU HAVE NEVER RESTORED IS ONLY A HOPE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Backup Drill</a:t>
            </a:r>
            <a:endParaRPr lang="en-US" sz="2600" dirty="0"/>
          </a:p>
        </p:txBody>
      </p:sp>
      <p:sp>
        <p:nvSpPr>
          <p:cNvPr id="8" name="List row"/>
          <p:cNvSpPr/>
          <p:nvPr/>
        </p:nvSpPr>
        <p:spPr>
          <a:xfrm>
            <a:off x="411480" y="1097280"/>
            <a:ext cx="4114800" cy="566928"/>
          </a:xfrm>
          <a:prstGeom prst="rect">
            <a:avLst/>
          </a:prstGeom>
          <a:solidFill>
            <a:srgbClr val="2A2622"/>
          </a:solidFill>
          <a:ln w="12700">
            <a:solidFill>
              <a:srgbClr val="3A332C"/>
            </a:solidFill>
            <a:prstDash val="solid"/>
          </a:ln>
        </p:spPr>
        <p:txBody>
          <a:bodyPr/>
          <a:lstStyle/>
          <a:p>
            <a:endParaRPr lang="en-US"/>
          </a:p>
        </p:txBody>
      </p:sp>
      <p:sp>
        <p:nvSpPr>
          <p:cNvPr id="9" name="List row accent"/>
          <p:cNvSpPr/>
          <p:nvPr/>
        </p:nvSpPr>
        <p:spPr>
          <a:xfrm>
            <a:off x="411480" y="1097280"/>
            <a:ext cx="45720" cy="566928"/>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30936" y="1097280"/>
            <a:ext cx="1097280" cy="56692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POSTGRES</a:t>
            </a:r>
            <a:endParaRPr lang="en-US" sz="1000" dirty="0"/>
          </a:p>
        </p:txBody>
      </p:sp>
      <p:sp>
        <p:nvSpPr>
          <p:cNvPr id="11" name="Text 9"/>
          <p:cNvSpPr/>
          <p:nvPr/>
        </p:nvSpPr>
        <p:spPr>
          <a:xfrm>
            <a:off x="1783080" y="1097280"/>
            <a:ext cx="2523744" cy="56692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Logical dump of the conversation and memory database</a:t>
            </a:r>
            <a:endParaRPr lang="en-US" sz="950" dirty="0"/>
          </a:p>
        </p:txBody>
      </p:sp>
      <p:sp>
        <p:nvSpPr>
          <p:cNvPr id="12" name="List row"/>
          <p:cNvSpPr/>
          <p:nvPr/>
        </p:nvSpPr>
        <p:spPr>
          <a:xfrm>
            <a:off x="411480" y="1737360"/>
            <a:ext cx="4114800" cy="566928"/>
          </a:xfrm>
          <a:prstGeom prst="rect">
            <a:avLst/>
          </a:prstGeom>
          <a:solidFill>
            <a:srgbClr val="2A2622"/>
          </a:solidFill>
          <a:ln w="12700">
            <a:solidFill>
              <a:srgbClr val="3A332C"/>
            </a:solidFill>
            <a:prstDash val="solid"/>
          </a:ln>
        </p:spPr>
        <p:txBody>
          <a:bodyPr/>
          <a:lstStyle/>
          <a:p>
            <a:endParaRPr lang="en-US"/>
          </a:p>
        </p:txBody>
      </p:sp>
      <p:sp>
        <p:nvSpPr>
          <p:cNvPr id="13" name="List row accent"/>
          <p:cNvSpPr/>
          <p:nvPr/>
        </p:nvSpPr>
        <p:spPr>
          <a:xfrm>
            <a:off x="411480" y="1737360"/>
            <a:ext cx="45720" cy="566928"/>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30936" y="1737360"/>
            <a:ext cx="1097280" cy="56692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QDRANT</a:t>
            </a:r>
            <a:endParaRPr lang="en-US" sz="1000" dirty="0"/>
          </a:p>
        </p:txBody>
      </p:sp>
      <p:sp>
        <p:nvSpPr>
          <p:cNvPr id="15" name="Text 13"/>
          <p:cNvSpPr/>
          <p:nvPr/>
        </p:nvSpPr>
        <p:spPr>
          <a:xfrm>
            <a:off x="1783080" y="1737360"/>
            <a:ext cx="2523744" cy="56692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Snapshot of each collection, plus the storage volume</a:t>
            </a:r>
            <a:endParaRPr lang="en-US" sz="950" dirty="0"/>
          </a:p>
        </p:txBody>
      </p:sp>
      <p:sp>
        <p:nvSpPr>
          <p:cNvPr id="16" name="List row"/>
          <p:cNvSpPr/>
          <p:nvPr/>
        </p:nvSpPr>
        <p:spPr>
          <a:xfrm>
            <a:off x="411480" y="2377440"/>
            <a:ext cx="4114800" cy="566928"/>
          </a:xfrm>
          <a:prstGeom prst="rect">
            <a:avLst/>
          </a:prstGeom>
          <a:solidFill>
            <a:srgbClr val="2A2622"/>
          </a:solidFill>
          <a:ln w="12700">
            <a:solidFill>
              <a:srgbClr val="3A332C"/>
            </a:solidFill>
            <a:prstDash val="solid"/>
          </a:ln>
        </p:spPr>
        <p:txBody>
          <a:bodyPr/>
          <a:lstStyle/>
          <a:p>
            <a:endParaRPr lang="en-US"/>
          </a:p>
        </p:txBody>
      </p:sp>
      <p:sp>
        <p:nvSpPr>
          <p:cNvPr id="17" name="List row accent"/>
          <p:cNvSpPr/>
          <p:nvPr/>
        </p:nvSpPr>
        <p:spPr>
          <a:xfrm>
            <a:off x="411480" y="2377440"/>
            <a:ext cx="45720" cy="566928"/>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30936" y="2377440"/>
            <a:ext cx="1097280" cy="56692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MODELS</a:t>
            </a:r>
            <a:endParaRPr lang="en-US" sz="1000" dirty="0"/>
          </a:p>
        </p:txBody>
      </p:sp>
      <p:sp>
        <p:nvSpPr>
          <p:cNvPr id="19" name="Text 17"/>
          <p:cNvSpPr/>
          <p:nvPr/>
        </p:nvSpPr>
        <p:spPr>
          <a:xfrm>
            <a:off x="1783080" y="2377440"/>
            <a:ext cx="2523744" cy="56692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Ollama model store — large, so weekly is enough</a:t>
            </a:r>
            <a:endParaRPr lang="en-US" sz="950" dirty="0"/>
          </a:p>
        </p:txBody>
      </p:sp>
      <p:sp>
        <p:nvSpPr>
          <p:cNvPr id="20" name="List row"/>
          <p:cNvSpPr/>
          <p:nvPr/>
        </p:nvSpPr>
        <p:spPr>
          <a:xfrm>
            <a:off x="411480" y="3017520"/>
            <a:ext cx="4114800" cy="566928"/>
          </a:xfrm>
          <a:prstGeom prst="rect">
            <a:avLst/>
          </a:prstGeom>
          <a:solidFill>
            <a:srgbClr val="2A2622"/>
          </a:solidFill>
          <a:ln w="12700">
            <a:solidFill>
              <a:srgbClr val="3A332C"/>
            </a:solidFill>
            <a:prstDash val="solid"/>
          </a:ln>
        </p:spPr>
        <p:txBody>
          <a:bodyPr/>
          <a:lstStyle/>
          <a:p>
            <a:endParaRPr lang="en-US"/>
          </a:p>
        </p:txBody>
      </p:sp>
      <p:sp>
        <p:nvSpPr>
          <p:cNvPr id="21" name="List row accent"/>
          <p:cNvSpPr/>
          <p:nvPr/>
        </p:nvSpPr>
        <p:spPr>
          <a:xfrm>
            <a:off x="411480" y="3017520"/>
            <a:ext cx="45720" cy="566928"/>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630936" y="3017520"/>
            <a:ext cx="1097280" cy="566928"/>
          </a:xfrm>
          <a:prstGeom prst="rect">
            <a:avLst/>
          </a:prstGeom>
          <a:noFill/>
        </p:spPr>
        <p:txBody>
          <a:bodyPr wrap="square" lIns="0" tIns="0" rIns="0" bIns="0" rtlCol="0" anchor="ctr"/>
          <a:lstStyle/>
          <a:p>
            <a:pPr marL="0" indent="0">
              <a:buNone/>
            </a:pPr>
            <a:r>
              <a:rPr lang="en-US" sz="1000" b="1" kern="0" spc="80" dirty="0">
                <a:solidFill>
                  <a:srgbClr val="F0A040"/>
                </a:solidFill>
                <a:latin typeface="Arial" panose="020B0604020202020204" pitchFamily="34" charset="0"/>
                <a:ea typeface="Arial" panose="020B0604020202020204" pitchFamily="34" charset="-122"/>
                <a:cs typeface="Arial" panose="020B0604020202020204" pitchFamily="34" charset="-120"/>
              </a:rPr>
              <a:t>CONFIG</a:t>
            </a:r>
            <a:endParaRPr lang="en-US" sz="1000" dirty="0"/>
          </a:p>
        </p:txBody>
      </p:sp>
      <p:sp>
        <p:nvSpPr>
          <p:cNvPr id="23" name="Text 21"/>
          <p:cNvSpPr/>
          <p:nvPr/>
        </p:nvSpPr>
        <p:spPr>
          <a:xfrm>
            <a:off x="1783080" y="3017520"/>
            <a:ext cx="2523744" cy="566928"/>
          </a:xfrm>
          <a:prstGeom prst="rect">
            <a:avLst/>
          </a:prstGeom>
          <a:noFill/>
        </p:spPr>
        <p:txBody>
          <a:bodyPr wrap="square" lIns="0" tIns="0" rIns="0" bIns="0" rtlCol="0" anchor="ctr"/>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compose file, .env, reverse proxy and firewall rules</a:t>
            </a:r>
            <a:endParaRPr lang="en-US" sz="950" dirty="0"/>
          </a:p>
        </p:txBody>
      </p:sp>
      <p:sp>
        <p:nvSpPr>
          <p:cNvPr id="24" name="Panel background"/>
          <p:cNvSpPr/>
          <p:nvPr/>
        </p:nvSpPr>
        <p:spPr>
          <a:xfrm>
            <a:off x="411480" y="3675888"/>
            <a:ext cx="4114800" cy="914400"/>
          </a:xfrm>
          <a:prstGeom prst="rect">
            <a:avLst/>
          </a:prstGeom>
          <a:solidFill>
            <a:srgbClr val="2A2622"/>
          </a:solidFill>
          <a:ln w="12700">
            <a:solidFill>
              <a:srgbClr val="3A332C"/>
            </a:solidFill>
            <a:prstDash val="solid"/>
          </a:ln>
        </p:spPr>
        <p:txBody>
          <a:bodyPr/>
          <a:lstStyle/>
          <a:p>
            <a:endParaRPr lang="en-US"/>
          </a:p>
        </p:txBody>
      </p:sp>
      <p:sp>
        <p:nvSpPr>
          <p:cNvPr id="25" name="Panel accent"/>
          <p:cNvSpPr/>
          <p:nvPr/>
        </p:nvSpPr>
        <p:spPr>
          <a:xfrm>
            <a:off x="411480" y="3675888"/>
            <a:ext cx="45720" cy="91440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30936" y="3767328"/>
            <a:ext cx="369417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KEEP THREE COPIES</a:t>
            </a:r>
            <a:endParaRPr lang="en-US" sz="1000" dirty="0"/>
          </a:p>
        </p:txBody>
      </p:sp>
      <p:sp>
        <p:nvSpPr>
          <p:cNvPr id="27" name="Text 25"/>
          <p:cNvSpPr/>
          <p:nvPr/>
        </p:nvSpPr>
        <p:spPr>
          <a:xfrm>
            <a:off x="630936" y="4041648"/>
            <a:ext cx="3694176" cy="438912"/>
          </a:xfrm>
          <a:prstGeom prst="rect">
            <a:avLst/>
          </a:prstGeom>
          <a:noFill/>
        </p:spPr>
        <p:txBody>
          <a:bodyPr wrap="square" lIns="0" tIns="0" rIns="0" bIns="0" rtlCol="0" anchor="t"/>
          <a:lstStyle/>
          <a:p>
            <a:pPr marL="0" indent="0">
              <a:buNone/>
            </a:pPr>
            <a:r>
              <a:rPr lang="en-US" sz="950" dirty="0">
                <a:solidFill>
                  <a:srgbClr val="C9BFB2"/>
                </a:solidFill>
                <a:latin typeface="Arial" panose="020B0604020202020204" pitchFamily="34" charset="0"/>
                <a:ea typeface="Arial" panose="020B0604020202020204" pitchFamily="34" charset="-122"/>
                <a:cs typeface="Arial" panose="020B0604020202020204" pitchFamily="34" charset="-120"/>
              </a:rPr>
              <a:t>Two on the server, one off the machine. Encrypt the off-machine copy — dumps contain everything the assistant has ever been told.</a:t>
            </a:r>
            <a:endParaRPr lang="en-US" sz="950" dirty="0"/>
          </a:p>
        </p:txBody>
      </p:sp>
      <p:sp>
        <p:nvSpPr>
          <p:cNvPr id="28" name="Text 26"/>
          <p:cNvSpPr/>
          <p:nvPr/>
        </p:nvSpPr>
        <p:spPr>
          <a:xfrm>
            <a:off x="4709160" y="1097280"/>
            <a:ext cx="4023360" cy="237744"/>
          </a:xfrm>
          <a:prstGeom prst="rect">
            <a:avLst/>
          </a:prstGeom>
          <a:noFill/>
        </p:spPr>
        <p:txBody>
          <a:bodyPr wrap="square" lIns="0" tIns="0" rIns="0" bIns="0" rtlCol="0" anchor="ctr"/>
          <a:lstStyle/>
          <a:p>
            <a:pPr marL="0" indent="0">
              <a:buNone/>
            </a:pPr>
            <a:r>
              <a:rPr lang="en-US" sz="1100" b="1" kern="0" spc="100" dirty="0">
                <a:solidFill>
                  <a:srgbClr val="E2761F"/>
                </a:solidFill>
                <a:latin typeface="Arial" panose="020B0604020202020204" pitchFamily="34" charset="0"/>
                <a:ea typeface="Arial" panose="020B0604020202020204" pitchFamily="34" charset="-122"/>
                <a:cs typeface="Arial" panose="020B0604020202020204" pitchFamily="34" charset="-120"/>
              </a:rPr>
              <a:t>MONTHLY RUN SHEET</a:t>
            </a:r>
            <a:endParaRPr lang="en-US" sz="1100" dirty="0"/>
          </a:p>
        </p:txBody>
      </p:sp>
      <p:sp>
        <p:nvSpPr>
          <p:cNvPr id="29" name="Command block background"/>
          <p:cNvSpPr/>
          <p:nvPr/>
        </p:nvSpPr>
        <p:spPr>
          <a:xfrm>
            <a:off x="4709160" y="1371600"/>
            <a:ext cx="4023360" cy="1316736"/>
          </a:xfrm>
          <a:prstGeom prst="rect">
            <a:avLst/>
          </a:prstGeom>
          <a:solidFill>
            <a:srgbClr val="141210"/>
          </a:solidFill>
          <a:ln w="12700">
            <a:solidFill>
              <a:srgbClr val="3A332C"/>
            </a:solidFill>
            <a:prstDash val="solid"/>
          </a:ln>
        </p:spPr>
        <p:txBody>
          <a:bodyPr/>
          <a:lstStyle/>
          <a:p>
            <a:endParaRPr lang="en-US"/>
          </a:p>
        </p:txBody>
      </p:sp>
      <p:sp>
        <p:nvSpPr>
          <p:cNvPr id="30" name="Command block accent"/>
          <p:cNvSpPr/>
          <p:nvPr/>
        </p:nvSpPr>
        <p:spPr>
          <a:xfrm>
            <a:off x="4709160" y="1371600"/>
            <a:ext cx="50292" cy="1316736"/>
          </a:xfrm>
          <a:prstGeom prst="rect">
            <a:avLst/>
          </a:prstGeom>
          <a:solidFill>
            <a:srgbClr val="E2761F"/>
          </a:solidFill>
          <a:ln w="12700">
            <a:solidFill>
              <a:srgbClr val="E2761F"/>
            </a:solidFill>
            <a:prstDash val="solid"/>
          </a:ln>
        </p:spPr>
        <p:txBody>
          <a:bodyPr/>
          <a:lstStyle/>
          <a:p>
            <a:endParaRPr lang="en-US"/>
          </a:p>
        </p:txBody>
      </p:sp>
      <p:sp>
        <p:nvSpPr>
          <p:cNvPr id="31" name="Text 29"/>
          <p:cNvSpPr/>
          <p:nvPr/>
        </p:nvSpPr>
        <p:spPr>
          <a:xfrm>
            <a:off x="4892040" y="1499616"/>
            <a:ext cx="3712464" cy="1060704"/>
          </a:xfrm>
          <a:prstGeom prst="rect">
            <a:avLst/>
          </a:prstGeom>
          <a:noFill/>
        </p:spPr>
        <p:txBody>
          <a:bodyPr wrap="square" lIns="0" tIns="0" rIns="0" bIns="0" rtlCol="0" anchor="t"/>
          <a:lstStyle/>
          <a:p>
            <a:pPr marL="0" indent="0">
              <a:lnSpc>
                <a:spcPts val="1320"/>
              </a:lnSpc>
              <a:buNone/>
            </a:pPr>
            <a:r>
              <a:rPr lang="en-US" sz="8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stop ollama</a:t>
            </a:r>
            <a:endParaRPr lang="en-US" sz="850" dirty="0"/>
          </a:p>
          <a:p>
            <a:pPr marL="0" indent="0">
              <a:lnSpc>
                <a:spcPts val="1320"/>
              </a:lnSpc>
              <a:buNone/>
            </a:pPr>
            <a:r>
              <a:rPr lang="en-US" sz="8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E8DCCB"/>
                </a:solidFill>
                <a:latin typeface="Consolas" panose="020B0609020204030204" pitchFamily="34" charset="0"/>
                <a:ea typeface="Consolas" panose="020B0609020204030204" pitchFamily="34" charset="-122"/>
                <a:cs typeface="Consolas" panose="020B0609020204030204" pitchFamily="34" charset="-120"/>
              </a:rPr>
              <a:t>pg_dump -U ai ai_memory &gt; db.sql</a:t>
            </a:r>
            <a:endParaRPr lang="en-US" sz="850" dirty="0"/>
          </a:p>
          <a:p>
            <a:pPr marL="0" indent="0">
              <a:lnSpc>
                <a:spcPts val="1320"/>
              </a:lnSpc>
              <a:buNone/>
            </a:pPr>
            <a:r>
              <a:rPr lang="en-US" sz="8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E8DCCB"/>
                </a:solidFill>
                <a:latin typeface="Consolas" panose="020B0609020204030204" pitchFamily="34" charset="0"/>
                <a:ea typeface="Consolas" panose="020B0609020204030204" pitchFamily="34" charset="-122"/>
                <a:cs typeface="Consolas" panose="020B0609020204030204" pitchFamily="34" charset="-120"/>
              </a:rPr>
              <a:t>curl -XPOST :6333/collections/knowledge/snapshots</a:t>
            </a:r>
            <a:endParaRPr lang="en-US" sz="850" dirty="0"/>
          </a:p>
          <a:p>
            <a:pPr marL="0" indent="0">
              <a:lnSpc>
                <a:spcPts val="1320"/>
              </a:lnSpc>
              <a:buNone/>
            </a:pPr>
            <a:r>
              <a:rPr lang="en-US" sz="8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E8DCCB"/>
                </a:solidFill>
                <a:latin typeface="Consolas" panose="020B0609020204030204" pitchFamily="34" charset="0"/>
                <a:ea typeface="Consolas" panose="020B0609020204030204" pitchFamily="34" charset="-122"/>
                <a:cs typeface="Consolas" panose="020B0609020204030204" pitchFamily="34" charset="-120"/>
              </a:rPr>
              <a:t>tar czf config.tgz .env compose.yml</a:t>
            </a:r>
            <a:endParaRPr lang="en-US" sz="850" dirty="0"/>
          </a:p>
          <a:p>
            <a:pPr marL="0" indent="0">
              <a:lnSpc>
                <a:spcPts val="1320"/>
              </a:lnSpc>
              <a:buNone/>
            </a:pPr>
            <a:r>
              <a:rPr lang="en-US" sz="85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start ollama</a:t>
            </a:r>
            <a:endParaRPr lang="en-US" sz="850" dirty="0"/>
          </a:p>
        </p:txBody>
      </p:sp>
      <p:sp>
        <p:nvSpPr>
          <p:cNvPr id="32" name="Panel background"/>
          <p:cNvSpPr/>
          <p:nvPr/>
        </p:nvSpPr>
        <p:spPr>
          <a:xfrm>
            <a:off x="4709160" y="2999232"/>
            <a:ext cx="4023360" cy="1481328"/>
          </a:xfrm>
          <a:prstGeom prst="rect">
            <a:avLst/>
          </a:prstGeom>
          <a:solidFill>
            <a:srgbClr val="2A2622"/>
          </a:solidFill>
          <a:ln w="12700">
            <a:solidFill>
              <a:srgbClr val="3A332C"/>
            </a:solidFill>
            <a:prstDash val="solid"/>
          </a:ln>
        </p:spPr>
        <p:txBody>
          <a:bodyPr/>
          <a:lstStyle/>
          <a:p>
            <a:endParaRPr lang="en-US"/>
          </a:p>
        </p:txBody>
      </p:sp>
      <p:sp>
        <p:nvSpPr>
          <p:cNvPr id="33" name="Panel accent"/>
          <p:cNvSpPr/>
          <p:nvPr/>
        </p:nvSpPr>
        <p:spPr>
          <a:xfrm>
            <a:off x="4709160" y="2999232"/>
            <a:ext cx="45720" cy="1481328"/>
          </a:xfrm>
          <a:prstGeom prst="rect">
            <a:avLst/>
          </a:prstGeom>
          <a:solidFill>
            <a:srgbClr val="E2761F"/>
          </a:solidFill>
          <a:ln w="12700">
            <a:solidFill>
              <a:srgbClr val="E2761F"/>
            </a:solidFill>
            <a:prstDash val="solid"/>
          </a:ln>
        </p:spPr>
        <p:txBody>
          <a:bodyPr/>
          <a:lstStyle/>
          <a:p>
            <a:endParaRPr lang="en-US"/>
          </a:p>
        </p:txBody>
      </p:sp>
      <p:sp>
        <p:nvSpPr>
          <p:cNvPr id="34" name="Text 32"/>
          <p:cNvSpPr/>
          <p:nvPr/>
        </p:nvSpPr>
        <p:spPr>
          <a:xfrm>
            <a:off x="4928616" y="3090672"/>
            <a:ext cx="3602736" cy="237744"/>
          </a:xfrm>
          <a:prstGeom prst="rect">
            <a:avLst/>
          </a:prstGeom>
          <a:noFill/>
        </p:spPr>
        <p:txBody>
          <a:bodyPr wrap="square" lIns="0" tIns="0" rIns="0" bIns="0" rtlCol="0" anchor="ctr"/>
          <a:lstStyle/>
          <a:p>
            <a:pPr marL="0" indent="0">
              <a:buNone/>
            </a:pPr>
            <a:r>
              <a:rPr lang="en-US" sz="10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RECORD EVERY RUN</a:t>
            </a:r>
            <a:endParaRPr lang="en-US" sz="1000" dirty="0"/>
          </a:p>
        </p:txBody>
      </p:sp>
      <p:sp>
        <p:nvSpPr>
          <p:cNvPr id="35" name="Text 33"/>
          <p:cNvSpPr/>
          <p:nvPr/>
        </p:nvSpPr>
        <p:spPr>
          <a:xfrm>
            <a:off x="4928616" y="3364992"/>
            <a:ext cx="3602736" cy="100584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Date and operator</a:t>
            </a:r>
            <a:endParaRPr lang="en-US" sz="900" dirty="0"/>
          </a:p>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Size of each artefact</a:t>
            </a:r>
            <a:endParaRPr lang="en-US" sz="900" dirty="0"/>
          </a:p>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Where the off-machine copy went</a:t>
            </a:r>
            <a:endParaRPr lang="en-US" sz="900" dirty="0"/>
          </a:p>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How long the whole run took</a:t>
            </a:r>
            <a:endParaRPr lang="en-US" sz="900" dirty="0"/>
          </a:p>
          <a:p>
            <a:pPr marL="0" indent="0">
              <a:buNone/>
            </a:pPr>
            <a:endParaRPr lang="en-US" sz="900" dirty="0"/>
          </a:p>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That last number is your real recovery window.</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RS</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RESTORE DRILL  ·  RUN QUARTERLY ON A SCRATCH MACHINE, NEVER ON PRODUCTION</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Restore Drill</a:t>
            </a:r>
            <a:endParaRPr lang="en-US" sz="2600" dirty="0"/>
          </a:p>
        </p:txBody>
      </p:sp>
      <p:sp>
        <p:nvSpPr>
          <p:cNvPr id="8" name="Card"/>
          <p:cNvSpPr/>
          <p:nvPr/>
        </p:nvSpPr>
        <p:spPr>
          <a:xfrm>
            <a:off x="411480" y="1097280"/>
            <a:ext cx="4114800" cy="877824"/>
          </a:xfrm>
          <a:prstGeom prst="rect">
            <a:avLst/>
          </a:prstGeom>
          <a:solidFill>
            <a:srgbClr val="2A2622"/>
          </a:solidFill>
          <a:ln w="12700">
            <a:solidFill>
              <a:srgbClr val="3A332C"/>
            </a:solidFill>
            <a:prstDash val="solid"/>
          </a:ln>
        </p:spPr>
        <p:txBody>
          <a:bodyPr/>
          <a:lstStyle/>
          <a:p>
            <a:endParaRPr lang="en-US"/>
          </a:p>
        </p:txBody>
      </p:sp>
      <p:sp>
        <p:nvSpPr>
          <p:cNvPr id="9" name="Card accent"/>
          <p:cNvSpPr/>
          <p:nvPr/>
        </p:nvSpPr>
        <p:spPr>
          <a:xfrm>
            <a:off x="411480" y="1097280"/>
            <a:ext cx="4114800"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12648" y="1225296"/>
            <a:ext cx="371246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1 — Build a clean host</a:t>
            </a:r>
            <a:endParaRPr lang="en-US" sz="1050" dirty="0"/>
          </a:p>
        </p:txBody>
      </p:sp>
      <p:sp>
        <p:nvSpPr>
          <p:cNvPr id="11" name="Text 9"/>
          <p:cNvSpPr/>
          <p:nvPr/>
        </p:nvSpPr>
        <p:spPr>
          <a:xfrm>
            <a:off x="612648" y="1499616"/>
            <a:ext cx="3712464" cy="36576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Fresh VM, Docker installed, nothing copied from the live server.</a:t>
            </a:r>
            <a:endParaRPr lang="en-US" sz="900" dirty="0"/>
          </a:p>
        </p:txBody>
      </p:sp>
      <p:sp>
        <p:nvSpPr>
          <p:cNvPr id="12" name="Card"/>
          <p:cNvSpPr/>
          <p:nvPr/>
        </p:nvSpPr>
        <p:spPr>
          <a:xfrm>
            <a:off x="4663440" y="1097280"/>
            <a:ext cx="4114800" cy="877824"/>
          </a:xfrm>
          <a:prstGeom prst="rect">
            <a:avLst/>
          </a:prstGeom>
          <a:solidFill>
            <a:srgbClr val="2A2622"/>
          </a:solidFill>
          <a:ln w="12700">
            <a:solidFill>
              <a:srgbClr val="3A332C"/>
            </a:solidFill>
            <a:prstDash val="solid"/>
          </a:ln>
        </p:spPr>
        <p:txBody>
          <a:bodyPr/>
          <a:lstStyle/>
          <a:p>
            <a:endParaRPr lang="en-US"/>
          </a:p>
        </p:txBody>
      </p:sp>
      <p:sp>
        <p:nvSpPr>
          <p:cNvPr id="13" name="Card accent"/>
          <p:cNvSpPr/>
          <p:nvPr/>
        </p:nvSpPr>
        <p:spPr>
          <a:xfrm>
            <a:off x="4663440" y="1097280"/>
            <a:ext cx="411480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4864608" y="1225296"/>
            <a:ext cx="371246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2 — Restore config first</a:t>
            </a:r>
            <a:endParaRPr lang="en-US" sz="1050" dirty="0"/>
          </a:p>
        </p:txBody>
      </p:sp>
      <p:sp>
        <p:nvSpPr>
          <p:cNvPr id="15" name="Text 13"/>
          <p:cNvSpPr/>
          <p:nvPr/>
        </p:nvSpPr>
        <p:spPr>
          <a:xfrm>
            <a:off x="4864608" y="1499616"/>
            <a:ext cx="3712464" cy="36576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Unpack the config archive, then bring up the stack with no data.</a:t>
            </a:r>
            <a:endParaRPr lang="en-US" sz="900" dirty="0"/>
          </a:p>
        </p:txBody>
      </p:sp>
      <p:sp>
        <p:nvSpPr>
          <p:cNvPr id="16" name="Card"/>
          <p:cNvSpPr/>
          <p:nvPr/>
        </p:nvSpPr>
        <p:spPr>
          <a:xfrm>
            <a:off x="411480" y="2075688"/>
            <a:ext cx="4114800" cy="877824"/>
          </a:xfrm>
          <a:prstGeom prst="rect">
            <a:avLst/>
          </a:prstGeom>
          <a:solidFill>
            <a:srgbClr val="2A2622"/>
          </a:solidFill>
          <a:ln w="12700">
            <a:solidFill>
              <a:srgbClr val="3A332C"/>
            </a:solidFill>
            <a:prstDash val="solid"/>
          </a:ln>
        </p:spPr>
        <p:txBody>
          <a:bodyPr/>
          <a:lstStyle/>
          <a:p>
            <a:endParaRPr lang="en-US"/>
          </a:p>
        </p:txBody>
      </p:sp>
      <p:sp>
        <p:nvSpPr>
          <p:cNvPr id="17" name="Card accent"/>
          <p:cNvSpPr/>
          <p:nvPr/>
        </p:nvSpPr>
        <p:spPr>
          <a:xfrm>
            <a:off x="411480" y="2075688"/>
            <a:ext cx="411480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612648" y="2203704"/>
            <a:ext cx="371246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3 — Load the database</a:t>
            </a:r>
            <a:endParaRPr lang="en-US" sz="1050" dirty="0"/>
          </a:p>
        </p:txBody>
      </p:sp>
      <p:sp>
        <p:nvSpPr>
          <p:cNvPr id="19" name="Text 17"/>
          <p:cNvSpPr/>
          <p:nvPr/>
        </p:nvSpPr>
        <p:spPr>
          <a:xfrm>
            <a:off x="612648" y="2478024"/>
            <a:ext cx="3712464" cy="36576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Create the empty database, then replay the dump into it.</a:t>
            </a:r>
            <a:endParaRPr lang="en-US" sz="900" dirty="0"/>
          </a:p>
        </p:txBody>
      </p:sp>
      <p:sp>
        <p:nvSpPr>
          <p:cNvPr id="20" name="Card"/>
          <p:cNvSpPr/>
          <p:nvPr/>
        </p:nvSpPr>
        <p:spPr>
          <a:xfrm>
            <a:off x="4663440" y="2075688"/>
            <a:ext cx="4114800" cy="877824"/>
          </a:xfrm>
          <a:prstGeom prst="rect">
            <a:avLst/>
          </a:prstGeom>
          <a:solidFill>
            <a:srgbClr val="2A2622"/>
          </a:solidFill>
          <a:ln w="12700">
            <a:solidFill>
              <a:srgbClr val="3A332C"/>
            </a:solidFill>
            <a:prstDash val="solid"/>
          </a:ln>
        </p:spPr>
        <p:txBody>
          <a:bodyPr/>
          <a:lstStyle/>
          <a:p>
            <a:endParaRPr lang="en-US"/>
          </a:p>
        </p:txBody>
      </p:sp>
      <p:sp>
        <p:nvSpPr>
          <p:cNvPr id="21" name="Card accent"/>
          <p:cNvSpPr/>
          <p:nvPr/>
        </p:nvSpPr>
        <p:spPr>
          <a:xfrm>
            <a:off x="4663440" y="2075688"/>
            <a:ext cx="411480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4864608" y="2203704"/>
            <a:ext cx="371246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4 — Recover the vectors</a:t>
            </a:r>
            <a:endParaRPr lang="en-US" sz="1050" dirty="0"/>
          </a:p>
        </p:txBody>
      </p:sp>
      <p:sp>
        <p:nvSpPr>
          <p:cNvPr id="23" name="Text 21"/>
          <p:cNvSpPr/>
          <p:nvPr/>
        </p:nvSpPr>
        <p:spPr>
          <a:xfrm>
            <a:off x="4864608" y="2478024"/>
            <a:ext cx="3712464" cy="36576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Restore the Qdrant snapshot and confirm the point count matches.</a:t>
            </a:r>
            <a:endParaRPr lang="en-US" sz="900" dirty="0"/>
          </a:p>
        </p:txBody>
      </p:sp>
      <p:sp>
        <p:nvSpPr>
          <p:cNvPr id="24" name="Card"/>
          <p:cNvSpPr/>
          <p:nvPr/>
        </p:nvSpPr>
        <p:spPr>
          <a:xfrm>
            <a:off x="411480" y="3054096"/>
            <a:ext cx="4114800" cy="877824"/>
          </a:xfrm>
          <a:prstGeom prst="rect">
            <a:avLst/>
          </a:prstGeom>
          <a:solidFill>
            <a:srgbClr val="2A2622"/>
          </a:solidFill>
          <a:ln w="12700">
            <a:solidFill>
              <a:srgbClr val="3A332C"/>
            </a:solidFill>
            <a:prstDash val="solid"/>
          </a:ln>
        </p:spPr>
        <p:txBody>
          <a:bodyPr/>
          <a:lstStyle/>
          <a:p>
            <a:endParaRPr lang="en-US"/>
          </a:p>
        </p:txBody>
      </p:sp>
      <p:sp>
        <p:nvSpPr>
          <p:cNvPr id="25" name="Card accent"/>
          <p:cNvSpPr/>
          <p:nvPr/>
        </p:nvSpPr>
        <p:spPr>
          <a:xfrm>
            <a:off x="411480" y="3054096"/>
            <a:ext cx="4114800"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12648" y="3182112"/>
            <a:ext cx="371246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5 — Ask the test questions</a:t>
            </a:r>
            <a:endParaRPr lang="en-US" sz="1050" dirty="0"/>
          </a:p>
        </p:txBody>
      </p:sp>
      <p:sp>
        <p:nvSpPr>
          <p:cNvPr id="27" name="Text 25"/>
          <p:cNvSpPr/>
          <p:nvPr/>
        </p:nvSpPr>
        <p:spPr>
          <a:xfrm>
            <a:off x="612648" y="3456432"/>
            <a:ext cx="3712464" cy="36576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Run the standing question set — retrieval and memory must both answer.</a:t>
            </a:r>
            <a:endParaRPr lang="en-US" sz="900" dirty="0"/>
          </a:p>
        </p:txBody>
      </p:sp>
      <p:sp>
        <p:nvSpPr>
          <p:cNvPr id="28" name="Card"/>
          <p:cNvSpPr/>
          <p:nvPr/>
        </p:nvSpPr>
        <p:spPr>
          <a:xfrm>
            <a:off x="4663440" y="3054096"/>
            <a:ext cx="4114800" cy="877824"/>
          </a:xfrm>
          <a:prstGeom prst="rect">
            <a:avLst/>
          </a:prstGeom>
          <a:solidFill>
            <a:srgbClr val="2A2622"/>
          </a:solidFill>
          <a:ln w="12700">
            <a:solidFill>
              <a:srgbClr val="3A332C"/>
            </a:solidFill>
            <a:prstDash val="solid"/>
          </a:ln>
        </p:spPr>
        <p:txBody>
          <a:bodyPr/>
          <a:lstStyle/>
          <a:p>
            <a:endParaRPr lang="en-US"/>
          </a:p>
        </p:txBody>
      </p:sp>
      <p:sp>
        <p:nvSpPr>
          <p:cNvPr id="29" name="Card accent"/>
          <p:cNvSpPr/>
          <p:nvPr/>
        </p:nvSpPr>
        <p:spPr>
          <a:xfrm>
            <a:off x="4663440" y="3054096"/>
            <a:ext cx="4114800"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4864608" y="3182112"/>
            <a:ext cx="3712464" cy="237744"/>
          </a:xfrm>
          <a:prstGeom prst="rect">
            <a:avLst/>
          </a:prstGeom>
          <a:noFill/>
        </p:spPr>
        <p:txBody>
          <a:bodyPr wrap="square" lIns="0" tIns="0" rIns="0" bIns="0" rtlCol="0" anchor="ctr"/>
          <a:lstStyle/>
          <a:p>
            <a:pPr marL="0" indent="0">
              <a:buNone/>
            </a:pPr>
            <a:r>
              <a:rPr lang="en-US" sz="1050" b="1" kern="0" spc="60" dirty="0">
                <a:solidFill>
                  <a:srgbClr val="F5EDE2"/>
                </a:solidFill>
                <a:latin typeface="Arial" panose="020B0604020202020204" pitchFamily="34" charset="0"/>
                <a:ea typeface="Arial" panose="020B0604020202020204" pitchFamily="34" charset="-122"/>
                <a:cs typeface="Arial" panose="020B0604020202020204" pitchFamily="34" charset="-120"/>
              </a:rPr>
              <a:t>6 — Write down the time</a:t>
            </a:r>
            <a:endParaRPr lang="en-US" sz="1050" dirty="0"/>
          </a:p>
        </p:txBody>
      </p:sp>
      <p:sp>
        <p:nvSpPr>
          <p:cNvPr id="31" name="Text 29"/>
          <p:cNvSpPr/>
          <p:nvPr/>
        </p:nvSpPr>
        <p:spPr>
          <a:xfrm>
            <a:off x="4864608" y="3456432"/>
            <a:ext cx="3712464" cy="365760"/>
          </a:xfrm>
          <a:prstGeom prst="rect">
            <a:avLst/>
          </a:prstGeom>
          <a:noFill/>
        </p:spPr>
        <p:txBody>
          <a:bodyPr wrap="square" lIns="0" tIns="0" rIns="0" bIns="0" rtlCol="0" anchor="t"/>
          <a:lstStyle/>
          <a:p>
            <a:pPr marL="0" indent="0">
              <a:buNone/>
            </a:pPr>
            <a:r>
              <a:rPr lang="en-US" sz="900" dirty="0">
                <a:solidFill>
                  <a:srgbClr val="C9BFB2"/>
                </a:solidFill>
                <a:latin typeface="Arial" panose="020B0604020202020204" pitchFamily="34" charset="0"/>
                <a:ea typeface="Arial" panose="020B0604020202020204" pitchFamily="34" charset="-122"/>
                <a:cs typeface="Arial" panose="020B0604020202020204" pitchFamily="34" charset="-120"/>
              </a:rPr>
              <a:t>Elapsed time from bare host to working answer is your recovery time.</a:t>
            </a:r>
            <a:endParaRPr lang="en-US" sz="900" dirty="0"/>
          </a:p>
        </p:txBody>
      </p:sp>
      <p:sp>
        <p:nvSpPr>
          <p:cNvPr id="32" name="Command block background"/>
          <p:cNvSpPr/>
          <p:nvPr/>
        </p:nvSpPr>
        <p:spPr>
          <a:xfrm>
            <a:off x="411480" y="4005072"/>
            <a:ext cx="8321040" cy="534924"/>
          </a:xfrm>
          <a:prstGeom prst="rect">
            <a:avLst/>
          </a:prstGeom>
          <a:solidFill>
            <a:srgbClr val="141210"/>
          </a:solidFill>
          <a:ln w="12700">
            <a:solidFill>
              <a:srgbClr val="3A332C"/>
            </a:solidFill>
            <a:prstDash val="solid"/>
          </a:ln>
        </p:spPr>
        <p:txBody>
          <a:bodyPr/>
          <a:lstStyle/>
          <a:p>
            <a:endParaRPr lang="en-US"/>
          </a:p>
        </p:txBody>
      </p:sp>
      <p:sp>
        <p:nvSpPr>
          <p:cNvPr id="33" name="Command block accent"/>
          <p:cNvSpPr/>
          <p:nvPr/>
        </p:nvSpPr>
        <p:spPr>
          <a:xfrm>
            <a:off x="411480" y="4005072"/>
            <a:ext cx="50292" cy="534924"/>
          </a:xfrm>
          <a:prstGeom prst="rect">
            <a:avLst/>
          </a:prstGeom>
          <a:solidFill>
            <a:srgbClr val="E2761F"/>
          </a:solidFill>
          <a:ln w="12700">
            <a:solidFill>
              <a:srgbClr val="E2761F"/>
            </a:solidFill>
            <a:prstDash val="solid"/>
          </a:ln>
        </p:spPr>
        <p:txBody>
          <a:bodyPr/>
          <a:lstStyle/>
          <a:p>
            <a:endParaRPr lang="en-US"/>
          </a:p>
        </p:txBody>
      </p:sp>
      <p:sp>
        <p:nvSpPr>
          <p:cNvPr id="34" name="Text 32"/>
          <p:cNvSpPr/>
          <p:nvPr/>
        </p:nvSpPr>
        <p:spPr>
          <a:xfrm>
            <a:off x="594360" y="4133088"/>
            <a:ext cx="8010144" cy="278892"/>
          </a:xfrm>
          <a:prstGeom prst="rect">
            <a:avLst/>
          </a:prstGeom>
          <a:noFill/>
        </p:spPr>
        <p:txBody>
          <a:bodyPr wrap="square" lIns="0" tIns="0" rIns="0" bIns="0" rtlCol="0" anchor="t"/>
          <a:lstStyle/>
          <a:p>
            <a:pPr marL="0" indent="0">
              <a:lnSpc>
                <a:spcPts val="1395"/>
              </a:lnSpc>
              <a:buNone/>
            </a:pPr>
            <a:r>
              <a:rPr lang="en-US" sz="900" dirty="0">
                <a:solidFill>
                  <a:srgbClr val="F0A040"/>
                </a:solidFill>
                <a:latin typeface="Consolas" panose="020B0609020204030204" pitchFamily="34" charset="0"/>
                <a:ea typeface="Consolas" panose="020B0609020204030204" pitchFamily="34" charset="-122"/>
                <a:cs typeface="Consolas" panose="020B0609020204030204" pitchFamily="34" charset="-120"/>
              </a:rPr>
              <a:t>$ </a:t>
            </a:r>
            <a:r>
              <a:rPr lang="en-US" sz="900" dirty="0">
                <a:solidFill>
                  <a:srgbClr val="E8DCCB"/>
                </a:solidFill>
                <a:latin typeface="Consolas" panose="020B0609020204030204" pitchFamily="34" charset="0"/>
                <a:ea typeface="Consolas" panose="020B0609020204030204" pitchFamily="34" charset="-122"/>
                <a:cs typeface="Consolas" panose="020B0609020204030204" pitchFamily="34" charset="-120"/>
              </a:rPr>
              <a:t>psql -U ai -d ai_memory &lt; db.sql   # then verify: SELECT count(*) FROM messages;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dirty="0">
                <a:solidFill>
                  <a:srgbClr val="1E1B18"/>
                </a:solidFill>
                <a:latin typeface="Arial" panose="020B0604020202020204" pitchFamily="34" charset="0"/>
                <a:ea typeface="Arial" panose="020B0604020202020204" pitchFamily="34" charset="-122"/>
                <a:cs typeface="Arial" panose="020B0604020202020204" pitchFamily="34" charset="-120"/>
              </a:rPr>
              <a:t>W1</a:t>
            </a:r>
            <a:endParaRPr lang="en-US" sz="2200" dirty="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dirty="0">
                <a:solidFill>
                  <a:srgbClr val="7E7367"/>
                </a:solidFill>
                <a:latin typeface="Arial" panose="020B0604020202020204" pitchFamily="34" charset="0"/>
                <a:ea typeface="Arial" panose="020B0604020202020204" pitchFamily="34" charset="-122"/>
                <a:cs typeface="Arial" panose="020B0604020202020204" pitchFamily="34" charset="-120"/>
              </a:rPr>
              <a:t>FIRST WEEK OF OPERATION  ·  ONE PAGE  ·  TICK IT OFF BEFORE YOU CALL IT LIVE</a:t>
            </a:r>
            <a:endParaRPr lang="en-US" sz="900" dirty="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dirty="0">
                <a:solidFill>
                  <a:srgbClr val="F5EDE2"/>
                </a:solidFill>
                <a:latin typeface="Arial" panose="020B0604020202020204" pitchFamily="34" charset="0"/>
                <a:ea typeface="Arial" panose="020B0604020202020204" pitchFamily="34" charset="-122"/>
                <a:cs typeface="Arial" panose="020B0604020202020204" pitchFamily="34" charset="-120"/>
              </a:rPr>
              <a:t>First Week of Operation</a:t>
            </a:r>
            <a:endParaRPr lang="en-US" sz="2600" dirty="0"/>
          </a:p>
        </p:txBody>
      </p:sp>
      <p:sp>
        <p:nvSpPr>
          <p:cNvPr id="8" name="Day one panel"/>
          <p:cNvSpPr/>
          <p:nvPr/>
        </p:nvSpPr>
        <p:spPr>
          <a:xfrm>
            <a:off x="411480" y="1078992"/>
            <a:ext cx="2743200" cy="1572768"/>
          </a:xfrm>
          <a:prstGeom prst="rect">
            <a:avLst/>
          </a:prstGeom>
          <a:solidFill>
            <a:srgbClr val="2A2622"/>
          </a:solidFill>
          <a:ln w="12700">
            <a:solidFill>
              <a:srgbClr val="3A332C"/>
            </a:solidFill>
            <a:prstDash val="solid"/>
          </a:ln>
        </p:spPr>
        <p:txBody>
          <a:bodyPr/>
          <a:lstStyle/>
          <a:p>
            <a:endParaRPr lang="en-US"/>
          </a:p>
        </p:txBody>
      </p:sp>
      <p:sp>
        <p:nvSpPr>
          <p:cNvPr id="9" name="Day one accent"/>
          <p:cNvSpPr/>
          <p:nvPr/>
        </p:nvSpPr>
        <p:spPr>
          <a:xfrm>
            <a:off x="411480"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03504" y="1188720"/>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DAY 1 · PROVE IT WORKS</a:t>
            </a:r>
            <a:endParaRPr lang="en-US" sz="900" dirty="0"/>
          </a:p>
        </p:txBody>
      </p:sp>
      <p:sp>
        <p:nvSpPr>
          <p:cNvPr id="11" name="Text 9"/>
          <p:cNvSpPr/>
          <p:nvPr/>
        </p:nvSpPr>
        <p:spPr>
          <a:xfrm>
            <a:off x="603504" y="1444752"/>
            <a:ext cx="2377440" cy="1097280"/>
          </a:xfrm>
          <a:prstGeom prst="rect">
            <a:avLst/>
          </a:prstGeom>
          <a:noFill/>
        </p:spPr>
        <p:txBody>
          <a:bodyPr wrap="square" lIns="0" tIns="0" rIns="0" bIns="0" rtlCol="0" anchor="t"/>
          <a:lstStyle/>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All containers restart on reboot</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Model answers a plain question</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Retrieval returns real sources</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Firewall blocks the database port</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Admin password changed</a:t>
            </a:r>
            <a:endParaRPr lang="en-US" sz="850" dirty="0"/>
          </a:p>
        </p:txBody>
      </p:sp>
      <p:sp>
        <p:nvSpPr>
          <p:cNvPr id="12" name="Days two to three panel"/>
          <p:cNvSpPr/>
          <p:nvPr/>
        </p:nvSpPr>
        <p:spPr>
          <a:xfrm>
            <a:off x="411480" y="2761488"/>
            <a:ext cx="2743200" cy="1737360"/>
          </a:xfrm>
          <a:prstGeom prst="rect">
            <a:avLst/>
          </a:prstGeom>
          <a:solidFill>
            <a:srgbClr val="2A2622"/>
          </a:solidFill>
          <a:ln w="12700">
            <a:solidFill>
              <a:srgbClr val="3A332C"/>
            </a:solidFill>
            <a:prstDash val="solid"/>
          </a:ln>
        </p:spPr>
        <p:txBody>
          <a:bodyPr/>
          <a:lstStyle/>
          <a:p>
            <a:endParaRPr lang="en-US"/>
          </a:p>
        </p:txBody>
      </p:sp>
      <p:sp>
        <p:nvSpPr>
          <p:cNvPr id="13" name="Days two to three accent"/>
          <p:cNvSpPr/>
          <p:nvPr/>
        </p:nvSpPr>
        <p:spPr>
          <a:xfrm>
            <a:off x="411480" y="2761488"/>
            <a:ext cx="274320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03504" y="2871216"/>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DAYS 2-3 · FIRST CONTENT</a:t>
            </a:r>
            <a:endParaRPr lang="en-US" sz="900" dirty="0"/>
          </a:p>
        </p:txBody>
      </p:sp>
      <p:sp>
        <p:nvSpPr>
          <p:cNvPr id="15" name="Text 13"/>
          <p:cNvSpPr/>
          <p:nvPr/>
        </p:nvSpPr>
        <p:spPr>
          <a:xfrm>
            <a:off x="603504" y="3127248"/>
            <a:ext cx="2377440" cy="1243584"/>
          </a:xfrm>
          <a:prstGeom prst="rect">
            <a:avLst/>
          </a:prstGeom>
          <a:noFill/>
        </p:spPr>
        <p:txBody>
          <a:bodyPr wrap="square" lIns="0" tIns="0" rIns="0" bIns="0" rtlCol="0" anchor="t"/>
          <a:lstStyle/>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Ingest one small trusted source</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Run the standing question set</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Tune chunk size if answers wander</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Record the settings you settled on</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Invite two pilot users, not ten</a:t>
            </a:r>
            <a:endParaRPr lang="en-US" sz="850" dirty="0"/>
          </a:p>
        </p:txBody>
      </p:sp>
      <p:sp>
        <p:nvSpPr>
          <p:cNvPr id="16" name="Days four to five panel"/>
          <p:cNvSpPr/>
          <p:nvPr/>
        </p:nvSpPr>
        <p:spPr>
          <a:xfrm>
            <a:off x="3310128" y="1078992"/>
            <a:ext cx="2743200" cy="1572768"/>
          </a:xfrm>
          <a:prstGeom prst="rect">
            <a:avLst/>
          </a:prstGeom>
          <a:solidFill>
            <a:srgbClr val="2A2622"/>
          </a:solidFill>
          <a:ln w="12700">
            <a:solidFill>
              <a:srgbClr val="3A332C"/>
            </a:solidFill>
            <a:prstDash val="solid"/>
          </a:ln>
        </p:spPr>
        <p:txBody>
          <a:bodyPr/>
          <a:lstStyle/>
          <a:p>
            <a:endParaRPr lang="en-US"/>
          </a:p>
        </p:txBody>
      </p:sp>
      <p:sp>
        <p:nvSpPr>
          <p:cNvPr id="17" name="Days four to five accent"/>
          <p:cNvSpPr/>
          <p:nvPr/>
        </p:nvSpPr>
        <p:spPr>
          <a:xfrm>
            <a:off x="3310128"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3502152" y="1188720"/>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DAYS 4-5 · WATCH IT RUN</a:t>
            </a:r>
            <a:endParaRPr lang="en-US" sz="900" dirty="0"/>
          </a:p>
        </p:txBody>
      </p:sp>
      <p:sp>
        <p:nvSpPr>
          <p:cNvPr id="19" name="Text 17"/>
          <p:cNvSpPr/>
          <p:nvPr/>
        </p:nvSpPr>
        <p:spPr>
          <a:xfrm>
            <a:off x="3502152" y="1444752"/>
            <a:ext cx="2377440" cy="1097280"/>
          </a:xfrm>
          <a:prstGeom prst="rect">
            <a:avLst/>
          </a:prstGeom>
          <a:noFill/>
        </p:spPr>
        <p:txBody>
          <a:bodyPr wrap="square" lIns="0" tIns="0" rIns="0" bIns="0" rtlCol="0" anchor="t"/>
          <a:lstStyle/>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Check memory and disk headroom</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Read the container logs daily</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Note every slow or wrong answer</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Confirm no port drifted open</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Take the first full backup</a:t>
            </a:r>
            <a:endParaRPr lang="en-US" sz="850" dirty="0"/>
          </a:p>
        </p:txBody>
      </p:sp>
      <p:sp>
        <p:nvSpPr>
          <p:cNvPr id="20" name="Days six to seven panel"/>
          <p:cNvSpPr/>
          <p:nvPr/>
        </p:nvSpPr>
        <p:spPr>
          <a:xfrm>
            <a:off x="3310128" y="2761488"/>
            <a:ext cx="2743200" cy="1737360"/>
          </a:xfrm>
          <a:prstGeom prst="rect">
            <a:avLst/>
          </a:prstGeom>
          <a:solidFill>
            <a:srgbClr val="2A2622"/>
          </a:solidFill>
          <a:ln w="12700">
            <a:solidFill>
              <a:srgbClr val="3A332C"/>
            </a:solidFill>
            <a:prstDash val="solid"/>
          </a:ln>
        </p:spPr>
        <p:txBody>
          <a:bodyPr/>
          <a:lstStyle/>
          <a:p>
            <a:endParaRPr lang="en-US"/>
          </a:p>
        </p:txBody>
      </p:sp>
      <p:sp>
        <p:nvSpPr>
          <p:cNvPr id="21" name="Days six to seven accent"/>
          <p:cNvSpPr/>
          <p:nvPr/>
        </p:nvSpPr>
        <p:spPr>
          <a:xfrm>
            <a:off x="3310128" y="2761488"/>
            <a:ext cx="274320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3502152" y="2871216"/>
            <a:ext cx="2377440"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DAYS 6-7 · MAKE IT ROUTINE</a:t>
            </a:r>
            <a:endParaRPr lang="en-US" sz="900" dirty="0"/>
          </a:p>
        </p:txBody>
      </p:sp>
      <p:sp>
        <p:nvSpPr>
          <p:cNvPr id="23" name="Text 21"/>
          <p:cNvSpPr/>
          <p:nvPr/>
        </p:nvSpPr>
        <p:spPr>
          <a:xfrm>
            <a:off x="3502152" y="3127248"/>
            <a:ext cx="2377440" cy="1243584"/>
          </a:xfrm>
          <a:prstGeom prst="rect">
            <a:avLst/>
          </a:prstGeom>
          <a:noFill/>
        </p:spPr>
        <p:txBody>
          <a:bodyPr wrap="square" lIns="0" tIns="0" rIns="0" bIns="0" rtlCol="0" anchor="t"/>
          <a:lstStyle/>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Restore that backup on a scratch host</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Write the one-page runbook</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Name an owner for the platform</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Schedule the monthly backup drill</a:t>
            </a:r>
            <a:endParaRPr lang="en-US" sz="850" dirty="0"/>
          </a:p>
          <a:p>
            <a:pPr marL="0" indent="0">
              <a:lnSpc>
                <a:spcPts val="1200"/>
              </a:lnSpc>
              <a:buNone/>
            </a:pPr>
            <a:r>
              <a:rPr lang="en-US" sz="850" dirty="0">
                <a:solidFill>
                  <a:srgbClr val="C9BFB2"/>
                </a:solidFill>
                <a:latin typeface="Arial" panose="020B0604020202020204" pitchFamily="34" charset="0"/>
                <a:ea typeface="Arial" panose="020B0604020202020204" pitchFamily="34" charset="-122"/>
                <a:cs typeface="Arial" panose="020B0604020202020204" pitchFamily="34" charset="-120"/>
              </a:rPr>
              <a:t>Agree what counts as a bad answer</a:t>
            </a:r>
            <a:endParaRPr lang="en-US" sz="850" dirty="0"/>
          </a:p>
        </p:txBody>
      </p:sp>
      <p:sp>
        <p:nvSpPr>
          <p:cNvPr id="24" name="Watch daily panel"/>
          <p:cNvSpPr/>
          <p:nvPr/>
        </p:nvSpPr>
        <p:spPr>
          <a:xfrm>
            <a:off x="6208776" y="1078992"/>
            <a:ext cx="2523744" cy="1572768"/>
          </a:xfrm>
          <a:prstGeom prst="rect">
            <a:avLst/>
          </a:prstGeom>
          <a:solidFill>
            <a:srgbClr val="2A2622"/>
          </a:solidFill>
          <a:ln w="12700">
            <a:solidFill>
              <a:srgbClr val="3A332C"/>
            </a:solidFill>
            <a:prstDash val="solid"/>
          </a:ln>
        </p:spPr>
        <p:txBody>
          <a:bodyPr/>
          <a:lstStyle/>
          <a:p>
            <a:endParaRPr lang="en-US"/>
          </a:p>
        </p:txBody>
      </p:sp>
      <p:sp>
        <p:nvSpPr>
          <p:cNvPr id="25" name="Watch daily accent"/>
          <p:cNvSpPr/>
          <p:nvPr/>
        </p:nvSpPr>
        <p:spPr>
          <a:xfrm>
            <a:off x="6208776" y="1078992"/>
            <a:ext cx="2523744"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400800" y="1188720"/>
            <a:ext cx="2157984"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WATCH DAILY</a:t>
            </a:r>
            <a:endParaRPr lang="en-US" sz="900" dirty="0"/>
          </a:p>
        </p:txBody>
      </p:sp>
      <p:sp>
        <p:nvSpPr>
          <p:cNvPr id="27" name="Text 25"/>
          <p:cNvSpPr/>
          <p:nvPr/>
        </p:nvSpPr>
        <p:spPr>
          <a:xfrm>
            <a:off x="6400800" y="1444752"/>
            <a:ext cx="2157984" cy="1097280"/>
          </a:xfrm>
          <a:prstGeom prst="rect">
            <a:avLst/>
          </a:prstGeom>
          <a:noFill/>
        </p:spPr>
        <p:txBody>
          <a:bodyPr wrap="square" lIns="0" tIns="0" rIns="0" bIns="0" rtlCol="0" anchor="t"/>
          <a:lstStyle/>
          <a:p>
            <a:pPr marL="0" indent="0">
              <a:lnSpc>
                <a:spcPts val="12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ps</a:t>
            </a:r>
            <a:endParaRPr lang="en-US" sz="800" dirty="0"/>
          </a:p>
          <a:p>
            <a:pPr marL="0" indent="0">
              <a:lnSpc>
                <a:spcPts val="12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stats --no-stream</a:t>
            </a:r>
            <a:endParaRPr lang="en-US" sz="800" dirty="0"/>
          </a:p>
          <a:p>
            <a:pPr marL="0" indent="0">
              <a:lnSpc>
                <a:spcPts val="12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df -h</a:t>
            </a:r>
            <a:endParaRPr lang="en-US" sz="800" dirty="0"/>
          </a:p>
          <a:p>
            <a:pPr marL="0" indent="0">
              <a:lnSpc>
                <a:spcPts val="12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logs --tail 50</a:t>
            </a:r>
            <a:endParaRPr lang="en-US" sz="800" dirty="0"/>
          </a:p>
          <a:p>
            <a:pPr marL="0" indent="0">
              <a:lnSpc>
                <a:spcPts val="1200"/>
              </a:lnSpc>
              <a:buNone/>
            </a:pPr>
            <a:r>
              <a:rPr lang="en-US" sz="800" dirty="0">
                <a:solidFill>
                  <a:srgbClr val="E8DCCB"/>
                </a:solidFill>
                <a:latin typeface="Consolas" panose="020B0609020204030204" pitchFamily="34" charset="0"/>
                <a:ea typeface="Consolas" panose="020B0609020204030204" pitchFamily="34" charset="-122"/>
                <a:cs typeface="Consolas" panose="020B0609020204030204" pitchFamily="34" charset="-120"/>
              </a:rPr>
              <a:t>free -h</a:t>
            </a:r>
            <a:endParaRPr lang="en-US" sz="800" dirty="0"/>
          </a:p>
        </p:txBody>
      </p:sp>
      <p:sp>
        <p:nvSpPr>
          <p:cNvPr id="28" name="Red flags panel"/>
          <p:cNvSpPr/>
          <p:nvPr/>
        </p:nvSpPr>
        <p:spPr>
          <a:xfrm>
            <a:off x="6208776" y="2761488"/>
            <a:ext cx="2523744" cy="1737360"/>
          </a:xfrm>
          <a:prstGeom prst="rect">
            <a:avLst/>
          </a:prstGeom>
          <a:solidFill>
            <a:srgbClr val="2A2622"/>
          </a:solidFill>
          <a:ln w="12700">
            <a:solidFill>
              <a:srgbClr val="3A332C"/>
            </a:solidFill>
            <a:prstDash val="solid"/>
          </a:ln>
        </p:spPr>
        <p:txBody>
          <a:bodyPr/>
          <a:lstStyle/>
          <a:p>
            <a:endParaRPr lang="en-US"/>
          </a:p>
        </p:txBody>
      </p:sp>
      <p:sp>
        <p:nvSpPr>
          <p:cNvPr id="29" name="Red flags accent"/>
          <p:cNvSpPr/>
          <p:nvPr/>
        </p:nvSpPr>
        <p:spPr>
          <a:xfrm>
            <a:off x="6208776" y="2761488"/>
            <a:ext cx="2523744"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400800" y="2871216"/>
            <a:ext cx="2157984" cy="201168"/>
          </a:xfrm>
          <a:prstGeom prst="rect">
            <a:avLst/>
          </a:prstGeom>
          <a:noFill/>
        </p:spPr>
        <p:txBody>
          <a:bodyPr wrap="square" lIns="0" tIns="0" rIns="0" bIns="0" rtlCol="0" anchor="ctr"/>
          <a:lstStyle/>
          <a:p>
            <a:pPr marL="0" indent="0">
              <a:buNone/>
            </a:pPr>
            <a:r>
              <a:rPr lang="en-US" sz="900" b="1" kern="0" spc="120" dirty="0">
                <a:solidFill>
                  <a:srgbClr val="E2761F"/>
                </a:solidFill>
                <a:latin typeface="Arial" panose="020B0604020202020204" pitchFamily="34" charset="0"/>
                <a:ea typeface="Arial" panose="020B0604020202020204" pitchFamily="34" charset="-122"/>
                <a:cs typeface="Arial" panose="020B0604020202020204" pitchFamily="34" charset="-120"/>
              </a:rPr>
              <a:t>STOP AND FIX IF</a:t>
            </a:r>
            <a:endParaRPr lang="en-US" sz="900" dirty="0"/>
          </a:p>
        </p:txBody>
      </p:sp>
      <p:sp>
        <p:nvSpPr>
          <p:cNvPr id="31" name="Text 29"/>
          <p:cNvSpPr/>
          <p:nvPr/>
        </p:nvSpPr>
        <p:spPr>
          <a:xfrm>
            <a:off x="6400800" y="3127248"/>
            <a:ext cx="2157984" cy="1243584"/>
          </a:xfrm>
          <a:prstGeom prst="rect">
            <a:avLst/>
          </a:prstGeom>
          <a:noFill/>
        </p:spPr>
        <p:txBody>
          <a:bodyPr wrap="square" lIns="0" tIns="0" rIns="0" bIns="0" rtlCol="0" anchor="t"/>
          <a:lstStyle/>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Disk above 80 percent</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A container keeps restarting</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Answers cite nothing</a:t>
            </a:r>
            <a:endParaRPr lang="en-US" sz="800" dirty="0"/>
          </a:p>
          <a:p>
            <a:pPr marL="0" indent="0">
              <a:lnSpc>
                <a:spcPts val="1200"/>
              </a:lnSpc>
              <a:buNone/>
            </a:pPr>
            <a:r>
              <a:rPr lang="en-US" sz="800" dirty="0">
                <a:solidFill>
                  <a:srgbClr val="C9BFB2"/>
                </a:solidFill>
                <a:latin typeface="Arial" panose="020B0604020202020204" pitchFamily="34" charset="0"/>
                <a:ea typeface="Arial" panose="020B0604020202020204" pitchFamily="34" charset="-122"/>
                <a:cs typeface="Arial" panose="020B0604020202020204" pitchFamily="34" charset="-120"/>
              </a:rPr>
              <a:t>Anyone shares a login</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accent bar"/>
          <p:cNvSpPr/>
          <p:nvPr/>
        </p:nvSpPr>
        <p:spPr>
          <a:xfrm>
            <a:off x="0" y="0"/>
            <a:ext cx="9144000" cy="91440"/>
          </a:xfrm>
          <a:prstGeom prst="rect">
            <a:avLst/>
          </a:prstGeom>
          <a:solidFill>
            <a:srgbClr val="E2761F"/>
          </a:solidFill>
          <a:ln w="12700">
            <a:solidFill>
              <a:srgbClr val="E2761F"/>
            </a:solidFill>
            <a:prstDash val="solid"/>
          </a:ln>
        </p:spPr>
        <p:txBody>
          <a:bodyPr/>
          <a:lstStyle/>
          <a:p>
            <a:endParaRPr lang="en-US"/>
          </a:p>
        </p:txBody>
      </p:sp>
      <p:sp>
        <p:nvSpPr>
          <p:cNvPr id="3" name="Section number badge"/>
          <p:cNvSpPr/>
          <p:nvPr/>
        </p:nvSpPr>
        <p:spPr>
          <a:xfrm>
            <a:off x="411480" y="310896"/>
            <a:ext cx="566928" cy="566928"/>
          </a:xfrm>
          <a:prstGeom prst="rect">
            <a:avLst/>
          </a:prstGeom>
          <a:solidFill>
            <a:srgbClr val="E2761F"/>
          </a:solidFill>
          <a:ln w="12700">
            <a:solidFill>
              <a:srgbClr val="E2761F"/>
            </a:solidFill>
            <a:prstDash val="solid"/>
          </a:ln>
        </p:spPr>
        <p:txBody>
          <a:bodyPr/>
          <a:lstStyle/>
          <a:p>
            <a:endParaRPr lang="en-US"/>
          </a:p>
        </p:txBody>
      </p:sp>
      <p:sp>
        <p:nvSpPr>
          <p:cNvPr id="4" name="Text 2"/>
          <p:cNvSpPr/>
          <p:nvPr/>
        </p:nvSpPr>
        <p:spPr>
          <a:xfrm>
            <a:off x="411480" y="310896"/>
            <a:ext cx="566928" cy="566928"/>
          </a:xfrm>
          <a:prstGeom prst="rect">
            <a:avLst/>
          </a:prstGeom>
          <a:noFill/>
        </p:spPr>
        <p:txBody>
          <a:bodyPr wrap="square" lIns="0" tIns="0" rIns="0" bIns="0" rtlCol="0" anchor="ctr"/>
          <a:lstStyle/>
          <a:p>
            <a:pPr marL="0" indent="0" algn="ctr">
              <a:buNone/>
            </a:pPr>
            <a:r>
              <a:rPr lang="en-US" sz="2200" b="1">
                <a:solidFill>
                  <a:srgbClr val="1E1B18"/>
                </a:solidFill>
                <a:latin typeface="Arial" panose="020B0604020202020204" pitchFamily="34" charset="0"/>
                <a:ea typeface="Arial" panose="020B0604020202020204" pitchFamily="34" charset="-122"/>
                <a:cs typeface="Arial" panose="020B0604020202020204" pitchFamily="34" charset="-120"/>
              </a:rPr>
              <a:t>MC</a:t>
            </a:r>
            <a:endParaRPr lang="en-US" sz="2200"/>
          </a:p>
        </p:txBody>
      </p:sp>
      <p:sp>
        <p:nvSpPr>
          <p:cNvPr id="5" name="Divider rule"/>
          <p:cNvSpPr/>
          <p:nvPr/>
        </p:nvSpPr>
        <p:spPr>
          <a:xfrm>
            <a:off x="411480" y="969264"/>
            <a:ext cx="8321040" cy="18288"/>
          </a:xfrm>
          <a:prstGeom prst="rect">
            <a:avLst/>
          </a:prstGeom>
          <a:solidFill>
            <a:srgbClr val="4A423A"/>
          </a:solidFill>
          <a:ln w="12700">
            <a:solidFill>
              <a:srgbClr val="4A423A"/>
            </a:solidFill>
            <a:prstDash val="solid"/>
          </a:ln>
        </p:spPr>
        <p:txBody>
          <a:bodyPr/>
          <a:lstStyle/>
          <a:p>
            <a:endParaRPr lang="en-US"/>
          </a:p>
        </p:txBody>
      </p:sp>
      <p:sp>
        <p:nvSpPr>
          <p:cNvPr id="6" name="Text 4"/>
          <p:cNvSpPr/>
          <p:nvPr/>
        </p:nvSpPr>
        <p:spPr>
          <a:xfrm>
            <a:off x="411480" y="4718304"/>
            <a:ext cx="8321040" cy="274320"/>
          </a:xfrm>
          <a:prstGeom prst="rect">
            <a:avLst/>
          </a:prstGeom>
          <a:noFill/>
        </p:spPr>
        <p:txBody>
          <a:bodyPr wrap="square" lIns="0" tIns="0" rIns="0" bIns="0" rtlCol="0" anchor="ctr"/>
          <a:lstStyle/>
          <a:p>
            <a:pPr marL="0" indent="0">
              <a:buNone/>
            </a:pPr>
            <a:r>
              <a:rPr lang="en-US" sz="900" kern="0" spc="100">
                <a:solidFill>
                  <a:srgbClr val="7E7367"/>
                </a:solidFill>
                <a:latin typeface="Arial" panose="020B0604020202020204" pitchFamily="34" charset="0"/>
                <a:ea typeface="Arial" panose="020B0604020202020204" pitchFamily="34" charset="-122"/>
                <a:cs typeface="Arial" panose="020B0604020202020204" pitchFamily="34" charset="-120"/>
              </a:rPr>
              <a:t>MAINTENANCE CALENDAR  ·  DAILY, WEEKLY, MONTHLY AND QUARTERLY  ·  PIN IT NEXT TO THE SERVER</a:t>
            </a:r>
            <a:endParaRPr lang="en-US" sz="900"/>
          </a:p>
        </p:txBody>
      </p:sp>
      <p:sp>
        <p:nvSpPr>
          <p:cNvPr id="7" name="Text 0"/>
          <p:cNvSpPr>
            <a:spLocks noGrp="1"/>
          </p:cNvSpPr>
          <p:nvPr>
            <p:ph type="title" idx="100" hasCustomPrompt="1"/>
          </p:nvPr>
        </p:nvSpPr>
        <p:spPr>
          <a:xfrm>
            <a:off x="1051560" y="310896"/>
            <a:ext cx="7498080" cy="566928"/>
          </a:xfrm>
          <a:prstGeom prst="rect">
            <a:avLst/>
          </a:prstGeom>
          <a:noFill/>
        </p:spPr>
        <p:txBody>
          <a:bodyPr wrap="square" lIns="0" tIns="0" rIns="0" bIns="0" rtlCol="0" anchor="ctr"/>
          <a:lstStyle/>
          <a:p>
            <a:pPr marL="0" indent="0" algn="l">
              <a:buNone/>
            </a:pPr>
            <a:r>
              <a:rPr lang="en-US" sz="2600" b="1">
                <a:solidFill>
                  <a:srgbClr val="F5EDE2"/>
                </a:solidFill>
                <a:latin typeface="Arial" panose="020B0604020202020204" pitchFamily="34" charset="0"/>
                <a:ea typeface="Arial" panose="020B0604020202020204" pitchFamily="34" charset="-122"/>
                <a:cs typeface="Arial" panose="020B0604020202020204" pitchFamily="34" charset="-120"/>
              </a:rPr>
              <a:t>Maintenance Calendar</a:t>
            </a:r>
            <a:endParaRPr lang="en-US" sz="2600"/>
          </a:p>
        </p:txBody>
      </p:sp>
      <p:sp>
        <p:nvSpPr>
          <p:cNvPr id="8" name="Day one panel"/>
          <p:cNvSpPr/>
          <p:nvPr/>
        </p:nvSpPr>
        <p:spPr>
          <a:xfrm>
            <a:off x="411480" y="1078992"/>
            <a:ext cx="2743200" cy="1572768"/>
          </a:xfrm>
          <a:prstGeom prst="rect">
            <a:avLst/>
          </a:prstGeom>
          <a:solidFill>
            <a:srgbClr val="2A2622"/>
          </a:solidFill>
          <a:ln w="12700">
            <a:solidFill>
              <a:srgbClr val="3A332C"/>
            </a:solidFill>
            <a:prstDash val="solid"/>
          </a:ln>
        </p:spPr>
        <p:txBody>
          <a:bodyPr/>
          <a:lstStyle/>
          <a:p>
            <a:endParaRPr lang="en-US"/>
          </a:p>
        </p:txBody>
      </p:sp>
      <p:sp>
        <p:nvSpPr>
          <p:cNvPr id="9" name="Day one accent"/>
          <p:cNvSpPr/>
          <p:nvPr/>
        </p:nvSpPr>
        <p:spPr>
          <a:xfrm>
            <a:off x="411480"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10" name="Text 8"/>
          <p:cNvSpPr/>
          <p:nvPr/>
        </p:nvSpPr>
        <p:spPr>
          <a:xfrm>
            <a:off x="603504" y="1188720"/>
            <a:ext cx="2377440" cy="201168"/>
          </a:xfrm>
          <a:prstGeom prst="rect">
            <a:avLst/>
          </a:prstGeom>
          <a:noFill/>
        </p:spPr>
        <p:txBody>
          <a:bodyPr wrap="square" lIns="0" tIns="0" rIns="0" bIns="0" rtlCol="0" anchor="ctr"/>
          <a:lstStyle/>
          <a:p>
            <a:pPr marL="0" indent="0">
              <a:buNone/>
            </a:pPr>
            <a:r>
              <a:rPr lang="en-US" sz="900" b="1" kern="0" spc="120">
                <a:solidFill>
                  <a:srgbClr val="E2761F"/>
                </a:solidFill>
                <a:latin typeface="Arial" panose="020B0604020202020204" pitchFamily="34" charset="0"/>
                <a:ea typeface="Arial" panose="020B0604020202020204" pitchFamily="34" charset="-122"/>
                <a:cs typeface="Arial" panose="020B0604020202020204" pitchFamily="34" charset="-120"/>
              </a:rPr>
              <a:t>DAILY · 5 MINUTES</a:t>
            </a:r>
            <a:endParaRPr lang="en-US" sz="900"/>
          </a:p>
        </p:txBody>
      </p:sp>
      <p:sp>
        <p:nvSpPr>
          <p:cNvPr id="11" name="Text 9"/>
          <p:cNvSpPr/>
          <p:nvPr/>
        </p:nvSpPr>
        <p:spPr>
          <a:xfrm>
            <a:off x="603504" y="1444752"/>
            <a:ext cx="2377440" cy="1097280"/>
          </a:xfrm>
          <a:prstGeom prst="rect">
            <a:avLst/>
          </a:prstGeom>
          <a:noFill/>
        </p:spPr>
        <p:txBody>
          <a:bodyPr wrap="square" lIns="0" tIns="0" rIns="0" bIns="0" rtlCol="0" anchor="t"/>
          <a:lstStyle/>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All containers up and healthy</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Disk and memory headroom checked</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Scan logs for repeated errors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Note any slow or wrong answers</a:t>
            </a:r>
            <a:endParaRPr lang="en-US" sz="850"/>
          </a:p>
        </p:txBody>
      </p:sp>
      <p:sp>
        <p:nvSpPr>
          <p:cNvPr id="12" name="Days two to three panel"/>
          <p:cNvSpPr/>
          <p:nvPr/>
        </p:nvSpPr>
        <p:spPr>
          <a:xfrm>
            <a:off x="411480" y="2761488"/>
            <a:ext cx="2743200" cy="1737360"/>
          </a:xfrm>
          <a:prstGeom prst="rect">
            <a:avLst/>
          </a:prstGeom>
          <a:solidFill>
            <a:srgbClr val="2A2622"/>
          </a:solidFill>
          <a:ln w="12700">
            <a:solidFill>
              <a:srgbClr val="3A332C"/>
            </a:solidFill>
            <a:prstDash val="solid"/>
          </a:ln>
        </p:spPr>
        <p:txBody>
          <a:bodyPr/>
          <a:lstStyle/>
          <a:p>
            <a:endParaRPr lang="en-US"/>
          </a:p>
        </p:txBody>
      </p:sp>
      <p:sp>
        <p:nvSpPr>
          <p:cNvPr id="13" name="Days two to three accent"/>
          <p:cNvSpPr/>
          <p:nvPr/>
        </p:nvSpPr>
        <p:spPr>
          <a:xfrm>
            <a:off x="411480" y="2761488"/>
            <a:ext cx="2743200" cy="45720"/>
          </a:xfrm>
          <a:prstGeom prst="rect">
            <a:avLst/>
          </a:prstGeom>
          <a:solidFill>
            <a:srgbClr val="E2761F"/>
          </a:solidFill>
          <a:ln w="12700">
            <a:solidFill>
              <a:srgbClr val="E2761F"/>
            </a:solidFill>
            <a:prstDash val="solid"/>
          </a:ln>
        </p:spPr>
        <p:txBody>
          <a:bodyPr/>
          <a:lstStyle/>
          <a:p>
            <a:endParaRPr lang="en-US"/>
          </a:p>
        </p:txBody>
      </p:sp>
      <p:sp>
        <p:nvSpPr>
          <p:cNvPr id="14" name="Text 12"/>
          <p:cNvSpPr/>
          <p:nvPr/>
        </p:nvSpPr>
        <p:spPr>
          <a:xfrm>
            <a:off x="603504" y="2871216"/>
            <a:ext cx="2377440" cy="201168"/>
          </a:xfrm>
          <a:prstGeom prst="rect">
            <a:avLst/>
          </a:prstGeom>
          <a:noFill/>
        </p:spPr>
        <p:txBody>
          <a:bodyPr wrap="square" lIns="0" tIns="0" rIns="0" bIns="0" rtlCol="0" anchor="ctr"/>
          <a:lstStyle/>
          <a:p>
            <a:pPr marL="0" indent="0">
              <a:buNone/>
            </a:pPr>
            <a:r>
              <a:rPr lang="en-US" sz="900" b="1" kern="0" spc="120">
                <a:solidFill>
                  <a:srgbClr val="E2761F"/>
                </a:solidFill>
                <a:latin typeface="Arial" panose="020B0604020202020204" pitchFamily="34" charset="0"/>
                <a:ea typeface="Arial" panose="020B0604020202020204" pitchFamily="34" charset="-122"/>
                <a:cs typeface="Arial" panose="020B0604020202020204" pitchFamily="34" charset="-120"/>
              </a:rPr>
              <a:t>WEEKLY · 30 MINUTES</a:t>
            </a:r>
            <a:endParaRPr lang="en-US" sz="900"/>
          </a:p>
        </p:txBody>
      </p:sp>
      <p:sp>
        <p:nvSpPr>
          <p:cNvPr id="15" name="Text 13"/>
          <p:cNvSpPr/>
          <p:nvPr/>
        </p:nvSpPr>
        <p:spPr>
          <a:xfrm>
            <a:off x="603504" y="3127248"/>
            <a:ext cx="2377440" cy="1243584"/>
          </a:xfrm>
          <a:prstGeom prst="rect">
            <a:avLst/>
          </a:prstGeom>
          <a:noFill/>
        </p:spPr>
        <p:txBody>
          <a:bodyPr wrap="square" lIns="0" tIns="0" rIns="0" bIns="0" rtlCol="0" anchor="t"/>
          <a:lstStyle/>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Run the standing question set</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Review flagged bad answers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Ingest or refresh approved sources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Check for image and OS updates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Confirm no port has drifted open</a:t>
            </a:r>
            <a:endParaRPr lang="en-US" sz="850"/>
          </a:p>
        </p:txBody>
      </p:sp>
      <p:sp>
        <p:nvSpPr>
          <p:cNvPr id="16" name="Days four to five panel"/>
          <p:cNvSpPr/>
          <p:nvPr/>
        </p:nvSpPr>
        <p:spPr>
          <a:xfrm>
            <a:off x="3310128" y="1078992"/>
            <a:ext cx="2743200" cy="1572768"/>
          </a:xfrm>
          <a:prstGeom prst="rect">
            <a:avLst/>
          </a:prstGeom>
          <a:solidFill>
            <a:srgbClr val="2A2622"/>
          </a:solidFill>
          <a:ln w="12700">
            <a:solidFill>
              <a:srgbClr val="3A332C"/>
            </a:solidFill>
            <a:prstDash val="solid"/>
          </a:ln>
        </p:spPr>
        <p:txBody>
          <a:bodyPr/>
          <a:lstStyle/>
          <a:p>
            <a:endParaRPr lang="en-US"/>
          </a:p>
        </p:txBody>
      </p:sp>
      <p:sp>
        <p:nvSpPr>
          <p:cNvPr id="17" name="Days four to five accent"/>
          <p:cNvSpPr/>
          <p:nvPr/>
        </p:nvSpPr>
        <p:spPr>
          <a:xfrm>
            <a:off x="3310128" y="1078992"/>
            <a:ext cx="2743200" cy="45720"/>
          </a:xfrm>
          <a:prstGeom prst="rect">
            <a:avLst/>
          </a:prstGeom>
          <a:solidFill>
            <a:srgbClr val="E2761F"/>
          </a:solidFill>
          <a:ln w="12700">
            <a:solidFill>
              <a:srgbClr val="E2761F"/>
            </a:solidFill>
            <a:prstDash val="solid"/>
          </a:ln>
        </p:spPr>
        <p:txBody>
          <a:bodyPr/>
          <a:lstStyle/>
          <a:p>
            <a:endParaRPr lang="en-US"/>
          </a:p>
        </p:txBody>
      </p:sp>
      <p:sp>
        <p:nvSpPr>
          <p:cNvPr id="18" name="Text 16"/>
          <p:cNvSpPr/>
          <p:nvPr/>
        </p:nvSpPr>
        <p:spPr>
          <a:xfrm>
            <a:off x="3502152" y="1188720"/>
            <a:ext cx="2377440" cy="201168"/>
          </a:xfrm>
          <a:prstGeom prst="rect">
            <a:avLst/>
          </a:prstGeom>
          <a:noFill/>
        </p:spPr>
        <p:txBody>
          <a:bodyPr wrap="square" lIns="0" tIns="0" rIns="0" bIns="0" rtlCol="0" anchor="ctr"/>
          <a:lstStyle/>
          <a:p>
            <a:pPr marL="0" indent="0">
              <a:buNone/>
            </a:pPr>
            <a:r>
              <a:rPr lang="en-US" sz="900" b="1" kern="0" spc="120">
                <a:solidFill>
                  <a:srgbClr val="E2761F"/>
                </a:solidFill>
                <a:latin typeface="Arial" panose="020B0604020202020204" pitchFamily="34" charset="0"/>
                <a:ea typeface="Arial" panose="020B0604020202020204" pitchFamily="34" charset="-122"/>
                <a:cs typeface="Arial" panose="020B0604020202020204" pitchFamily="34" charset="-120"/>
              </a:rPr>
              <a:t>MONTHLY · 1 HOUR</a:t>
            </a:r>
            <a:endParaRPr lang="en-US" sz="900"/>
          </a:p>
        </p:txBody>
      </p:sp>
      <p:sp>
        <p:nvSpPr>
          <p:cNvPr id="19" name="Text 17"/>
          <p:cNvSpPr/>
          <p:nvPr/>
        </p:nvSpPr>
        <p:spPr>
          <a:xfrm>
            <a:off x="3502152" y="1444752"/>
            <a:ext cx="2377440" cy="1097280"/>
          </a:xfrm>
          <a:prstGeom prst="rect">
            <a:avLst/>
          </a:prstGeom>
          <a:noFill/>
        </p:spPr>
        <p:txBody>
          <a:bodyPr wrap="square" lIns="0" tIns="0" rIns="0" bIns="0" rtlCol="0" anchor="t"/>
          <a:lstStyle/>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Full backup drill and off-site copy</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Apply OS and container updates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Review user accounts and access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Prune unused images and volumes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Record how long the run took</a:t>
            </a:r>
            <a:endParaRPr lang="en-US" sz="850"/>
          </a:p>
        </p:txBody>
      </p:sp>
      <p:sp>
        <p:nvSpPr>
          <p:cNvPr id="20" name="Days six to seven panel"/>
          <p:cNvSpPr/>
          <p:nvPr/>
        </p:nvSpPr>
        <p:spPr>
          <a:xfrm>
            <a:off x="3310128" y="2761488"/>
            <a:ext cx="2743200" cy="1737360"/>
          </a:xfrm>
          <a:prstGeom prst="rect">
            <a:avLst/>
          </a:prstGeom>
          <a:solidFill>
            <a:srgbClr val="2A2622"/>
          </a:solidFill>
          <a:ln w="12700">
            <a:solidFill>
              <a:srgbClr val="3A332C"/>
            </a:solidFill>
            <a:prstDash val="solid"/>
          </a:ln>
        </p:spPr>
        <p:txBody>
          <a:bodyPr/>
          <a:lstStyle/>
          <a:p>
            <a:endParaRPr lang="en-US"/>
          </a:p>
        </p:txBody>
      </p:sp>
      <p:sp>
        <p:nvSpPr>
          <p:cNvPr id="21" name="Days six to seven accent"/>
          <p:cNvSpPr/>
          <p:nvPr/>
        </p:nvSpPr>
        <p:spPr>
          <a:xfrm>
            <a:off x="3310128" y="2761488"/>
            <a:ext cx="2743200" cy="45720"/>
          </a:xfrm>
          <a:prstGeom prst="rect">
            <a:avLst/>
          </a:prstGeom>
          <a:solidFill>
            <a:srgbClr val="E2761F"/>
          </a:solidFill>
          <a:ln w="12700">
            <a:solidFill>
              <a:srgbClr val="E2761F"/>
            </a:solidFill>
            <a:prstDash val="solid"/>
          </a:ln>
        </p:spPr>
        <p:txBody>
          <a:bodyPr/>
          <a:lstStyle/>
          <a:p>
            <a:endParaRPr lang="en-US"/>
          </a:p>
        </p:txBody>
      </p:sp>
      <p:sp>
        <p:nvSpPr>
          <p:cNvPr id="22" name="Text 20"/>
          <p:cNvSpPr/>
          <p:nvPr/>
        </p:nvSpPr>
        <p:spPr>
          <a:xfrm>
            <a:off x="3502152" y="2871216"/>
            <a:ext cx="2377440" cy="201168"/>
          </a:xfrm>
          <a:prstGeom prst="rect">
            <a:avLst/>
          </a:prstGeom>
          <a:noFill/>
        </p:spPr>
        <p:txBody>
          <a:bodyPr wrap="square" lIns="0" tIns="0" rIns="0" bIns="0" rtlCol="0" anchor="ctr"/>
          <a:lstStyle/>
          <a:p>
            <a:pPr marL="0" indent="0">
              <a:buNone/>
            </a:pPr>
            <a:r>
              <a:rPr lang="en-US" sz="900" b="1" kern="0" spc="120">
                <a:solidFill>
                  <a:srgbClr val="E2761F"/>
                </a:solidFill>
                <a:latin typeface="Arial" panose="020B0604020202020204" pitchFamily="34" charset="0"/>
                <a:ea typeface="Arial" panose="020B0604020202020204" pitchFamily="34" charset="-122"/>
                <a:cs typeface="Arial" panose="020B0604020202020204" pitchFamily="34" charset="-120"/>
              </a:rPr>
              <a:t>QUARTERLY · HALF A DAY</a:t>
            </a:r>
            <a:endParaRPr lang="en-US" sz="900"/>
          </a:p>
        </p:txBody>
      </p:sp>
      <p:sp>
        <p:nvSpPr>
          <p:cNvPr id="23" name="Text 21"/>
          <p:cNvSpPr/>
          <p:nvPr/>
        </p:nvSpPr>
        <p:spPr>
          <a:xfrm>
            <a:off x="3502152" y="3127248"/>
            <a:ext cx="2377440" cy="1243584"/>
          </a:xfrm>
          <a:prstGeom prst="rect">
            <a:avLst/>
          </a:prstGeom>
          <a:noFill/>
        </p:spPr>
        <p:txBody>
          <a:bodyPr wrap="square" lIns="0" tIns="0" rIns="0" bIns="0" rtlCol="0" anchor="t"/>
          <a:lstStyle/>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Restore drill on a scratch host</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Re-check retrieval quality end to end</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Review model choice and sizing</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Retire superseded documents</a:t>
            </a:r>
            <a:endParaRPr lang="en-US" sz="85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50">
                <a:solidFill>
                  <a:srgbClr val="C9BFB2"/>
                </a:solidFill>
                <a:latin typeface="Arial" panose="020B0604020202020204" pitchFamily="34" charset="0"/>
                <a:ea typeface="Arial" panose="020B0604020202020204" pitchFamily="34" charset="-122"/>
                <a:cs typeface="Arial" panose="020B0604020202020204" pitchFamily="34" charset="-120"/>
              </a:rPr>
              <a:t>Update the runbook you wrote</a:t>
            </a:r>
            <a:endParaRPr lang="en-US" sz="850"/>
          </a:p>
        </p:txBody>
      </p:sp>
      <p:sp>
        <p:nvSpPr>
          <p:cNvPr id="24" name="Watch daily panel"/>
          <p:cNvSpPr/>
          <p:nvPr/>
        </p:nvSpPr>
        <p:spPr>
          <a:xfrm>
            <a:off x="6208776" y="1078992"/>
            <a:ext cx="2523744" cy="1572768"/>
          </a:xfrm>
          <a:prstGeom prst="rect">
            <a:avLst/>
          </a:prstGeom>
          <a:solidFill>
            <a:srgbClr val="2A2622"/>
          </a:solidFill>
          <a:ln w="12700">
            <a:solidFill>
              <a:srgbClr val="3A332C"/>
            </a:solidFill>
            <a:prstDash val="solid"/>
          </a:ln>
        </p:spPr>
        <p:txBody>
          <a:bodyPr/>
          <a:lstStyle/>
          <a:p>
            <a:endParaRPr lang="en-US"/>
          </a:p>
        </p:txBody>
      </p:sp>
      <p:sp>
        <p:nvSpPr>
          <p:cNvPr id="25" name="Watch daily accent"/>
          <p:cNvSpPr/>
          <p:nvPr/>
        </p:nvSpPr>
        <p:spPr>
          <a:xfrm>
            <a:off x="6208776" y="1078992"/>
            <a:ext cx="2523744" cy="45720"/>
          </a:xfrm>
          <a:prstGeom prst="rect">
            <a:avLst/>
          </a:prstGeom>
          <a:solidFill>
            <a:srgbClr val="E2761F"/>
          </a:solidFill>
          <a:ln w="12700">
            <a:solidFill>
              <a:srgbClr val="E2761F"/>
            </a:solidFill>
            <a:prstDash val="solid"/>
          </a:ln>
        </p:spPr>
        <p:txBody>
          <a:bodyPr/>
          <a:lstStyle/>
          <a:p>
            <a:endParaRPr lang="en-US"/>
          </a:p>
        </p:txBody>
      </p:sp>
      <p:sp>
        <p:nvSpPr>
          <p:cNvPr id="26" name="Text 24"/>
          <p:cNvSpPr/>
          <p:nvPr/>
        </p:nvSpPr>
        <p:spPr>
          <a:xfrm>
            <a:off x="6400800" y="1188720"/>
            <a:ext cx="2157984" cy="201168"/>
          </a:xfrm>
          <a:prstGeom prst="rect">
            <a:avLst/>
          </a:prstGeom>
          <a:noFill/>
        </p:spPr>
        <p:txBody>
          <a:bodyPr wrap="square" lIns="0" tIns="0" rIns="0" bIns="0" rtlCol="0" anchor="ctr"/>
          <a:lstStyle/>
          <a:p>
            <a:pPr marL="0" indent="0">
              <a:buNone/>
            </a:pPr>
            <a:r>
              <a:rPr lang="en-US" sz="900" b="1" kern="0" spc="120">
                <a:solidFill>
                  <a:srgbClr val="E2761F"/>
                </a:solidFill>
                <a:latin typeface="Arial" panose="020B0604020202020204" pitchFamily="34" charset="0"/>
                <a:ea typeface="Arial" panose="020B0604020202020204" pitchFamily="34" charset="-122"/>
                <a:cs typeface="Arial" panose="020B0604020202020204" pitchFamily="34" charset="-120"/>
              </a:rPr>
              <a:t>RUN EVERY MORNING</a:t>
            </a:r>
            <a:endParaRPr lang="en-US" sz="900"/>
          </a:p>
        </p:txBody>
      </p:sp>
      <p:sp>
        <p:nvSpPr>
          <p:cNvPr id="27" name="Text 25"/>
          <p:cNvSpPr/>
          <p:nvPr/>
        </p:nvSpPr>
        <p:spPr>
          <a:xfrm>
            <a:off x="6400800" y="1444752"/>
            <a:ext cx="2157984" cy="1097280"/>
          </a:xfrm>
          <a:prstGeom prst="rect">
            <a:avLst/>
          </a:prstGeom>
          <a:noFill/>
        </p:spPr>
        <p:txBody>
          <a:bodyPr wrap="square" lIns="0" tIns="0" rIns="0" bIns="0" rtlCol="0" anchor="t"/>
          <a:lstStyle/>
          <a:p>
            <a:pPr marL="0" indent="0">
              <a:lnSpc>
                <a:spcPts val="1200"/>
              </a:lnSpc>
              <a:buNone/>
            </a:pPr>
            <a:r>
              <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ps</a:t>
            </a:r>
            <a:endPar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endParaRPr>
          </a:p>
          <a:p>
            <a:pPr marL="0" indent="0">
              <a:lnSpc>
                <a:spcPts val="1200"/>
              </a:lnSpc>
              <a:buNone/>
            </a:pPr>
            <a:r>
              <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rPr>
              <a:t>df -h</a:t>
            </a:r>
            <a:endPar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endParaRPr>
          </a:p>
          <a:p>
            <a:pPr marL="0" indent="0">
              <a:lnSpc>
                <a:spcPts val="1200"/>
              </a:lnSpc>
              <a:buNone/>
            </a:pPr>
            <a:r>
              <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rPr>
              <a:t>free -h</a:t>
            </a:r>
            <a:endPar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endParaRPr>
          </a:p>
          <a:p>
            <a:pPr marL="0" indent="0">
              <a:lnSpc>
                <a:spcPts val="1200"/>
              </a:lnSpc>
              <a:buNone/>
            </a:pPr>
            <a:r>
              <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rPr>
              <a:t>docker compose logs --tail 50</a:t>
            </a:r>
            <a:endPar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endParaRPr>
          </a:p>
          <a:p>
            <a:pPr marL="0" indent="0">
              <a:lnSpc>
                <a:spcPts val="1200"/>
              </a:lnSpc>
              <a:buNone/>
            </a:pPr>
            <a:r>
              <a:rPr lang="en-US" sz="800">
                <a:solidFill>
                  <a:srgbClr val="E8DCCB"/>
                </a:solidFill>
                <a:latin typeface="Consolas" panose="020B0609020204030204" pitchFamily="34" charset="0"/>
                <a:ea typeface="Consolas" panose="020B0609020204030204" pitchFamily="34" charset="-122"/>
                <a:cs typeface="Consolas" panose="020B0609020204030204" pitchFamily="34" charset="-120"/>
              </a:rPr>
              <a:t>docker stats --no-stream</a:t>
            </a:r>
            <a:endParaRPr lang="en-US" sz="800"/>
          </a:p>
        </p:txBody>
      </p:sp>
      <p:sp>
        <p:nvSpPr>
          <p:cNvPr id="28" name="Red flags panel"/>
          <p:cNvSpPr/>
          <p:nvPr/>
        </p:nvSpPr>
        <p:spPr>
          <a:xfrm>
            <a:off x="6208776" y="2761488"/>
            <a:ext cx="2523744" cy="1737360"/>
          </a:xfrm>
          <a:prstGeom prst="rect">
            <a:avLst/>
          </a:prstGeom>
          <a:solidFill>
            <a:srgbClr val="2A2622"/>
          </a:solidFill>
          <a:ln w="12700">
            <a:solidFill>
              <a:srgbClr val="3A332C"/>
            </a:solidFill>
            <a:prstDash val="solid"/>
          </a:ln>
        </p:spPr>
        <p:txBody>
          <a:bodyPr/>
          <a:lstStyle/>
          <a:p>
            <a:endParaRPr lang="en-US"/>
          </a:p>
        </p:txBody>
      </p:sp>
      <p:sp>
        <p:nvSpPr>
          <p:cNvPr id="29" name="Red flags accent"/>
          <p:cNvSpPr/>
          <p:nvPr/>
        </p:nvSpPr>
        <p:spPr>
          <a:xfrm>
            <a:off x="6208776" y="2761488"/>
            <a:ext cx="2523744" cy="45720"/>
          </a:xfrm>
          <a:prstGeom prst="rect">
            <a:avLst/>
          </a:prstGeom>
          <a:solidFill>
            <a:srgbClr val="E2761F"/>
          </a:solidFill>
          <a:ln w="12700">
            <a:solidFill>
              <a:srgbClr val="E2761F"/>
            </a:solidFill>
            <a:prstDash val="solid"/>
          </a:ln>
        </p:spPr>
        <p:txBody>
          <a:bodyPr/>
          <a:lstStyle/>
          <a:p>
            <a:endParaRPr lang="en-US"/>
          </a:p>
        </p:txBody>
      </p:sp>
      <p:sp>
        <p:nvSpPr>
          <p:cNvPr id="30" name="Text 28"/>
          <p:cNvSpPr/>
          <p:nvPr/>
        </p:nvSpPr>
        <p:spPr>
          <a:xfrm>
            <a:off x="6400800" y="2871216"/>
            <a:ext cx="2157984" cy="201168"/>
          </a:xfrm>
          <a:prstGeom prst="rect">
            <a:avLst/>
          </a:prstGeom>
          <a:noFill/>
        </p:spPr>
        <p:txBody>
          <a:bodyPr wrap="square" lIns="0" tIns="0" rIns="0" bIns="0" rtlCol="0" anchor="ctr"/>
          <a:lstStyle/>
          <a:p>
            <a:pPr marL="0" indent="0">
              <a:buNone/>
            </a:pPr>
            <a:r>
              <a:rPr lang="en-US" sz="900" b="1" kern="0" spc="120">
                <a:solidFill>
                  <a:srgbClr val="E2761F"/>
                </a:solidFill>
                <a:latin typeface="Arial" panose="020B0604020202020204" pitchFamily="34" charset="0"/>
                <a:ea typeface="Arial" panose="020B0604020202020204" pitchFamily="34" charset="-122"/>
                <a:cs typeface="Arial" panose="020B0604020202020204" pitchFamily="34" charset="-120"/>
              </a:rPr>
              <a:t>KEEP IT HONEST</a:t>
            </a:r>
            <a:endParaRPr lang="en-US" sz="900"/>
          </a:p>
        </p:txBody>
      </p:sp>
      <p:sp>
        <p:nvSpPr>
          <p:cNvPr id="31" name="Text 29"/>
          <p:cNvSpPr/>
          <p:nvPr/>
        </p:nvSpPr>
        <p:spPr>
          <a:xfrm>
            <a:off x="6400800" y="3127248"/>
            <a:ext cx="2157984" cy="1243584"/>
          </a:xfrm>
          <a:prstGeom prst="rect">
            <a:avLst/>
          </a:prstGeom>
          <a:noFill/>
        </p:spPr>
        <p:txBody>
          <a:bodyPr wrap="square" lIns="0" tIns="0" rIns="0" bIns="0" rtlCol="0" anchor="t"/>
          <a:lstStyle/>
          <a:p>
            <a:pPr marL="0" indent="0">
              <a:lnSpc>
                <a:spcPts val="1200"/>
              </a:lnSpc>
              <a:buNone/>
            </a:pPr>
            <a:r>
              <a:rPr lang="en-US" sz="800">
                <a:solidFill>
                  <a:srgbClr val="C9BFB2"/>
                </a:solidFill>
                <a:latin typeface="Arial" panose="020B0604020202020204" pitchFamily="34" charset="0"/>
                <a:ea typeface="Arial" panose="020B0604020202020204" pitchFamily="34" charset="-122"/>
                <a:cs typeface="Arial" panose="020B0604020202020204" pitchFamily="34" charset="-120"/>
              </a:rPr>
              <a:t>One named owner, one deputy</a:t>
            </a:r>
            <a:endParaRPr lang="en-US" sz="80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00">
                <a:solidFill>
                  <a:srgbClr val="C9BFB2"/>
                </a:solidFill>
                <a:latin typeface="Arial" panose="020B0604020202020204" pitchFamily="34" charset="0"/>
                <a:ea typeface="Arial" panose="020B0604020202020204" pitchFamily="34" charset="-122"/>
                <a:cs typeface="Arial" panose="020B0604020202020204" pitchFamily="34" charset="-120"/>
              </a:rPr>
              <a:t>Every drill dated and signed off</a:t>
            </a:r>
            <a:endParaRPr lang="en-US" sz="80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00">
                <a:solidFill>
                  <a:srgbClr val="C9BFB2"/>
                </a:solidFill>
                <a:latin typeface="Arial" panose="020B0604020202020204" pitchFamily="34" charset="0"/>
                <a:ea typeface="Arial" panose="020B0604020202020204" pitchFamily="34" charset="-122"/>
                <a:cs typeface="Arial" panose="020B0604020202020204" pitchFamily="34" charset="-120"/>
              </a:rPr>
              <a:t>Skipped month means it did not happen</a:t>
            </a:r>
            <a:endParaRPr lang="en-US" sz="800">
              <a:solidFill>
                <a:srgbClr val="C9BFB2"/>
              </a:solidFill>
              <a:latin typeface="Arial" panose="020B0604020202020204" pitchFamily="34" charset="0"/>
              <a:ea typeface="Arial" panose="020B0604020202020204" pitchFamily="34" charset="-122"/>
              <a:cs typeface="Arial" panose="020B0604020202020204" pitchFamily="34" charset="-120"/>
            </a:endParaRPr>
          </a:p>
          <a:p>
            <a:pPr marL="0" indent="0">
              <a:lnSpc>
                <a:spcPts val="1200"/>
              </a:lnSpc>
              <a:buNone/>
            </a:pPr>
            <a:r>
              <a:rPr lang="en-US" sz="800">
                <a:solidFill>
                  <a:srgbClr val="C9BFB2"/>
                </a:solidFill>
                <a:latin typeface="Arial" panose="020B0604020202020204" pitchFamily="34" charset="0"/>
                <a:ea typeface="Arial" panose="020B0604020202020204" pitchFamily="34" charset="-122"/>
                <a:cs typeface="Arial" panose="020B0604020202020204" pitchFamily="34" charset="-120"/>
              </a:rPr>
              <a:t>Yearly: review the whole design</a:t>
            </a:r>
            <a:endParaRPr lang="en-US" sz="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37792</Words>
  <Application>WPS Presentation</Application>
  <PresentationFormat>On-screen Show (16:9)</PresentationFormat>
  <Paragraphs>1913</Paragraphs>
  <Slides>52</Slides>
  <Notes>52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52</vt:i4>
      </vt:variant>
    </vt:vector>
  </HeadingPairs>
  <TitlesOfParts>
    <vt:vector size="64" baseType="lpstr">
      <vt:lpstr>Arial</vt:lpstr>
      <vt:lpstr>SimSun</vt:lpstr>
      <vt:lpstr>Wingdings</vt:lpstr>
      <vt:lpstr>Arial</vt:lpstr>
      <vt:lpstr>Arial</vt:lpstr>
      <vt:lpstr>Consolas</vt:lpstr>
      <vt:lpstr>Consolas</vt:lpstr>
      <vt:lpstr>Consolas</vt:lpstr>
      <vt:lpstr>Calibri</vt:lpstr>
      <vt:lpstr>Microsoft YaHei</vt:lpstr>
      <vt:lpstr>Arial Unicode MS</vt:lpstr>
      <vt:lpstr>Office Theme</vt:lpstr>
      <vt:lpstr>Deployment Guide</vt:lpstr>
      <vt:lpstr>How to Use This Guide</vt:lpstr>
      <vt:lpstr>The Platform at a Glance</vt:lpstr>
      <vt:lpstr>Components and Default Ports</vt:lpstr>
      <vt:lpstr>Sizing the Host Before You Start</vt:lpstr>
      <vt:lpstr>Before You Type a Single Command</vt:lpstr>
      <vt:lpstr>Prepare the Ubuntu Host		</vt:lpstr>
      <vt:lpstr>Step 3 — Create the Project Structure</vt:lpstr>
      <vt:lpstr>Step 4 — Prove the Foundation Works</vt:lpstr>
      <vt:lpstr>One Compose Stack, Five Services</vt:lpstr>
      <vt:lpstr>Anatomy of the Compose File</vt:lpstr>
      <vt:lpstr>Step 1 — Externalise Every Secret</vt:lpstr>
      <vt:lpstr>Step 2 — Inference and Vector Storage</vt:lpstr>
      <vt:lpstr>Step 3 — Memory and the API Gateway</vt:lpstr>
      <vt:lpstr>Step 4 — Interface, Networks and Volumes</vt:lpstr>
      <vt:lpstr>Step 5 — Start the Stack and Verify</vt:lpstr>
      <vt:lpstr>Compose Commands You Will Use Daily</vt:lpstr>
      <vt:lpstr>Pull the Model, Then Prove It Works</vt:lpstr>
      <vt:lpstr>Picking the Right Model Size</vt:lpstr>
      <vt:lpstr>Getting Usable Speed Without a GPU</vt:lpstr>
      <vt:lpstr>Turn Documents Into Answers</vt:lpstr>
      <vt:lpstr>Chunking Decides Retrieval Quality</vt:lpstr>
      <vt:lpstr>Embeddings Across Languages</vt:lpstr>
      <vt:lpstr>Creating and Checking the Collection</vt:lpstr>
      <vt:lpstr>What Happens on Every Question</vt:lpstr>
      <vt:lpstr>Prove Retrieval Actually Works</vt:lpstr>
      <vt:lpstr>Give the Platform a Memory</vt:lpstr>
      <vt:lpstr>How to Structure the Memory Tables</vt:lpstr>
      <vt:lpstr>Remember Meaning, Not Every Word</vt:lpstr>
      <vt:lpstr>Reach the Platform From Your LAN</vt:lpstr>
      <vt:lpstr>Publish One Door, Not Six</vt:lpstr>
      <vt:lpstr>Non-Negotiable Security Practices</vt:lpstr>
      <vt:lpstr>A Backup You Have Not Restored Is a Rumour</vt:lpstr>
      <vt:lpstr>From CPU-Only to GPU Acceleration</vt:lpstr>
      <vt:lpstr>How Much VRAM Do You Actually Need</vt:lpstr>
      <vt:lpstr>Keeping It Healthy After Go-Live</vt:lpstr>
      <vt:lpstr>Day-to-Day Command Reference</vt:lpstr>
      <vt:lpstr>The Order That Works</vt:lpstr>
      <vt:lpstr>You Are Live When All Six Are True</vt:lpstr>
      <vt:lpstr>When Things Break</vt:lpstr>
      <vt:lpstr>Diagnose in This Order</vt:lpstr>
      <vt:lpstr>Containers Will Not Start</vt:lpstr>
      <vt:lpstr>The Model Is Slow, Silent or Wrong</vt:lpstr>
      <vt:lpstr>Retrieval and Memory Problems</vt:lpstr>
      <vt:lpstr>Nobody Can Reach the Platform</vt:lpstr>
      <vt:lpstr>If You Are Still Stuck</vt:lpstr>
      <vt:lpstr>One-Page Quick Reference</vt:lpstr>
      <vt:lpstr>One-Page Ingestion Checklist</vt:lpstr>
      <vt:lpstr>Backup Drill</vt:lpstr>
      <vt:lpstr>Restore Drill</vt:lpstr>
      <vt:lpstr>First Week of Operation</vt:lpstr>
      <vt:lpstr>Maintenance Calendar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 Naif Nezar Nik Mahir</dc:creator>
  <cp:lastModifiedBy>DC</cp:lastModifiedBy>
  <cp:revision>6</cp:revision>
  <dcterms:created xsi:type="dcterms:W3CDTF">2026-08-17T12:13:00Z</dcterms:created>
  <dcterms:modified xsi:type="dcterms:W3CDTF">2026-08-20T07:50:43Z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4961725EC657453EA34867C664D4F7F2_12</vt:lpwstr>
  </property>
</Properties>
</file>