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30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2C0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60020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rgbClr val="FBF7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B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00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02920" y="109728"/>
            <a:ext cx="754380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b="1" dirty="0">
                <a:solidFill>
                  <a:srgbClr val="FBF7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607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circ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280160" y="-1737360"/>
            <a:ext cx="4206240" cy="4206240"/>
          </a:xfrm>
          <a:prstGeom prst="ellipse">
            <a:avLst/>
          </a:prstGeom>
          <a:solidFill>
            <a:srgbClr val="4510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Corner circ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0" y="3108960"/>
            <a:ext cx="3291840" cy="3291840"/>
          </a:xfrm>
          <a:prstGeom prst="ellipse">
            <a:avLst/>
          </a:prstGeom>
          <a:solidFill>
            <a:srgbClr val="4510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234440"/>
            <a:ext cx="1005840" cy="64008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60020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FBF7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PHP and Its Standard Extensions on Ubuntu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C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quick, comprehensive setup guide using apt and the ondrej/php PPA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5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Covers PHP-FPM, database drivers, imaging, caching and verification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02920" y="109728"/>
            <a:ext cx="7543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BF7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 Start: Don't Install Everything</a:t>
            </a:r>
            <a:endParaRPr lang="en-US" sz="2400" dirty="0"/>
          </a:p>
        </p:txBody>
      </p:sp>
      <p:sp>
        <p:nvSpPr>
          <p:cNvPr id="3" name="Callou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0"/>
            <a:ext cx="8138160" cy="1371600"/>
          </a:xfrm>
          <a:prstGeom prst="roundRect">
            <a:avLst>
              <a:gd name="adj" fmla="val 6667"/>
            </a:avLst>
          </a:prstGeom>
          <a:solidFill>
            <a:srgbClr val="FDEDE6"/>
          </a:solidFill>
          <a:ln w="19050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00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install literally all available PHP extensions.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33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repositories hold hundreds of packages — many are conflicting, obsolete, or specialised for rare databases.</a:t>
            </a:r>
            <a:endParaRPr lang="en-US" sz="1300" dirty="0"/>
          </a:p>
        </p:txBody>
      </p:sp>
      <p:sp>
        <p:nvSpPr>
          <p:cNvPr id="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25603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2560320" cy="64008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4088" y="304495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00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the standard stack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" y="345643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4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set of extensions that supports 99% of modern applications.</a:t>
            </a:r>
            <a:endParaRPr lang="en-US" sz="1150" dirty="0"/>
          </a:p>
        </p:txBody>
      </p:sp>
      <p:sp>
        <p:nvSpPr>
          <p:cNvPr id="10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880360"/>
            <a:ext cx="25603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880360"/>
            <a:ext cx="2560320" cy="64008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93008" y="304495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00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ready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93008" y="345643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4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out of the box for WordPress, Laravel and Symfony projects.</a:t>
            </a:r>
            <a:endParaRPr lang="en-US" sz="1150" dirty="0"/>
          </a:p>
        </p:txBody>
      </p:sp>
      <p:sp>
        <p:nvSpPr>
          <p:cNvPr id="1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880360"/>
            <a:ext cx="25603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880360"/>
            <a:ext cx="2560320" cy="64008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81928" y="304495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00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 maintainable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81928" y="345643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45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 packages means fewer conflicts and a cleaner upgrade path.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02920" y="109728"/>
            <a:ext cx="7543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BF7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— Update the System and Add the PPA</a:t>
            </a:r>
            <a:endParaRPr lang="en-US" sz="2400" dirty="0"/>
          </a:p>
        </p:txBody>
      </p:sp>
      <p:sp>
        <p:nvSpPr>
          <p:cNvPr id="3" name="Step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164592"/>
            <a:ext cx="548640" cy="548640"/>
          </a:xfrm>
          <a:prstGeom prst="ellipse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164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33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the official, trusted PPA maintained by Ondřej Surý — it provides the newest stable PHP versions and the full extension catalogue.</a:t>
            </a:r>
            <a:endParaRPr lang="en-US" sz="1350" dirty="0"/>
          </a:p>
        </p:txBody>
      </p:sp>
      <p:sp>
        <p:nvSpPr>
          <p:cNvPr id="6" name="Code pane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83080"/>
            <a:ext cx="8138160" cy="1463040"/>
          </a:xfrm>
          <a:prstGeom prst="roundRect">
            <a:avLst>
              <a:gd name="adj" fmla="val 5000"/>
            </a:avLst>
          </a:prstGeom>
          <a:solidFill>
            <a:srgbClr val="1A05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1892808"/>
            <a:ext cx="780897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 &amp;&amp; sudo apt upgrade -y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-y software-properties-common ca-certificates \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lsb-release apt-transport-https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add-apt-repository ppa:ondrej/php -y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429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each line in order; the final update refreshes the package index with the new repository.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02920" y="109728"/>
            <a:ext cx="7543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BF7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— Install PHP and the Essential Extensions</a:t>
            </a:r>
            <a:endParaRPr lang="en-US" sz="2400" dirty="0"/>
          </a:p>
        </p:txBody>
      </p:sp>
      <p:sp>
        <p:nvSpPr>
          <p:cNvPr id="3" name="Step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164592"/>
            <a:ext cx="548640" cy="548640"/>
          </a:xfrm>
          <a:prstGeom prst="ellipse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164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33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command installs the current standard version of PHP with all standard development extensions.</a:t>
            </a:r>
            <a:endParaRPr lang="en-US" sz="1350" dirty="0"/>
          </a:p>
        </p:txBody>
      </p:sp>
      <p:sp>
        <p:nvSpPr>
          <p:cNvPr id="6" name="Code pane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45920"/>
            <a:ext cx="8138160" cy="1371600"/>
          </a:xfrm>
          <a:prstGeom prst="roundRect">
            <a:avLst>
              <a:gd name="adj" fmla="val 5333"/>
            </a:avLst>
          </a:prstGeom>
          <a:solidFill>
            <a:srgbClr val="1A05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1755648"/>
            <a:ext cx="78089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-y php php-cli php-common php-fpm php-mysql \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php-zip php-gd php-mbstring php-curl php-xml php-bcmath \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php-intl php-soap </a:t>
            </a:r>
            <a:r>
              <a:rPr lang="en-US" sz="1350" dirty="0" err="1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php-gmp</a:t>
            </a:r>
            <a:r>
              <a:rPr lang="en-US" sz="1350" dirty="0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php-imagick </a:t>
            </a:r>
            <a:r>
              <a:rPr lang="en-US" sz="1350" dirty="0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php-redis php-sqlite3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command, one apt transaction — dependencies are resolved together, so nothing is left half-installed.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02920" y="109728"/>
            <a:ext cx="7543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BF7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Just Installed</a:t>
            </a:r>
            <a:endParaRPr lang="en-US" sz="2400" dirty="0"/>
          </a:p>
        </p:txBody>
      </p:sp>
      <p:sp>
        <p:nvSpPr>
          <p:cNvPr id="3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8138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A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64008" cy="60350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0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php-cli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0" y="123444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33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PHP scripts from the command line.</a:t>
            </a:r>
            <a:endParaRPr lang="en-US" sz="125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947672"/>
            <a:ext cx="8138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A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947672"/>
            <a:ext cx="64008" cy="603504"/>
          </a:xfrm>
          <a:prstGeom prst="rect">
            <a:avLst/>
          </a:prstGeom>
          <a:solidFill>
            <a:srgbClr val="F7B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94767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0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php-fpm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1947672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33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FastCGI Process Manager — recommended with Nginx.</a:t>
            </a:r>
            <a:endParaRPr lang="en-US" sz="125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60904"/>
            <a:ext cx="8138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A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60904"/>
            <a:ext cx="64008" cy="60350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66090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0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php-mysql / php-sqlite3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660904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33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Drivers for MySQL, MariaDB and SQLite.</a:t>
            </a:r>
            <a:endParaRPr lang="en-US" sz="125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74136"/>
            <a:ext cx="8138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A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74136"/>
            <a:ext cx="64008" cy="603504"/>
          </a:xfrm>
          <a:prstGeom prst="rect">
            <a:avLst/>
          </a:prstGeom>
          <a:solidFill>
            <a:srgbClr val="F7B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37413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0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php-curl / php-xml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3374136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33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API HTTP requests and data parsing.</a:t>
            </a:r>
            <a:endParaRPr lang="en-US" sz="1250" dirty="0"/>
          </a:p>
        </p:txBody>
      </p:sp>
      <p:sp>
        <p:nvSpPr>
          <p:cNvPr id="19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87368"/>
            <a:ext cx="8138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A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87368"/>
            <a:ext cx="64008" cy="60350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408736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0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php-mbstring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408736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33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Multi-byte strings — critical for non-English text.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02920" y="109728"/>
            <a:ext cx="7543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BF7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Just Installed (continued)</a:t>
            </a:r>
            <a:endParaRPr lang="en-US" sz="2400" dirty="0"/>
          </a:p>
        </p:txBody>
      </p:sp>
      <p:sp>
        <p:nvSpPr>
          <p:cNvPr id="3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8138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A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64008" cy="60350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0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php-gd / php-imagick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0" y="123444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33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upload, resizing and manipulation.</a:t>
            </a:r>
            <a:endParaRPr lang="en-US" sz="125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947672"/>
            <a:ext cx="8138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A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947672"/>
            <a:ext cx="64008" cy="603504"/>
          </a:xfrm>
          <a:prstGeom prst="rect">
            <a:avLst/>
          </a:prstGeom>
          <a:solidFill>
            <a:srgbClr val="F7B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94767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0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php-zip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1947672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33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Compresses and extracts .zip archives.</a:t>
            </a:r>
            <a:endParaRPr lang="en-US" sz="125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60904"/>
            <a:ext cx="8138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A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60904"/>
            <a:ext cx="64008" cy="60350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66090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0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php-intl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660904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33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Internationalisation required by Symfony and friends.</a:t>
            </a:r>
            <a:endParaRPr lang="en-US" sz="125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74136"/>
            <a:ext cx="8138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A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74136"/>
            <a:ext cx="64008" cy="603504"/>
          </a:xfrm>
          <a:prstGeom prst="rect">
            <a:avLst/>
          </a:prstGeom>
          <a:solidFill>
            <a:srgbClr val="F7B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37413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0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php-bcmath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3374136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33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Arbitrary precision mathematics.</a:t>
            </a:r>
            <a:endParaRPr lang="en-US" sz="1250" dirty="0"/>
          </a:p>
        </p:txBody>
      </p:sp>
      <p:sp>
        <p:nvSpPr>
          <p:cNvPr id="19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87368"/>
            <a:ext cx="8138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A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87368"/>
            <a:ext cx="64008" cy="60350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408736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0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php-redis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408736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33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Caching and fast session storage.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02920" y="109728"/>
            <a:ext cx="7543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BF7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 (Optional) — Target a Specific PHP Version</a:t>
            </a:r>
            <a:endParaRPr lang="en-US" sz="2400" dirty="0"/>
          </a:p>
        </p:txBody>
      </p:sp>
      <p:sp>
        <p:nvSpPr>
          <p:cNvPr id="3" name="Step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164592"/>
            <a:ext cx="548640" cy="548640"/>
          </a:xfrm>
          <a:prstGeom prst="ellipse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164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33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a legacy release such as 7.4, or the cutting edge such as 8.4? Append the version number to every package name.</a:t>
            </a:r>
            <a:endParaRPr lang="en-US" sz="1350" dirty="0"/>
          </a:p>
        </p:txBody>
      </p:sp>
      <p:sp>
        <p:nvSpPr>
          <p:cNvPr id="6" name="Code pane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45920"/>
            <a:ext cx="8138160" cy="1600200"/>
          </a:xfrm>
          <a:prstGeom prst="roundRect">
            <a:avLst>
              <a:gd name="adj" fmla="val 4571"/>
            </a:avLst>
          </a:prstGeom>
          <a:solidFill>
            <a:srgbClr val="1A05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1755648"/>
            <a:ext cx="780897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D9C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 for PHP 8.4 specifically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-y php8.4 php8.4-cli php8.4-common php8.4-fpm \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php8.4-mysql php8.4-zip php8.4-gd php8.4-mbstring php8.4-curl \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php8.4-xml php8.4-bcmath php8.4-intl php8.4-soap php8.4-gmp \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php8.4-imagick php8.4-opcache php8.4-redis php8.4-sqlite3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429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versions can coexist on one machine — pick the active CLI version with update-alternatives.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02920" y="109728"/>
            <a:ext cx="7543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BF7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 — Verify Your Installed Extensions</a:t>
            </a:r>
            <a:endParaRPr lang="en-US" sz="2400" dirty="0"/>
          </a:p>
        </p:txBody>
      </p:sp>
      <p:sp>
        <p:nvSpPr>
          <p:cNvPr id="3" name="Step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164592"/>
            <a:ext cx="548640" cy="548640"/>
          </a:xfrm>
          <a:prstGeom prst="ellipse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164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33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the active PHP instance has loaded every module.</a:t>
            </a:r>
            <a:endParaRPr lang="en-US" sz="1350" dirty="0"/>
          </a:p>
        </p:txBody>
      </p:sp>
      <p:sp>
        <p:nvSpPr>
          <p:cNvPr id="6" name="Code pane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087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1A05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1618488"/>
            <a:ext cx="36484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D9C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the main PHP version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-v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D9C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all successfully active extensions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-m</a:t>
            </a:r>
            <a:endParaRPr lang="en-US" sz="1250" dirty="0"/>
          </a:p>
        </p:txBody>
      </p:sp>
      <p:sp>
        <p:nvSpPr>
          <p:cNvPr id="8" name="Code pane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5087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1A05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28032" y="1618488"/>
            <a:ext cx="36484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D9C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using Apache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restart apache2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D9C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using Nginx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7B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restart nginx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5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the runtime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30632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5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Reload your web server</a:t>
            </a:r>
            <a:endParaRPr lang="en-US" sz="1200" dirty="0"/>
          </a:p>
        </p:txBody>
      </p:sp>
      <p:sp>
        <p:nvSpPr>
          <p:cNvPr id="12" name="Callou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20440"/>
            <a:ext cx="8138160" cy="914400"/>
          </a:xfrm>
          <a:prstGeom prst="roundRect">
            <a:avLst>
              <a:gd name="adj" fmla="val 10000"/>
            </a:avLst>
          </a:prstGeom>
          <a:solidFill>
            <a:srgbClr val="FDE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520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00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Apache or Nginx? Restart it after installation so the new extensions hook into the server.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circ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0" y="-1280160"/>
            <a:ext cx="3474720" cy="3474720"/>
          </a:xfrm>
          <a:prstGeom prst="ellipse">
            <a:avLst/>
          </a:prstGeom>
          <a:solidFill>
            <a:srgbClr val="4510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234440"/>
            <a:ext cx="1005840" cy="64008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60020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FBF7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You're Ready to Build</a:t>
            </a:r>
            <a:endParaRPr lang="en-US" sz="4000" dirty="0"/>
          </a:p>
        </p:txBody>
      </p:sp>
      <p:sp>
        <p:nvSpPr>
          <p:cNvPr id="5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154680"/>
            <a:ext cx="201168" cy="201168"/>
          </a:xfrm>
          <a:prstGeom prst="ellipse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BF7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 added and system updated</a:t>
            </a:r>
            <a:endParaRPr lang="en-US" sz="1250" dirty="0"/>
          </a:p>
        </p:txBody>
      </p:sp>
      <p:sp>
        <p:nvSpPr>
          <p:cNvPr id="7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840480"/>
            <a:ext cx="201168" cy="201168"/>
          </a:xfrm>
          <a:prstGeom prst="ellipse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BF7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PHP stack installed in one command</a:t>
            </a:r>
            <a:endParaRPr lang="en-US" sz="1250" dirty="0"/>
          </a:p>
        </p:txBody>
      </p:sp>
      <p:sp>
        <p:nvSpPr>
          <p:cNvPr id="9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154680"/>
            <a:ext cx="201168" cy="201168"/>
          </a:xfrm>
          <a:prstGeom prst="ellipse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BF7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Version-specific installs available when needed</a:t>
            </a:r>
            <a:endParaRPr lang="en-US" sz="1250" dirty="0"/>
          </a:p>
        </p:txBody>
      </p:sp>
      <p:sp>
        <p:nvSpPr>
          <p:cNvPr id="11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840480"/>
            <a:ext cx="201168" cy="201168"/>
          </a:xfrm>
          <a:prstGeom prst="ellipse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BF7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Extensions verified and web server reloaded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568</Words>
  <Application>Microsoft Office PowerPoint</Application>
  <PresentationFormat>On-screen Show (16:9)</PresentationFormat>
  <Paragraphs>88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Segoe UI</vt:lpstr>
      <vt:lpstr>Office Theme</vt:lpstr>
      <vt:lpstr>Install PHP and Its Standard Extensions on Ubuntu</vt:lpstr>
      <vt:lpstr>Before You Start: Don't Install Everything</vt:lpstr>
      <vt:lpstr>Step 1 — Update the System and Add the PPA</vt:lpstr>
      <vt:lpstr>Step 2 — Install PHP and the Essential Extensions</vt:lpstr>
      <vt:lpstr>What You Just Installed</vt:lpstr>
      <vt:lpstr>What You Just Installed (continued)</vt:lpstr>
      <vt:lpstr>Step 3 (Optional) — Target a Specific PHP Version</vt:lpstr>
      <vt:lpstr>Step 4 — Verify Your Installed Extensions</vt:lpstr>
      <vt:lpstr>You're Ready to Build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 Naif Nezar Nik Mahir</dc:creator>
  <cp:lastModifiedBy>Nik Naif Nezar Nik Mahir</cp:lastModifiedBy>
  <cp:revision>2</cp:revision>
  <dcterms:created xsi:type="dcterms:W3CDTF">2026-08-18T12:44:59Z</dcterms:created>
  <dcterms:modified xsi:type="dcterms:W3CDTF">2026-08-18T16:22:37Z</dcterms:modified>
</cp:coreProperties>
</file>